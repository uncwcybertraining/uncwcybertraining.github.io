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0" r:id="rId3"/>
    <p:sldId id="489" r:id="rId4"/>
    <p:sldId id="267" r:id="rId5"/>
    <p:sldId id="491" r:id="rId6"/>
    <p:sldId id="268" r:id="rId7"/>
    <p:sldId id="272" r:id="rId8"/>
    <p:sldId id="271" r:id="rId9"/>
    <p:sldId id="487" r:id="rId10"/>
    <p:sldId id="269" r:id="rId11"/>
    <p:sldId id="495" r:id="rId12"/>
    <p:sldId id="260" r:id="rId13"/>
    <p:sldId id="265" r:id="rId14"/>
    <p:sldId id="494" r:id="rId15"/>
    <p:sldId id="492" r:id="rId16"/>
    <p:sldId id="49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F6F7"/>
    <a:srgbClr val="EDFB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2"/>
    <p:restoredTop sz="74517"/>
  </p:normalViewPr>
  <p:slideViewPr>
    <p:cSldViewPr snapToGrid="0" snapToObjects="1">
      <p:cViewPr varScale="1">
        <p:scale>
          <a:sx n="92" d="100"/>
          <a:sy n="92" d="100"/>
        </p:scale>
        <p:origin x="13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3020C6-C032-9B48-8985-AE1AA72461A4}" type="datetimeFigureOut">
              <a:rPr lang="en-US" smtClean="0"/>
              <a:t>5/19/24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45E20E-A5D3-7146-9E3C-15CD79AA9F9D}" type="slidenum">
              <a:rPr lang="en-US" smtClean="0"/>
              <a:t>‹#›</a:t>
            </a:fld>
            <a:endParaRPr lang="en-US"/>
          </a:p>
        </p:txBody>
      </p:sp>
    </p:spTree>
    <p:extLst>
      <p:ext uri="{BB962C8B-B14F-4D97-AF65-F5344CB8AC3E}">
        <p14:creationId xmlns:p14="http://schemas.microsoft.com/office/powerpoint/2010/main" val="1555641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en.wikipedia.org/wiki/Data_visualization" TargetMode="External"/><Relationship Id="rId3" Type="http://schemas.openxmlformats.org/officeDocument/2006/relationships/hyperlink" Target="https://en.wikipedia.org/wiki/Data_acquisition" TargetMode="External"/><Relationship Id="rId7" Type="http://schemas.openxmlformats.org/officeDocument/2006/relationships/hyperlink" Target="https://en.wikipedia.org/wiki/Data_mining"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en.wikipedia.org/wiki/Data_integration" TargetMode="External"/><Relationship Id="rId11" Type="http://schemas.openxmlformats.org/officeDocument/2006/relationships/hyperlink" Target="https://en.wikipedia.org/wiki/Internet" TargetMode="External"/><Relationship Id="rId5" Type="http://schemas.openxmlformats.org/officeDocument/2006/relationships/hyperlink" Target="https://en.wikipedia.org/wiki/Data_management" TargetMode="External"/><Relationship Id="rId10" Type="http://schemas.openxmlformats.org/officeDocument/2006/relationships/hyperlink" Target="https://en.wikipedia.org/wiki/Service_(economics)" TargetMode="External"/><Relationship Id="rId4" Type="http://schemas.openxmlformats.org/officeDocument/2006/relationships/hyperlink" Target="https://en.wikipedia.org/wiki/Data_storage_device" TargetMode="External"/><Relationship Id="rId9" Type="http://schemas.openxmlformats.org/officeDocument/2006/relationships/hyperlink" Target="https://en.wikipedia.org/wiki/Computing"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NewRomanPSMT"/>
              </a:rPr>
              <a:t>However, it can still be hard for inexperienced scientists because of the different processes for data acquisition (such as FTP, tailored HTTP links) and different data formats (such as </a:t>
            </a:r>
            <a:r>
              <a:rPr lang="en-US" sz="1800" dirty="0" err="1">
                <a:effectLst/>
                <a:latin typeface="TimesNewRomanPSMT"/>
              </a:rPr>
              <a:t>NetCDF</a:t>
            </a:r>
            <a:r>
              <a:rPr lang="en-US" sz="1800" dirty="0">
                <a:effectLst/>
                <a:latin typeface="TimesNewRomanPSMT"/>
              </a:rPr>
              <a:t>, CSV, </a:t>
            </a:r>
            <a:r>
              <a:rPr lang="en-US" sz="1800" dirty="0" err="1">
                <a:effectLst/>
                <a:latin typeface="TimesNewRomanPSMT"/>
              </a:rPr>
              <a:t>GeoTIFF</a:t>
            </a:r>
            <a:r>
              <a:rPr lang="en-US" sz="1800" dirty="0">
                <a:effectLst/>
                <a:latin typeface="TimesNewRomanPSMT"/>
              </a:rPr>
              <a:t>) from different data sources (Figure 1). Most scientists are expected to pick up the data acquisition and processing skills independently, ending up with spending hours on things that could be done in minutes [17]–[19]. This unnecessarily wastes researchers’ time and even discourages young scientists from taking marine science as their career. Although various training courses have been implemented to promote skills in CI and data acquisition and analysis among researchers, including the Software Carpentry program [19], [20], there are few programs focused on marine science data acquisition and processing on CI. </a:t>
            </a:r>
            <a:endParaRPr lang="en-US" dirty="0"/>
          </a:p>
        </p:txBody>
      </p:sp>
      <p:sp>
        <p:nvSpPr>
          <p:cNvPr id="4" name="Slide Number Placeholder 3"/>
          <p:cNvSpPr>
            <a:spLocks noGrp="1"/>
          </p:cNvSpPr>
          <p:nvPr>
            <p:ph type="sldNum" sz="quarter" idx="5"/>
          </p:nvPr>
        </p:nvSpPr>
        <p:spPr/>
        <p:txBody>
          <a:bodyPr/>
          <a:lstStyle/>
          <a:p>
            <a:fld id="{B845E20E-A5D3-7146-9E3C-15CD79AA9F9D}" type="slidenum">
              <a:rPr lang="en-US" smtClean="0"/>
              <a:t>2</a:t>
            </a:fld>
            <a:endParaRPr lang="en-US"/>
          </a:p>
        </p:txBody>
      </p:sp>
    </p:spTree>
    <p:extLst>
      <p:ext uri="{BB962C8B-B14F-4D97-AF65-F5344CB8AC3E}">
        <p14:creationId xmlns:p14="http://schemas.microsoft.com/office/powerpoint/2010/main" val="1248641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acquisition, analysis and visualization from major databases.</a:t>
            </a:r>
          </a:p>
          <a:p>
            <a:endParaRPr lang="en-US" dirty="0"/>
          </a:p>
          <a:p>
            <a:r>
              <a:rPr lang="en-US" b="1" i="0" dirty="0">
                <a:solidFill>
                  <a:srgbClr val="202122"/>
                </a:solidFill>
                <a:effectLst/>
                <a:latin typeface="Arial" panose="020B0604020202020204" pitchFamily="34" charset="0"/>
              </a:rPr>
              <a:t>cyberinfrastructure</a:t>
            </a:r>
            <a:r>
              <a:rPr lang="en-US" b="0" i="0" dirty="0">
                <a:solidFill>
                  <a:srgbClr val="202122"/>
                </a:solidFill>
                <a:effectLst/>
                <a:latin typeface="Arial" panose="020B0604020202020204" pitchFamily="34" charset="0"/>
              </a:rPr>
              <a:t> to describe research environments that support advanced </a:t>
            </a:r>
            <a:r>
              <a:rPr lang="en-US" b="0" i="0" u="none" strike="noStrike" dirty="0">
                <a:solidFill>
                  <a:srgbClr val="3366CC"/>
                </a:solidFill>
                <a:effectLst/>
                <a:latin typeface="Arial" panose="020B0604020202020204" pitchFamily="34" charset="0"/>
                <a:hlinkClick r:id="rId3" tooltip="Data acquisition"/>
              </a:rPr>
              <a:t>data acquisition</a:t>
            </a:r>
            <a:r>
              <a:rPr lang="en-US" b="0" i="0" dirty="0">
                <a:solidFill>
                  <a:srgbClr val="202122"/>
                </a:solidFill>
                <a:effectLst/>
                <a:latin typeface="Arial" panose="020B0604020202020204" pitchFamily="34" charset="0"/>
              </a:rPr>
              <a:t>, </a:t>
            </a:r>
            <a:r>
              <a:rPr lang="en-US" b="0" i="0" u="none" strike="noStrike" dirty="0">
                <a:solidFill>
                  <a:srgbClr val="3366CC"/>
                </a:solidFill>
                <a:effectLst/>
                <a:latin typeface="Arial" panose="020B0604020202020204" pitchFamily="34" charset="0"/>
                <a:hlinkClick r:id="rId4" tooltip="Data storage device"/>
              </a:rPr>
              <a:t>data storage</a:t>
            </a:r>
            <a:r>
              <a:rPr lang="en-US" b="0" i="0" dirty="0">
                <a:solidFill>
                  <a:srgbClr val="202122"/>
                </a:solidFill>
                <a:effectLst/>
                <a:latin typeface="Arial" panose="020B0604020202020204" pitchFamily="34" charset="0"/>
              </a:rPr>
              <a:t>, </a:t>
            </a:r>
            <a:r>
              <a:rPr lang="en-US" b="0" i="0" u="none" strike="noStrike" dirty="0">
                <a:solidFill>
                  <a:srgbClr val="3366CC"/>
                </a:solidFill>
                <a:effectLst/>
                <a:latin typeface="Arial" panose="020B0604020202020204" pitchFamily="34" charset="0"/>
                <a:hlinkClick r:id="rId5" tooltip="Data management"/>
              </a:rPr>
              <a:t>data management</a:t>
            </a:r>
            <a:r>
              <a:rPr lang="en-US" b="0" i="0" dirty="0">
                <a:solidFill>
                  <a:srgbClr val="202122"/>
                </a:solidFill>
                <a:effectLst/>
                <a:latin typeface="Arial" panose="020B0604020202020204" pitchFamily="34" charset="0"/>
              </a:rPr>
              <a:t>, </a:t>
            </a:r>
            <a:r>
              <a:rPr lang="en-US" b="0" i="0" u="none" strike="noStrike" dirty="0">
                <a:solidFill>
                  <a:srgbClr val="3366CC"/>
                </a:solidFill>
                <a:effectLst/>
                <a:latin typeface="Arial" panose="020B0604020202020204" pitchFamily="34" charset="0"/>
                <a:hlinkClick r:id="rId6" tooltip="Data integration"/>
              </a:rPr>
              <a:t>data integration</a:t>
            </a:r>
            <a:r>
              <a:rPr lang="en-US" b="0" i="0" dirty="0">
                <a:solidFill>
                  <a:srgbClr val="202122"/>
                </a:solidFill>
                <a:effectLst/>
                <a:latin typeface="Arial" panose="020B0604020202020204" pitchFamily="34" charset="0"/>
              </a:rPr>
              <a:t>, </a:t>
            </a:r>
            <a:r>
              <a:rPr lang="en-US" b="0" i="0" u="none" strike="noStrike" dirty="0">
                <a:solidFill>
                  <a:srgbClr val="3366CC"/>
                </a:solidFill>
                <a:effectLst/>
                <a:latin typeface="Arial" panose="020B0604020202020204" pitchFamily="34" charset="0"/>
                <a:hlinkClick r:id="rId7" tooltip="Data mining"/>
              </a:rPr>
              <a:t>data mining</a:t>
            </a:r>
            <a:r>
              <a:rPr lang="en-US" b="0" i="0" dirty="0">
                <a:solidFill>
                  <a:srgbClr val="202122"/>
                </a:solidFill>
                <a:effectLst/>
                <a:latin typeface="Arial" panose="020B0604020202020204" pitchFamily="34" charset="0"/>
              </a:rPr>
              <a:t>, </a:t>
            </a:r>
            <a:r>
              <a:rPr lang="en-US" b="0" i="0" u="none" strike="noStrike" dirty="0">
                <a:solidFill>
                  <a:srgbClr val="3366CC"/>
                </a:solidFill>
                <a:effectLst/>
                <a:latin typeface="Arial" panose="020B0604020202020204" pitchFamily="34" charset="0"/>
                <a:hlinkClick r:id="rId8" tooltip="Data visualization"/>
              </a:rPr>
              <a:t>data visualization</a:t>
            </a:r>
            <a:r>
              <a:rPr lang="en-US" b="0" i="0" dirty="0">
                <a:solidFill>
                  <a:srgbClr val="202122"/>
                </a:solidFill>
                <a:effectLst/>
                <a:latin typeface="Arial" panose="020B0604020202020204" pitchFamily="34" charset="0"/>
              </a:rPr>
              <a:t> and other </a:t>
            </a:r>
            <a:r>
              <a:rPr lang="en-US" b="0" i="0" u="none" strike="noStrike" dirty="0">
                <a:solidFill>
                  <a:srgbClr val="3366CC"/>
                </a:solidFill>
                <a:effectLst/>
                <a:latin typeface="Arial" panose="020B0604020202020204" pitchFamily="34" charset="0"/>
                <a:hlinkClick r:id="rId9" tooltip="Computing"/>
              </a:rPr>
              <a:t>computing</a:t>
            </a:r>
            <a:r>
              <a:rPr lang="en-US" b="0" i="0" dirty="0">
                <a:solidFill>
                  <a:srgbClr val="202122"/>
                </a:solidFill>
                <a:effectLst/>
                <a:latin typeface="Arial" panose="020B0604020202020204" pitchFamily="34" charset="0"/>
              </a:rPr>
              <a:t> and information processing </a:t>
            </a:r>
            <a:r>
              <a:rPr lang="en-US" b="0" i="0" u="none" strike="noStrike" dirty="0">
                <a:solidFill>
                  <a:srgbClr val="3366CC"/>
                </a:solidFill>
                <a:effectLst/>
                <a:latin typeface="Arial" panose="020B0604020202020204" pitchFamily="34" charset="0"/>
                <a:hlinkClick r:id="rId10" tooltip="Service (economics)"/>
              </a:rPr>
              <a:t>services</a:t>
            </a:r>
            <a:r>
              <a:rPr lang="en-US" b="0" i="0" dirty="0">
                <a:solidFill>
                  <a:srgbClr val="202122"/>
                </a:solidFill>
                <a:effectLst/>
                <a:latin typeface="Arial" panose="020B0604020202020204" pitchFamily="34" charset="0"/>
              </a:rPr>
              <a:t> distributed over the </a:t>
            </a:r>
            <a:r>
              <a:rPr lang="en-US" b="0" i="0" u="none" strike="noStrike" dirty="0">
                <a:solidFill>
                  <a:srgbClr val="3366CC"/>
                </a:solidFill>
                <a:effectLst/>
                <a:latin typeface="Arial" panose="020B0604020202020204" pitchFamily="34" charset="0"/>
                <a:hlinkClick r:id="rId11" tooltip="Internet"/>
              </a:rPr>
              <a:t>Internet</a:t>
            </a:r>
            <a:r>
              <a:rPr lang="en-US" b="0" i="0" dirty="0">
                <a:solidFill>
                  <a:srgbClr val="202122"/>
                </a:solidFill>
                <a:effectLst/>
                <a:latin typeface="Arial" panose="020B0604020202020204" pitchFamily="34" charset="0"/>
              </a:rPr>
              <a:t> beyond the scope of a single institution. In scientific usage, cyberinfrastructure is a technological and sociological solution to the problem of efficiently connecting laboratories, data, computers, and people with the goal of enabling derivation of novel scientific theories and knowledge.</a:t>
            </a:r>
            <a:endParaRPr lang="en-US" dirty="0"/>
          </a:p>
        </p:txBody>
      </p:sp>
      <p:sp>
        <p:nvSpPr>
          <p:cNvPr id="4" name="Slide Number Placeholder 3"/>
          <p:cNvSpPr>
            <a:spLocks noGrp="1"/>
          </p:cNvSpPr>
          <p:nvPr>
            <p:ph type="sldNum" sz="quarter" idx="5"/>
          </p:nvPr>
        </p:nvSpPr>
        <p:spPr/>
        <p:txBody>
          <a:bodyPr/>
          <a:lstStyle/>
          <a:p>
            <a:fld id="{B845E20E-A5D3-7146-9E3C-15CD79AA9F9D}" type="slidenum">
              <a:rPr lang="en-US" smtClean="0"/>
              <a:t>4</a:t>
            </a:fld>
            <a:endParaRPr lang="en-US"/>
          </a:p>
        </p:txBody>
      </p:sp>
    </p:spTree>
    <p:extLst>
      <p:ext uri="{BB962C8B-B14F-4D97-AF65-F5344CB8AC3E}">
        <p14:creationId xmlns:p14="http://schemas.microsoft.com/office/powerpoint/2010/main" val="2218921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4D5156"/>
                </a:solidFill>
                <a:effectLst/>
                <a:latin typeface="Google Sans"/>
              </a:rPr>
              <a:t>A hackathon is </a:t>
            </a:r>
            <a:r>
              <a:rPr lang="en-US" b="0" i="0" dirty="0">
                <a:solidFill>
                  <a:srgbClr val="040C28"/>
                </a:solidFill>
                <a:effectLst/>
                <a:latin typeface="Google Sans"/>
              </a:rPr>
              <a:t>a tech event where amateur and professional coders/programmers put up challenges related to hardware or software and figure out a workable solution in a stipulated time</a:t>
            </a:r>
            <a:endParaRPr lang="en-US" b="0" i="0" dirty="0">
              <a:solidFill>
                <a:srgbClr val="202124"/>
              </a:solidFill>
              <a:effectLst/>
              <a:latin typeface="Roboto" panose="02000000000000000000" pitchFamily="2" charset="0"/>
            </a:endParaRPr>
          </a:p>
          <a:p>
            <a:endParaRPr lang="en-US" dirty="0"/>
          </a:p>
        </p:txBody>
      </p:sp>
      <p:sp>
        <p:nvSpPr>
          <p:cNvPr id="4" name="Slide Number Placeholder 3"/>
          <p:cNvSpPr>
            <a:spLocks noGrp="1"/>
          </p:cNvSpPr>
          <p:nvPr>
            <p:ph type="sldNum" sz="quarter" idx="5"/>
          </p:nvPr>
        </p:nvSpPr>
        <p:spPr/>
        <p:txBody>
          <a:bodyPr/>
          <a:lstStyle/>
          <a:p>
            <a:fld id="{B845E20E-A5D3-7146-9E3C-15CD79AA9F9D}" type="slidenum">
              <a:rPr lang="en-US" smtClean="0"/>
              <a:t>5</a:t>
            </a:fld>
            <a:endParaRPr lang="en-US"/>
          </a:p>
        </p:txBody>
      </p:sp>
    </p:spTree>
    <p:extLst>
      <p:ext uri="{BB962C8B-B14F-4D97-AF65-F5344CB8AC3E}">
        <p14:creationId xmlns:p14="http://schemas.microsoft.com/office/powerpoint/2010/main" val="2018174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32CD-F3E8-5D4C-86F1-BA89574E5F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A4A9B0-2C48-D044-B671-4CB5141DF0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93FA04-0F28-4F48-B309-4DD6CA08A27E}"/>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5" name="Footer Placeholder 4">
            <a:extLst>
              <a:ext uri="{FF2B5EF4-FFF2-40B4-BE49-F238E27FC236}">
                <a16:creationId xmlns:a16="http://schemas.microsoft.com/office/drawing/2014/main" id="{359D5485-DE04-CB46-BC2A-86AFC138C5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742A4-DD68-FD40-819C-54A95F83C184}"/>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1457177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B2484-3DC3-5E48-BE35-326993F954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EFACAB-0A78-1F47-BB9A-B854543425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FB41E-038F-C146-B00D-6AC02C9D8CEE}"/>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5" name="Footer Placeholder 4">
            <a:extLst>
              <a:ext uri="{FF2B5EF4-FFF2-40B4-BE49-F238E27FC236}">
                <a16:creationId xmlns:a16="http://schemas.microsoft.com/office/drawing/2014/main" id="{EB794AED-2195-D74E-98D8-7994FBDB3A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B4A2F-7A88-6D47-8C5E-C5AA6993BB91}"/>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1191092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1CFF8-C6F3-6243-9F32-3F233894E8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05C2C9-0F1C-5145-A07C-7D13702D57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45D0A9-8954-B644-BD8F-CF55CFB12C27}"/>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5" name="Footer Placeholder 4">
            <a:extLst>
              <a:ext uri="{FF2B5EF4-FFF2-40B4-BE49-F238E27FC236}">
                <a16:creationId xmlns:a16="http://schemas.microsoft.com/office/drawing/2014/main" id="{B961CDFC-8090-F84A-8B4E-AA4B2FB34A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C11A2-9599-0644-A73B-0049CC73EE85}"/>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319816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AE337-51F3-304D-92E2-A92BAF6EC3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CD7F3-8B9D-4547-AED0-654F275CB5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883B7B-AD02-D249-8233-E8203A8C52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B2205A-1DCD-904F-8CF5-72EAFF10C22C}"/>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6" name="Footer Placeholder 5">
            <a:extLst>
              <a:ext uri="{FF2B5EF4-FFF2-40B4-BE49-F238E27FC236}">
                <a16:creationId xmlns:a16="http://schemas.microsoft.com/office/drawing/2014/main" id="{472B410C-CD0C-6E4B-ACCE-A802261844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BC8EA2-0697-5B4E-A522-11B2C470182C}"/>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455718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3E9BB-1C6A-E74A-9BE5-33F8A9365A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574A02-74F6-9644-81B7-0340F0D5BA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13295F-0B1E-3D4F-8DC3-A551A38595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39D0B6-0704-7748-9C8B-D9DCFF8158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32A51E-1F44-1049-BF87-0342ED120B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0EAE45-DAE4-7F49-BBD4-B2FEBDD7EEDF}"/>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8" name="Footer Placeholder 7">
            <a:extLst>
              <a:ext uri="{FF2B5EF4-FFF2-40B4-BE49-F238E27FC236}">
                <a16:creationId xmlns:a16="http://schemas.microsoft.com/office/drawing/2014/main" id="{87E7D0BE-3CC1-8A4C-912A-7591F6B004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48D37D-0A2B-1D40-8457-9720E0449339}"/>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442172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FB4E0-B6F1-0946-BEF7-549CC89608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0D3443-1310-AB44-8873-E96DD9B870DB}"/>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4" name="Footer Placeholder 3">
            <a:extLst>
              <a:ext uri="{FF2B5EF4-FFF2-40B4-BE49-F238E27FC236}">
                <a16:creationId xmlns:a16="http://schemas.microsoft.com/office/drawing/2014/main" id="{676017B8-E47B-8941-BC37-0CF137035C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05A2D4-DAE5-C849-BCD4-87C5ED91D70E}"/>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2090490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94DA30-EF9B-194E-88AC-B9E05390792E}"/>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3" name="Footer Placeholder 2">
            <a:extLst>
              <a:ext uri="{FF2B5EF4-FFF2-40B4-BE49-F238E27FC236}">
                <a16:creationId xmlns:a16="http://schemas.microsoft.com/office/drawing/2014/main" id="{50E8475F-9DA3-2D43-ADCC-9BC769CB46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2D801F-D004-0649-ABA6-F0390B8C1A07}"/>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832848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1B4A-F441-8644-BA42-E83F78A42F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068360-498A-6B49-BA43-23438B0C5F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044328-07FE-DA41-A392-D1AFC0F8E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F240B-B625-7141-B185-80A1551A0B36}"/>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6" name="Footer Placeholder 5">
            <a:extLst>
              <a:ext uri="{FF2B5EF4-FFF2-40B4-BE49-F238E27FC236}">
                <a16:creationId xmlns:a16="http://schemas.microsoft.com/office/drawing/2014/main" id="{DDAC1818-DB3B-7B41-9099-C2364BE299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49E3A5-4383-8E41-8C9A-4EACC45F6164}"/>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350859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9BA62-8AAF-3445-8F51-AF13508F87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A3D575-0FDD-A24A-A931-68D36F8DA9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0811E7-EAFA-124B-984C-88D8AE0B1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7015B2-E5B1-474D-8D88-D37AB482D729}"/>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6" name="Footer Placeholder 5">
            <a:extLst>
              <a:ext uri="{FF2B5EF4-FFF2-40B4-BE49-F238E27FC236}">
                <a16:creationId xmlns:a16="http://schemas.microsoft.com/office/drawing/2014/main" id="{48487157-0261-A847-9672-895EDD3B9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C5EF5A-77E4-4746-8A9C-6E7236CFEAE2}"/>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1340015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67121-D8CD-1A4E-B7DF-E50E1E2943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6AA541-EFCF-7E4C-974C-4F934CE70A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976DED-BB22-4741-BC48-4683D6257F2A}"/>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5" name="Footer Placeholder 4">
            <a:extLst>
              <a:ext uri="{FF2B5EF4-FFF2-40B4-BE49-F238E27FC236}">
                <a16:creationId xmlns:a16="http://schemas.microsoft.com/office/drawing/2014/main" id="{AAB4A5D7-072C-1747-8FB9-31A421CF6C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3B945B-259E-6248-AB69-37F235ECCCDC}"/>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1251535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4B884C-726C-FB40-8F0A-6843D57DAD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1E9E46-6932-B244-B005-AE39DF7E96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0211D-A38E-5C4B-9565-056BB8764495}"/>
              </a:ext>
            </a:extLst>
          </p:cNvPr>
          <p:cNvSpPr>
            <a:spLocks noGrp="1"/>
          </p:cNvSpPr>
          <p:nvPr>
            <p:ph type="dt" sz="half" idx="10"/>
          </p:nvPr>
        </p:nvSpPr>
        <p:spPr/>
        <p:txBody>
          <a:bodyPr/>
          <a:lstStyle/>
          <a:p>
            <a:fld id="{9E160C95-B000-AE46-A34E-AD043CF08485}" type="datetimeFigureOut">
              <a:rPr lang="en-US" smtClean="0"/>
              <a:t>5/19/24</a:t>
            </a:fld>
            <a:endParaRPr lang="en-US"/>
          </a:p>
        </p:txBody>
      </p:sp>
      <p:sp>
        <p:nvSpPr>
          <p:cNvPr id="5" name="Footer Placeholder 4">
            <a:extLst>
              <a:ext uri="{FF2B5EF4-FFF2-40B4-BE49-F238E27FC236}">
                <a16:creationId xmlns:a16="http://schemas.microsoft.com/office/drawing/2014/main" id="{2D46AE29-DD65-9E49-AC56-2B39614510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2E58BB-AFB8-354C-B543-7BF4655A3233}"/>
              </a:ext>
            </a:extLst>
          </p:cNvPr>
          <p:cNvSpPr>
            <a:spLocks noGrp="1"/>
          </p:cNvSpPr>
          <p:nvPr>
            <p:ph type="sldNum" sz="quarter" idx="12"/>
          </p:nvPr>
        </p:nvSpPr>
        <p:spPr/>
        <p:txBody>
          <a:bodyPr/>
          <a:lstStyle/>
          <a:p>
            <a:fld id="{0C7C317D-EC32-A846-B266-273D596BBED8}" type="slidenum">
              <a:rPr lang="en-US" smtClean="0"/>
              <a:t>‹#›</a:t>
            </a:fld>
            <a:endParaRPr lang="en-US"/>
          </a:p>
        </p:txBody>
      </p:sp>
    </p:spTree>
    <p:extLst>
      <p:ext uri="{BB962C8B-B14F-4D97-AF65-F5344CB8AC3E}">
        <p14:creationId xmlns:p14="http://schemas.microsoft.com/office/powerpoint/2010/main" val="1305108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555DB7-48FC-2549-8AAB-809C88CAE7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2FA782-210E-2240-B6A6-17EF4CAB4F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E52DEE-F094-DB41-AB49-6E828DD2E4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160C95-B000-AE46-A34E-AD043CF08485}" type="datetimeFigureOut">
              <a:rPr lang="en-US" smtClean="0"/>
              <a:t>5/19/24</a:t>
            </a:fld>
            <a:endParaRPr lang="en-US"/>
          </a:p>
        </p:txBody>
      </p:sp>
      <p:sp>
        <p:nvSpPr>
          <p:cNvPr id="5" name="Footer Placeholder 4">
            <a:extLst>
              <a:ext uri="{FF2B5EF4-FFF2-40B4-BE49-F238E27FC236}">
                <a16:creationId xmlns:a16="http://schemas.microsoft.com/office/drawing/2014/main" id="{F671F5C9-F1A9-BE42-A860-D9D7D719E2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537868-6A33-A74F-AF73-05CC89536F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7C317D-EC32-A846-B266-273D596BBED8}" type="slidenum">
              <a:rPr lang="en-US" smtClean="0"/>
              <a:t>‹#›</a:t>
            </a:fld>
            <a:endParaRPr lang="en-US"/>
          </a:p>
        </p:txBody>
      </p:sp>
    </p:spTree>
    <p:extLst>
      <p:ext uri="{BB962C8B-B14F-4D97-AF65-F5344CB8AC3E}">
        <p14:creationId xmlns:p14="http://schemas.microsoft.com/office/powerpoint/2010/main" val="709490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4;p1">
            <a:extLst>
              <a:ext uri="{FF2B5EF4-FFF2-40B4-BE49-F238E27FC236}">
                <a16:creationId xmlns:a16="http://schemas.microsoft.com/office/drawing/2014/main" id="{A2348B76-19CB-FF45-8566-F51C8E4EF324}"/>
              </a:ext>
            </a:extLst>
          </p:cNvPr>
          <p:cNvSpPr txBox="1">
            <a:spLocks noGrp="1"/>
          </p:cNvSpPr>
          <p:nvPr>
            <p:ph type="ctrTitle"/>
          </p:nvPr>
        </p:nvSpPr>
        <p:spPr>
          <a:xfrm>
            <a:off x="278237" y="552741"/>
            <a:ext cx="11635526" cy="114528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2800"/>
              <a:buFont typeface="Calibri"/>
              <a:buNone/>
            </a:pPr>
            <a:r>
              <a:rPr lang="en-US" sz="2600" b="1" dirty="0">
                <a:latin typeface="Helvetica" pitchFamily="2" charset="0"/>
              </a:rPr>
              <a:t>Collaborative Research: </a:t>
            </a:r>
            <a:r>
              <a:rPr lang="en-US" sz="2600" b="1" dirty="0" err="1">
                <a:latin typeface="Helvetica" pitchFamily="2" charset="0"/>
              </a:rPr>
              <a:t>CyberTraining</a:t>
            </a:r>
            <a:r>
              <a:rPr lang="en-US" sz="2600" b="1" dirty="0">
                <a:latin typeface="Helvetica" pitchFamily="2" charset="0"/>
              </a:rPr>
              <a:t>: Pilot: A </a:t>
            </a:r>
            <a:r>
              <a:rPr lang="en-US" sz="2600" b="1" dirty="0" err="1">
                <a:latin typeface="Helvetica" pitchFamily="2" charset="0"/>
              </a:rPr>
              <a:t>Cybertraining</a:t>
            </a:r>
            <a:r>
              <a:rPr lang="en-US" sz="2600" b="1" dirty="0">
                <a:latin typeface="Helvetica" pitchFamily="2" charset="0"/>
              </a:rPr>
              <a:t> Program to Advance Data Acquisition, Processing, and Machine Learning-based Modeling in Marine Science</a:t>
            </a:r>
            <a:endParaRPr sz="2600" dirty="0">
              <a:latin typeface="Helvetica" pitchFamily="2" charset="0"/>
            </a:endParaRPr>
          </a:p>
        </p:txBody>
      </p:sp>
      <p:pic>
        <p:nvPicPr>
          <p:cNvPr id="5" name="Google Shape;85;p1" descr="Logo, company name&#10;&#10;Description automatically generated">
            <a:extLst>
              <a:ext uri="{FF2B5EF4-FFF2-40B4-BE49-F238E27FC236}">
                <a16:creationId xmlns:a16="http://schemas.microsoft.com/office/drawing/2014/main" id="{6A1C4CF7-716F-EE4C-B27E-CEBBD9BA8C5A}"/>
              </a:ext>
            </a:extLst>
          </p:cNvPr>
          <p:cNvPicPr preferRelativeResize="0"/>
          <p:nvPr/>
        </p:nvPicPr>
        <p:blipFill rotWithShape="1">
          <a:blip r:embed="rId2">
            <a:alphaModFix/>
          </a:blip>
          <a:srcRect/>
          <a:stretch/>
        </p:blipFill>
        <p:spPr>
          <a:xfrm>
            <a:off x="3146422" y="3919392"/>
            <a:ext cx="2689809" cy="609625"/>
          </a:xfrm>
          <a:prstGeom prst="rect">
            <a:avLst/>
          </a:prstGeom>
          <a:noFill/>
          <a:ln>
            <a:noFill/>
          </a:ln>
        </p:spPr>
      </p:pic>
      <p:sp>
        <p:nvSpPr>
          <p:cNvPr id="6" name="Google Shape;86;p1">
            <a:extLst>
              <a:ext uri="{FF2B5EF4-FFF2-40B4-BE49-F238E27FC236}">
                <a16:creationId xmlns:a16="http://schemas.microsoft.com/office/drawing/2014/main" id="{9B9754A1-E2CA-B749-B93E-6601F9CDFC40}"/>
              </a:ext>
            </a:extLst>
          </p:cNvPr>
          <p:cNvSpPr txBox="1"/>
          <p:nvPr/>
        </p:nvSpPr>
        <p:spPr>
          <a:xfrm>
            <a:off x="2574809" y="2960540"/>
            <a:ext cx="7450934"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Helvetica" pitchFamily="2" charset="0"/>
                <a:ea typeface="Calibri"/>
                <a:cs typeface="Calibri"/>
                <a:sym typeface="Calibri"/>
              </a:rPr>
              <a:t>PIs: Qianqian Liu</a:t>
            </a:r>
            <a:r>
              <a:rPr lang="en-US" sz="1800" b="0" i="0" u="none" strike="noStrike" cap="none" baseline="30000" dirty="0">
                <a:solidFill>
                  <a:schemeClr val="dk1"/>
                </a:solidFill>
                <a:latin typeface="Helvetica" pitchFamily="2" charset="0"/>
                <a:ea typeface="Calibri"/>
                <a:cs typeface="Calibri"/>
                <a:sym typeface="Calibri"/>
              </a:rPr>
              <a:t>1</a:t>
            </a:r>
            <a:r>
              <a:rPr lang="en-US" sz="1800" b="0" i="0" u="none" strike="noStrike" cap="none" dirty="0">
                <a:solidFill>
                  <a:schemeClr val="dk1"/>
                </a:solidFill>
                <a:latin typeface="Helvetica" pitchFamily="2" charset="0"/>
                <a:ea typeface="Calibri"/>
                <a:cs typeface="Calibri"/>
                <a:sym typeface="Calibri"/>
              </a:rPr>
              <a:t>, Yang Song</a:t>
            </a:r>
            <a:r>
              <a:rPr lang="en-US" sz="1800" b="0" i="0" u="none" strike="noStrike" cap="none" baseline="30000" dirty="0">
                <a:solidFill>
                  <a:schemeClr val="dk1"/>
                </a:solidFill>
                <a:latin typeface="Helvetica" pitchFamily="2" charset="0"/>
                <a:ea typeface="Calibri"/>
                <a:cs typeface="Calibri"/>
                <a:sym typeface="Calibri"/>
              </a:rPr>
              <a:t>1</a:t>
            </a:r>
            <a:r>
              <a:rPr lang="en-US" sz="1800" b="0" i="0" u="none" strike="noStrike" cap="none" dirty="0">
                <a:solidFill>
                  <a:schemeClr val="dk1"/>
                </a:solidFill>
                <a:latin typeface="Helvetica" pitchFamily="2" charset="0"/>
                <a:ea typeface="Calibri"/>
                <a:cs typeface="Calibri"/>
                <a:sym typeface="Calibri"/>
              </a:rPr>
              <a:t>, </a:t>
            </a:r>
            <a:r>
              <a:rPr lang="en-US" sz="1800" b="0" i="0" u="none" strike="noStrike" cap="none" dirty="0" err="1">
                <a:solidFill>
                  <a:schemeClr val="dk1"/>
                </a:solidFill>
                <a:latin typeface="Helvetica" pitchFamily="2" charset="0"/>
                <a:ea typeface="Calibri"/>
                <a:cs typeface="Calibri"/>
                <a:sym typeface="Calibri"/>
              </a:rPr>
              <a:t>Zhengui</a:t>
            </a:r>
            <a:r>
              <a:rPr lang="en-US" sz="1800" b="0" i="0" u="none" strike="noStrike" cap="none" dirty="0">
                <a:solidFill>
                  <a:schemeClr val="dk1"/>
                </a:solidFill>
                <a:latin typeface="Helvetica" pitchFamily="2" charset="0"/>
                <a:ea typeface="Calibri"/>
                <a:cs typeface="Calibri"/>
                <a:sym typeface="Calibri"/>
              </a:rPr>
              <a:t> Wang</a:t>
            </a:r>
            <a:r>
              <a:rPr lang="en-US" sz="1800" b="0" i="0" u="none" strike="noStrike" cap="none" baseline="30000" dirty="0">
                <a:solidFill>
                  <a:schemeClr val="dk1"/>
                </a:solidFill>
                <a:latin typeface="Helvetica" pitchFamily="2" charset="0"/>
                <a:ea typeface="Calibri"/>
                <a:cs typeface="Calibri"/>
                <a:sym typeface="Calibri"/>
              </a:rPr>
              <a:t>2</a:t>
            </a:r>
            <a:r>
              <a:rPr lang="en-US" sz="1800" b="0" i="0" u="none" strike="noStrike" cap="none" dirty="0">
                <a:solidFill>
                  <a:schemeClr val="dk1"/>
                </a:solidFill>
                <a:latin typeface="Helvetica" pitchFamily="2" charset="0"/>
                <a:ea typeface="Calibri"/>
                <a:cs typeface="Calibri"/>
                <a:sym typeface="Calibri"/>
              </a:rPr>
              <a:t>, </a:t>
            </a:r>
            <a:r>
              <a:rPr lang="en-US" sz="1800" b="0" i="0" u="none" strike="noStrike" cap="none" dirty="0" err="1">
                <a:solidFill>
                  <a:schemeClr val="dk1"/>
                </a:solidFill>
                <a:latin typeface="Helvetica" pitchFamily="2" charset="0"/>
                <a:ea typeface="Calibri"/>
                <a:cs typeface="Calibri"/>
                <a:sym typeface="Calibri"/>
              </a:rPr>
              <a:t>Gulustan</a:t>
            </a:r>
            <a:r>
              <a:rPr lang="en-US" sz="1800" b="0" i="0" u="none" strike="noStrike" cap="none" dirty="0">
                <a:solidFill>
                  <a:schemeClr val="dk1"/>
                </a:solidFill>
                <a:latin typeface="Helvetica" pitchFamily="2" charset="0"/>
                <a:ea typeface="Calibri"/>
                <a:cs typeface="Calibri"/>
                <a:sym typeface="Calibri"/>
              </a:rPr>
              <a:t> Dogan</a:t>
            </a:r>
            <a:r>
              <a:rPr lang="en-US" sz="1800" b="0" i="0" u="none" strike="noStrike" cap="none" baseline="30000" dirty="0">
                <a:solidFill>
                  <a:schemeClr val="dk1"/>
                </a:solidFill>
                <a:latin typeface="Helvetica" pitchFamily="2" charset="0"/>
                <a:ea typeface="Calibri"/>
                <a:cs typeface="Calibri"/>
                <a:sym typeface="Calibri"/>
              </a:rPr>
              <a:t>1</a:t>
            </a:r>
          </a:p>
          <a:p>
            <a:pPr marL="0" marR="0" lvl="0" indent="0" algn="l" rtl="0">
              <a:spcBef>
                <a:spcPts val="0"/>
              </a:spcBef>
              <a:spcAft>
                <a:spcPts val="0"/>
              </a:spcAft>
              <a:buNone/>
            </a:pPr>
            <a:r>
              <a:rPr lang="en-US" dirty="0">
                <a:solidFill>
                  <a:schemeClr val="dk1"/>
                </a:solidFill>
                <a:latin typeface="Helvetica" pitchFamily="2" charset="0"/>
                <a:ea typeface="Calibri"/>
                <a:cs typeface="Calibri"/>
                <a:sym typeface="Calibri"/>
              </a:rPr>
              <a:t>Students: Mina Gachloo</a:t>
            </a:r>
            <a:r>
              <a:rPr lang="en-US" baseline="30000" dirty="0">
                <a:solidFill>
                  <a:schemeClr val="dk1"/>
                </a:solidFill>
                <a:latin typeface="Helvetica" pitchFamily="2" charset="0"/>
                <a:ea typeface="Calibri"/>
                <a:cs typeface="Calibri"/>
                <a:sym typeface="Calibri"/>
              </a:rPr>
              <a:t>1</a:t>
            </a:r>
            <a:r>
              <a:rPr lang="en-US" dirty="0">
                <a:solidFill>
                  <a:schemeClr val="dk1"/>
                </a:solidFill>
                <a:latin typeface="Helvetica" pitchFamily="2" charset="0"/>
                <a:ea typeface="Calibri"/>
                <a:cs typeface="Calibri"/>
                <a:sym typeface="Calibri"/>
              </a:rPr>
              <a:t>, Katherine Boot</a:t>
            </a:r>
            <a:r>
              <a:rPr lang="en-US" baseline="30000" dirty="0">
                <a:solidFill>
                  <a:schemeClr val="dk1"/>
                </a:solidFill>
                <a:latin typeface="Helvetica" pitchFamily="2" charset="0"/>
                <a:ea typeface="Calibri"/>
                <a:cs typeface="Calibri"/>
                <a:sym typeface="Calibri"/>
              </a:rPr>
              <a:t>1</a:t>
            </a:r>
            <a:endParaRPr sz="1800" baseline="30000" dirty="0">
              <a:solidFill>
                <a:schemeClr val="dk1"/>
              </a:solidFill>
              <a:latin typeface="Helvetica" pitchFamily="2" charset="0"/>
              <a:ea typeface="Calibri"/>
              <a:cs typeface="Calibri"/>
              <a:sym typeface="Calibri"/>
            </a:endParaRPr>
          </a:p>
        </p:txBody>
      </p:sp>
      <p:sp>
        <p:nvSpPr>
          <p:cNvPr id="7" name="Google Shape;87;p1">
            <a:extLst>
              <a:ext uri="{FF2B5EF4-FFF2-40B4-BE49-F238E27FC236}">
                <a16:creationId xmlns:a16="http://schemas.microsoft.com/office/drawing/2014/main" id="{1923B0E8-B076-FC4E-B9EB-83B4C15B1CB8}"/>
              </a:ext>
            </a:extLst>
          </p:cNvPr>
          <p:cNvSpPr txBox="1"/>
          <p:nvPr/>
        </p:nvSpPr>
        <p:spPr>
          <a:xfrm>
            <a:off x="2922600" y="3884033"/>
            <a:ext cx="4122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Helvetica" pitchFamily="2" charset="0"/>
                <a:ea typeface="Calibri"/>
                <a:cs typeface="Calibri"/>
                <a:sym typeface="Calibri"/>
              </a:rPr>
              <a:t>1. </a:t>
            </a:r>
            <a:endParaRPr>
              <a:latin typeface="Helvetica" pitchFamily="2" charset="0"/>
            </a:endParaRPr>
          </a:p>
        </p:txBody>
      </p:sp>
      <p:sp>
        <p:nvSpPr>
          <p:cNvPr id="8" name="Google Shape;88;p1">
            <a:extLst>
              <a:ext uri="{FF2B5EF4-FFF2-40B4-BE49-F238E27FC236}">
                <a16:creationId xmlns:a16="http://schemas.microsoft.com/office/drawing/2014/main" id="{4EB94457-7AC7-D14B-9C33-3478212D4A2C}"/>
              </a:ext>
            </a:extLst>
          </p:cNvPr>
          <p:cNvSpPr txBox="1"/>
          <p:nvPr/>
        </p:nvSpPr>
        <p:spPr>
          <a:xfrm>
            <a:off x="6066863" y="3931388"/>
            <a:ext cx="4122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Helvetica" pitchFamily="2" charset="0"/>
                <a:ea typeface="Calibri"/>
                <a:cs typeface="Calibri"/>
                <a:sym typeface="Calibri"/>
              </a:rPr>
              <a:t>2. </a:t>
            </a:r>
            <a:endParaRPr dirty="0">
              <a:latin typeface="Helvetica" pitchFamily="2" charset="0"/>
            </a:endParaRPr>
          </a:p>
        </p:txBody>
      </p:sp>
      <p:pic>
        <p:nvPicPr>
          <p:cNvPr id="11" name="Google Shape;91;p1">
            <a:extLst>
              <a:ext uri="{FF2B5EF4-FFF2-40B4-BE49-F238E27FC236}">
                <a16:creationId xmlns:a16="http://schemas.microsoft.com/office/drawing/2014/main" id="{C36C9CFD-8DB5-1E4F-A08D-13F09B5B5DF8}"/>
              </a:ext>
            </a:extLst>
          </p:cNvPr>
          <p:cNvPicPr preferRelativeResize="0"/>
          <p:nvPr/>
        </p:nvPicPr>
        <p:blipFill>
          <a:blip r:embed="rId3">
            <a:alphaModFix/>
          </a:blip>
          <a:stretch>
            <a:fillRect/>
          </a:stretch>
        </p:blipFill>
        <p:spPr>
          <a:xfrm>
            <a:off x="6691718" y="3919385"/>
            <a:ext cx="914400" cy="381000"/>
          </a:xfrm>
          <a:prstGeom prst="rect">
            <a:avLst/>
          </a:prstGeom>
          <a:noFill/>
          <a:ln>
            <a:noFill/>
          </a:ln>
        </p:spPr>
      </p:pic>
      <p:pic>
        <p:nvPicPr>
          <p:cNvPr id="12" name="Google Shape;92;p1">
            <a:extLst>
              <a:ext uri="{FF2B5EF4-FFF2-40B4-BE49-F238E27FC236}">
                <a16:creationId xmlns:a16="http://schemas.microsoft.com/office/drawing/2014/main" id="{4E9BC68D-13EB-F14D-9394-739D322E7F9C}"/>
              </a:ext>
            </a:extLst>
          </p:cNvPr>
          <p:cNvPicPr preferRelativeResize="0"/>
          <p:nvPr/>
        </p:nvPicPr>
        <p:blipFill>
          <a:blip r:embed="rId4">
            <a:alphaModFix/>
          </a:blip>
          <a:stretch>
            <a:fillRect/>
          </a:stretch>
        </p:blipFill>
        <p:spPr>
          <a:xfrm>
            <a:off x="6012712" y="4300714"/>
            <a:ext cx="2272425" cy="229095"/>
          </a:xfrm>
          <a:prstGeom prst="rect">
            <a:avLst/>
          </a:prstGeom>
          <a:noFill/>
          <a:ln>
            <a:noFill/>
          </a:ln>
        </p:spPr>
      </p:pic>
      <p:pic>
        <p:nvPicPr>
          <p:cNvPr id="13" name="Graphic 12">
            <a:extLst>
              <a:ext uri="{FF2B5EF4-FFF2-40B4-BE49-F238E27FC236}">
                <a16:creationId xmlns:a16="http://schemas.microsoft.com/office/drawing/2014/main" id="{B46A8084-6385-950D-2EF5-288F0E7283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80287" y="3359331"/>
            <a:ext cx="2082657" cy="2082657"/>
          </a:xfrm>
          <a:prstGeom prst="rect">
            <a:avLst/>
          </a:prstGeom>
        </p:spPr>
      </p:pic>
    </p:spTree>
    <p:extLst>
      <p:ext uri="{BB962C8B-B14F-4D97-AF65-F5344CB8AC3E}">
        <p14:creationId xmlns:p14="http://schemas.microsoft.com/office/powerpoint/2010/main" val="1641125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BC4B12-2E7A-DD49-AFAD-74F1C66470BE}"/>
              </a:ext>
            </a:extLst>
          </p:cNvPr>
          <p:cNvSpPr>
            <a:spLocks noGrp="1"/>
          </p:cNvSpPr>
          <p:nvPr>
            <p:ph idx="1"/>
          </p:nvPr>
        </p:nvSpPr>
        <p:spPr>
          <a:xfrm>
            <a:off x="646386" y="1103585"/>
            <a:ext cx="10515600" cy="5605767"/>
          </a:xfrm>
        </p:spPr>
        <p:txBody>
          <a:bodyPr>
            <a:noAutofit/>
          </a:bodyPr>
          <a:lstStyle/>
          <a:p>
            <a:pPr marL="0" indent="0">
              <a:buNone/>
            </a:pPr>
            <a:r>
              <a:rPr lang="en-US" sz="2200" dirty="0">
                <a:latin typeface="Helvetica" pitchFamily="2" charset="0"/>
              </a:rPr>
              <a:t>M</a:t>
            </a:r>
            <a:r>
              <a:rPr lang="en-US" sz="2200" dirty="0">
                <a:effectLst/>
                <a:latin typeface="Helvetica" pitchFamily="2" charset="0"/>
              </a:rPr>
              <a:t>arine science is a </a:t>
            </a:r>
            <a:r>
              <a:rPr lang="en-US" sz="2200" b="1" dirty="0">
                <a:effectLst/>
                <a:latin typeface="Helvetica" pitchFamily="2" charset="0"/>
              </a:rPr>
              <a:t>highly interdisciplinary </a:t>
            </a:r>
            <a:r>
              <a:rPr lang="en-US" sz="2200" dirty="0">
                <a:effectLst/>
                <a:latin typeface="Helvetica" pitchFamily="2" charset="0"/>
              </a:rPr>
              <a:t>and </a:t>
            </a:r>
            <a:r>
              <a:rPr lang="en-US" sz="2200" b="1" dirty="0">
                <a:effectLst/>
                <a:latin typeface="Helvetica" pitchFamily="2" charset="0"/>
              </a:rPr>
              <a:t>data-intensive</a:t>
            </a:r>
            <a:r>
              <a:rPr lang="en-US" sz="2200" dirty="0">
                <a:effectLst/>
                <a:latin typeface="Helvetica" pitchFamily="2" charset="0"/>
              </a:rPr>
              <a:t> field, a particular research project always depends on various types of ocean datasets, including </a:t>
            </a:r>
          </a:p>
          <a:p>
            <a:r>
              <a:rPr lang="en-US" sz="2200" dirty="0">
                <a:latin typeface="Helvetica" pitchFamily="2" charset="0"/>
              </a:rPr>
              <a:t>In-situ observations</a:t>
            </a:r>
          </a:p>
          <a:p>
            <a:r>
              <a:rPr lang="en-US" sz="2200" dirty="0">
                <a:effectLst/>
                <a:latin typeface="Helvetica" pitchFamily="2" charset="0"/>
              </a:rPr>
              <a:t>Remote sensing data</a:t>
            </a:r>
          </a:p>
          <a:p>
            <a:r>
              <a:rPr lang="en-US" sz="2200" dirty="0">
                <a:latin typeface="Helvetica" pitchFamily="2" charset="0"/>
              </a:rPr>
              <a:t>Model results</a:t>
            </a:r>
          </a:p>
          <a:p>
            <a:r>
              <a:rPr lang="en-US" sz="2200" dirty="0">
                <a:effectLst/>
                <a:latin typeface="Helvetica" pitchFamily="2" charset="0"/>
              </a:rPr>
              <a:t>Lab data</a:t>
            </a:r>
            <a:endParaRPr lang="en-US" sz="2200" dirty="0">
              <a:latin typeface="Helvetica" pitchFamily="2" charset="0"/>
            </a:endParaRPr>
          </a:p>
          <a:p>
            <a:endParaRPr lang="en-US" sz="2200" dirty="0">
              <a:latin typeface="Helvetica" pitchFamily="2" charset="0"/>
            </a:endParaRPr>
          </a:p>
          <a:p>
            <a:pPr marL="0" indent="0">
              <a:buNone/>
            </a:pPr>
            <a:r>
              <a:rPr lang="en-US" sz="2200" dirty="0">
                <a:latin typeface="Helvetica" pitchFamily="2" charset="0"/>
              </a:rPr>
              <a:t>Data in marine science are often </a:t>
            </a:r>
            <a:r>
              <a:rPr lang="en-US" sz="2200" b="1" i="1" dirty="0">
                <a:latin typeface="Helvetica" pitchFamily="2" charset="0"/>
              </a:rPr>
              <a:t>indexed differently</a:t>
            </a:r>
            <a:r>
              <a:rPr lang="en-US" sz="2200" dirty="0">
                <a:latin typeface="Helvetica" pitchFamily="2" charset="0"/>
              </a:rPr>
              <a:t> and </a:t>
            </a:r>
            <a:r>
              <a:rPr lang="en-US" sz="2200" b="1" i="1" dirty="0">
                <a:latin typeface="Helvetica" pitchFamily="2" charset="0"/>
              </a:rPr>
              <a:t>stored in different formats</a:t>
            </a:r>
            <a:r>
              <a:rPr lang="en-US" sz="2200" dirty="0">
                <a:latin typeface="Helvetica" pitchFamily="2" charset="0"/>
              </a:rPr>
              <a:t>. </a:t>
            </a:r>
          </a:p>
          <a:p>
            <a:pPr marL="0" indent="0">
              <a:buNone/>
            </a:pPr>
            <a:r>
              <a:rPr lang="en-US" sz="2200" dirty="0">
                <a:effectLst/>
                <a:latin typeface="Helvetica" pitchFamily="2" charset="0"/>
              </a:rPr>
              <a:t>With oceanographic data having </a:t>
            </a:r>
            <a:r>
              <a:rPr lang="en-US" sz="2200" b="1" dirty="0">
                <a:effectLst/>
                <a:latin typeface="Helvetica" pitchFamily="2" charset="0"/>
              </a:rPr>
              <a:t>time scales ranging from microseconds to decades or even centuries</a:t>
            </a:r>
            <a:r>
              <a:rPr lang="en-US" sz="2200" dirty="0">
                <a:effectLst/>
                <a:latin typeface="Helvetica" pitchFamily="2" charset="0"/>
              </a:rPr>
              <a:t>, </a:t>
            </a:r>
            <a:r>
              <a:rPr lang="en-US" sz="2200" b="1" dirty="0">
                <a:effectLst/>
                <a:latin typeface="Helvetica" pitchFamily="2" charset="0"/>
              </a:rPr>
              <a:t>spatial scales ranging from centimeters to thousands of kilometers</a:t>
            </a:r>
            <a:r>
              <a:rPr lang="en-US" sz="2200" dirty="0">
                <a:effectLst/>
                <a:latin typeface="Helvetica" pitchFamily="2" charset="0"/>
              </a:rPr>
              <a:t>, collected by different agencies with different formats, the active development of CI makes it possible for data processing, storage, and dissemination among users with an internet connection</a:t>
            </a:r>
            <a:endParaRPr lang="en-US" sz="2200" dirty="0">
              <a:latin typeface="Helvetica" pitchFamily="2" charset="0"/>
            </a:endParaRPr>
          </a:p>
          <a:p>
            <a:pPr marL="0" indent="0">
              <a:buNone/>
            </a:pPr>
            <a:r>
              <a:rPr lang="en-US" sz="2200" dirty="0">
                <a:latin typeface="Helvetica" pitchFamily="2" charset="0"/>
              </a:rPr>
              <a:t>The data acquisition and analysis processes are not always straightforward</a:t>
            </a:r>
          </a:p>
        </p:txBody>
      </p:sp>
      <p:sp>
        <p:nvSpPr>
          <p:cNvPr id="2" name="TextBox 1">
            <a:extLst>
              <a:ext uri="{FF2B5EF4-FFF2-40B4-BE49-F238E27FC236}">
                <a16:creationId xmlns:a16="http://schemas.microsoft.com/office/drawing/2014/main" id="{F5C8B040-46BC-D719-46DE-A694B9EDA794}"/>
              </a:ext>
            </a:extLst>
          </p:cNvPr>
          <p:cNvSpPr txBox="1"/>
          <p:nvPr/>
        </p:nvSpPr>
        <p:spPr>
          <a:xfrm>
            <a:off x="362607" y="268014"/>
            <a:ext cx="6353214" cy="430887"/>
          </a:xfrm>
          <a:prstGeom prst="rect">
            <a:avLst/>
          </a:prstGeom>
          <a:noFill/>
          <a:effectLst>
            <a:outerShdw blurRad="50800" dist="38100" dir="18900000" algn="bl" rotWithShape="0">
              <a:prstClr val="black">
                <a:alpha val="40000"/>
              </a:prstClr>
            </a:outerShdw>
          </a:effectLst>
        </p:spPr>
        <p:txBody>
          <a:bodyPr wrap="none" rtlCol="0">
            <a:spAutoFit/>
          </a:bodyPr>
          <a:lstStyle/>
          <a:p>
            <a:r>
              <a:rPr lang="en-US" sz="2200" b="1" dirty="0">
                <a:latin typeface="Helvetica" pitchFamily="2" charset="0"/>
              </a:rPr>
              <a:t>Marine Science Data Acquisition and Analysis</a:t>
            </a:r>
          </a:p>
        </p:txBody>
      </p:sp>
    </p:spTree>
    <p:extLst>
      <p:ext uri="{BB962C8B-B14F-4D97-AF65-F5344CB8AC3E}">
        <p14:creationId xmlns:p14="http://schemas.microsoft.com/office/powerpoint/2010/main" val="1738231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6B13EC-C0A7-47F9-B4B6-97F7F279E5DC}"/>
              </a:ext>
            </a:extLst>
          </p:cNvPr>
          <p:cNvSpPr txBox="1"/>
          <p:nvPr/>
        </p:nvSpPr>
        <p:spPr>
          <a:xfrm>
            <a:off x="362607" y="268014"/>
            <a:ext cx="5024132" cy="430887"/>
          </a:xfrm>
          <a:prstGeom prst="rect">
            <a:avLst/>
          </a:prstGeom>
          <a:noFill/>
          <a:effectLst>
            <a:outerShdw blurRad="50800" dist="38100" dir="18900000" algn="bl" rotWithShape="0">
              <a:prstClr val="black">
                <a:alpha val="40000"/>
              </a:prstClr>
            </a:outerShdw>
          </a:effectLst>
        </p:spPr>
        <p:txBody>
          <a:bodyPr wrap="none" rtlCol="0">
            <a:spAutoFit/>
          </a:bodyPr>
          <a:lstStyle/>
          <a:p>
            <a:r>
              <a:rPr lang="en-US" sz="2200" b="1" dirty="0">
                <a:latin typeface="Helvetica" pitchFamily="2" charset="0"/>
              </a:rPr>
              <a:t>Machine Learning in Marine science</a:t>
            </a:r>
          </a:p>
        </p:txBody>
      </p:sp>
      <p:sp>
        <p:nvSpPr>
          <p:cNvPr id="5" name="Content Placeholder 2">
            <a:extLst>
              <a:ext uri="{FF2B5EF4-FFF2-40B4-BE49-F238E27FC236}">
                <a16:creationId xmlns:a16="http://schemas.microsoft.com/office/drawing/2014/main" id="{7FE607AB-0A51-F737-7014-8135597C1642}"/>
              </a:ext>
            </a:extLst>
          </p:cNvPr>
          <p:cNvSpPr>
            <a:spLocks noGrp="1"/>
          </p:cNvSpPr>
          <p:nvPr>
            <p:ph idx="1"/>
          </p:nvPr>
        </p:nvSpPr>
        <p:spPr>
          <a:xfrm>
            <a:off x="646386" y="1252233"/>
            <a:ext cx="10515600" cy="5605767"/>
          </a:xfrm>
        </p:spPr>
        <p:txBody>
          <a:bodyPr>
            <a:noAutofit/>
          </a:bodyPr>
          <a:lstStyle/>
          <a:p>
            <a:pPr marL="0" indent="0">
              <a:buNone/>
            </a:pPr>
            <a:r>
              <a:rPr lang="en-US" sz="2200" dirty="0">
                <a:latin typeface="Helvetica" pitchFamily="2" charset="0"/>
              </a:rPr>
              <a:t>Mechanistic models have been used – Limited for multiple reasons</a:t>
            </a:r>
          </a:p>
          <a:p>
            <a:r>
              <a:rPr lang="en-US" sz="2200" dirty="0">
                <a:latin typeface="Helvetica" pitchFamily="2" charset="0"/>
              </a:rPr>
              <a:t>They rely on an accurate hydrodynamic model </a:t>
            </a:r>
          </a:p>
          <a:p>
            <a:r>
              <a:rPr lang="en-US" sz="2200" dirty="0">
                <a:latin typeface="Helvetica" pitchFamily="2" charset="0"/>
              </a:rPr>
              <a:t>Ecological models usually simplify phytoplankton community to include a few functional groups</a:t>
            </a:r>
          </a:p>
          <a:p>
            <a:r>
              <a:rPr lang="en-US" sz="2200" dirty="0">
                <a:effectLst/>
                <a:latin typeface="Helvetica" pitchFamily="2" charset="0"/>
              </a:rPr>
              <a:t>Parameters are often estimated </a:t>
            </a:r>
            <a:r>
              <a:rPr lang="en-US" sz="2200" dirty="0">
                <a:latin typeface="Helvetica" pitchFamily="2" charset="0"/>
              </a:rPr>
              <a:t>based on lab studies or empirical observations from similar water bodies in literature</a:t>
            </a:r>
          </a:p>
          <a:p>
            <a:r>
              <a:rPr lang="en-US" sz="2200" dirty="0">
                <a:effectLst/>
                <a:latin typeface="Helvetica" pitchFamily="2" charset="0"/>
              </a:rPr>
              <a:t>Heavy computational resources</a:t>
            </a:r>
          </a:p>
          <a:p>
            <a:pPr marL="0" indent="0">
              <a:buNone/>
            </a:pPr>
            <a:endParaRPr lang="en-US" sz="2200" dirty="0">
              <a:effectLst/>
              <a:latin typeface="Helvetica" pitchFamily="2" charset="0"/>
            </a:endParaRPr>
          </a:p>
          <a:p>
            <a:pPr marL="0" indent="0">
              <a:buNone/>
            </a:pPr>
            <a:r>
              <a:rPr lang="en-US" sz="2200" dirty="0">
                <a:latin typeface="Helvetica" pitchFamily="2" charset="0"/>
              </a:rPr>
              <a:t>Machine learning models are rapidly gaining marine scientists’ attention due to the promising results. It requires Extensive Availability of Data. </a:t>
            </a:r>
            <a:r>
              <a:rPr lang="en-US" sz="2200" b="1" dirty="0">
                <a:latin typeface="Helvetica" pitchFamily="2" charset="0"/>
              </a:rPr>
              <a:t>“Data-driven Models”</a:t>
            </a:r>
          </a:p>
        </p:txBody>
      </p:sp>
    </p:spTree>
    <p:extLst>
      <p:ext uri="{BB962C8B-B14F-4D97-AF65-F5344CB8AC3E}">
        <p14:creationId xmlns:p14="http://schemas.microsoft.com/office/powerpoint/2010/main" val="3599212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29F77F-E65D-EB48-9685-6D7D29011403}"/>
              </a:ext>
            </a:extLst>
          </p:cNvPr>
          <p:cNvSpPr txBox="1"/>
          <p:nvPr/>
        </p:nvSpPr>
        <p:spPr>
          <a:xfrm>
            <a:off x="297344" y="5720051"/>
            <a:ext cx="10478022" cy="646331"/>
          </a:xfrm>
          <a:prstGeom prst="rect">
            <a:avLst/>
          </a:prstGeom>
          <a:noFill/>
        </p:spPr>
        <p:txBody>
          <a:bodyPr wrap="square">
            <a:spAutoFit/>
          </a:bodyPr>
          <a:lstStyle/>
          <a:p>
            <a:pPr algn="l"/>
            <a:r>
              <a:rPr lang="en-US" b="1" i="0" dirty="0">
                <a:solidFill>
                  <a:srgbClr val="000000"/>
                </a:solidFill>
                <a:effectLst/>
                <a:latin typeface="Helvetica" pitchFamily="2" charset="0"/>
              </a:rPr>
              <a:t>Training Time:</a:t>
            </a:r>
          </a:p>
          <a:p>
            <a:pPr algn="l"/>
            <a:r>
              <a:rPr lang="en-US" b="1" i="0" dirty="0">
                <a:solidFill>
                  <a:srgbClr val="000000"/>
                </a:solidFill>
                <a:effectLst/>
                <a:latin typeface="Helvetica" pitchFamily="2" charset="0"/>
              </a:rPr>
              <a:t>05/20/2024 - 05/24/2024</a:t>
            </a:r>
          </a:p>
        </p:txBody>
      </p:sp>
      <p:pic>
        <p:nvPicPr>
          <p:cNvPr id="3" name="Picture 2">
            <a:extLst>
              <a:ext uri="{FF2B5EF4-FFF2-40B4-BE49-F238E27FC236}">
                <a16:creationId xmlns:a16="http://schemas.microsoft.com/office/drawing/2014/main" id="{852C4DCF-5CEF-4038-ED0E-5689B7C81F6B}"/>
              </a:ext>
            </a:extLst>
          </p:cNvPr>
          <p:cNvPicPr>
            <a:picLocks noChangeAspect="1"/>
          </p:cNvPicPr>
          <p:nvPr/>
        </p:nvPicPr>
        <p:blipFill>
          <a:blip r:embed="rId3"/>
          <a:stretch>
            <a:fillRect/>
          </a:stretch>
        </p:blipFill>
        <p:spPr>
          <a:xfrm>
            <a:off x="0" y="2165044"/>
            <a:ext cx="6924858" cy="2990279"/>
          </a:xfrm>
          <a:prstGeom prst="rect">
            <a:avLst/>
          </a:prstGeom>
        </p:spPr>
      </p:pic>
      <p:sp>
        <p:nvSpPr>
          <p:cNvPr id="4" name="Google Shape;89;p1">
            <a:extLst>
              <a:ext uri="{FF2B5EF4-FFF2-40B4-BE49-F238E27FC236}">
                <a16:creationId xmlns:a16="http://schemas.microsoft.com/office/drawing/2014/main" id="{050DF9A2-D97F-D070-FD6B-E3ED9F31F753}"/>
              </a:ext>
            </a:extLst>
          </p:cNvPr>
          <p:cNvSpPr txBox="1"/>
          <p:nvPr/>
        </p:nvSpPr>
        <p:spPr>
          <a:xfrm>
            <a:off x="199372" y="371875"/>
            <a:ext cx="10836490" cy="1107955"/>
          </a:xfrm>
          <a:prstGeom prst="rect">
            <a:avLst/>
          </a:prstGeom>
          <a:noFill/>
          <a:ln>
            <a:noFill/>
          </a:ln>
          <a:effectLst>
            <a:outerShdw blurRad="50800" dist="38100" dir="18900000" algn="bl" rotWithShape="0">
              <a:prstClr val="black">
                <a:alpha val="40000"/>
              </a:prst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chemeClr val="dk1"/>
                </a:solidFill>
                <a:latin typeface="Helvetica" pitchFamily="2" charset="0"/>
                <a:ea typeface="Calibri"/>
                <a:cs typeface="Calibri"/>
                <a:sym typeface="Calibri"/>
              </a:rPr>
              <a:t>Goals: </a:t>
            </a:r>
            <a:endParaRPr sz="2200" dirty="0">
              <a:latin typeface="Helvetica" pitchFamily="2" charset="0"/>
            </a:endParaRPr>
          </a:p>
          <a:p>
            <a:pPr marL="0" marR="0" lvl="0" indent="0" algn="l" rtl="0">
              <a:spcBef>
                <a:spcPts val="0"/>
              </a:spcBef>
              <a:spcAft>
                <a:spcPts val="0"/>
              </a:spcAft>
              <a:buNone/>
            </a:pPr>
            <a:r>
              <a:rPr lang="en-US" sz="2200" dirty="0">
                <a:solidFill>
                  <a:schemeClr val="dk1"/>
                </a:solidFill>
                <a:latin typeface="Helvetica" pitchFamily="2" charset="0"/>
                <a:ea typeface="Calibri"/>
                <a:cs typeface="Calibri"/>
                <a:sym typeface="Calibri"/>
              </a:rPr>
              <a:t>Advance the adoption of data science/machine learning cyber infrastructure by marine science researchers and enhance researchers' abilities in utilizing CI tools.</a:t>
            </a:r>
            <a:endParaRPr sz="2200" dirty="0">
              <a:latin typeface="Helvetica" pitchFamily="2" charset="0"/>
            </a:endParaRPr>
          </a:p>
        </p:txBody>
      </p:sp>
      <p:sp>
        <p:nvSpPr>
          <p:cNvPr id="6" name="Content Placeholder 2">
            <a:extLst>
              <a:ext uri="{FF2B5EF4-FFF2-40B4-BE49-F238E27FC236}">
                <a16:creationId xmlns:a16="http://schemas.microsoft.com/office/drawing/2014/main" id="{3BCAC58E-BA1B-EDDC-51B5-D0FD91CED3EB}"/>
              </a:ext>
            </a:extLst>
          </p:cNvPr>
          <p:cNvSpPr>
            <a:spLocks noGrp="1"/>
          </p:cNvSpPr>
          <p:nvPr>
            <p:ph idx="1"/>
          </p:nvPr>
        </p:nvSpPr>
        <p:spPr>
          <a:xfrm>
            <a:off x="6924858" y="2044226"/>
            <a:ext cx="5122480" cy="3675825"/>
          </a:xfrm>
        </p:spPr>
        <p:txBody>
          <a:bodyPr>
            <a:normAutofit fontScale="92500" lnSpcReduction="10000"/>
          </a:bodyPr>
          <a:lstStyle/>
          <a:p>
            <a:r>
              <a:rPr lang="en-US" sz="2200" dirty="0">
                <a:effectLst/>
                <a:latin typeface="Helvetica" pitchFamily="2" charset="0"/>
              </a:rPr>
              <a:t>NOAA Tides and Currents</a:t>
            </a:r>
          </a:p>
          <a:p>
            <a:r>
              <a:rPr lang="en-US" sz="2200" dirty="0">
                <a:effectLst/>
                <a:latin typeface="Helvetica" pitchFamily="2" charset="0"/>
              </a:rPr>
              <a:t>National Data Buoy Center (NDBC)</a:t>
            </a:r>
          </a:p>
          <a:p>
            <a:r>
              <a:rPr lang="en-US" sz="2200" dirty="0">
                <a:effectLst/>
                <a:latin typeface="Helvetica" pitchFamily="2" charset="0"/>
              </a:rPr>
              <a:t>USGS streamflow</a:t>
            </a:r>
          </a:p>
          <a:p>
            <a:r>
              <a:rPr lang="en-US" sz="2200" dirty="0">
                <a:effectLst/>
                <a:latin typeface="Helvetica" pitchFamily="2" charset="0"/>
              </a:rPr>
              <a:t>HYCOM ocean model results</a:t>
            </a:r>
          </a:p>
          <a:p>
            <a:r>
              <a:rPr lang="en-US" sz="2200" dirty="0">
                <a:effectLst/>
                <a:latin typeface="Helvetica" pitchFamily="2" charset="0"/>
              </a:rPr>
              <a:t>North American Regional Reanalysis</a:t>
            </a:r>
          </a:p>
          <a:p>
            <a:r>
              <a:rPr lang="en-US" sz="2200" dirty="0">
                <a:effectLst/>
                <a:latin typeface="Helvetica" pitchFamily="2" charset="0"/>
              </a:rPr>
              <a:t>Satellite Data</a:t>
            </a:r>
          </a:p>
          <a:p>
            <a:r>
              <a:rPr lang="en-US" sz="2200" dirty="0">
                <a:effectLst/>
                <a:latin typeface="Helvetica" pitchFamily="2" charset="0"/>
              </a:rPr>
              <a:t>HPC (Expanse)</a:t>
            </a:r>
          </a:p>
          <a:p>
            <a:r>
              <a:rPr lang="en-US" sz="2200" dirty="0">
                <a:effectLst/>
                <a:latin typeface="Helvetica" pitchFamily="2" charset="0"/>
              </a:rPr>
              <a:t>GitHub for Collaboration and Version Control</a:t>
            </a:r>
          </a:p>
          <a:p>
            <a:r>
              <a:rPr lang="en-US" sz="2200" dirty="0">
                <a:effectLst/>
                <a:latin typeface="Helvetica" pitchFamily="2" charset="0"/>
              </a:rPr>
              <a:t>etc.</a:t>
            </a:r>
          </a:p>
        </p:txBody>
      </p:sp>
    </p:spTree>
    <p:extLst>
      <p:ext uri="{BB962C8B-B14F-4D97-AF65-F5344CB8AC3E}">
        <p14:creationId xmlns:p14="http://schemas.microsoft.com/office/powerpoint/2010/main" val="951574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29F77F-E65D-EB48-9685-6D7D29011403}"/>
              </a:ext>
            </a:extLst>
          </p:cNvPr>
          <p:cNvSpPr txBox="1"/>
          <p:nvPr/>
        </p:nvSpPr>
        <p:spPr>
          <a:xfrm>
            <a:off x="297344" y="5720051"/>
            <a:ext cx="10478022" cy="646331"/>
          </a:xfrm>
          <a:prstGeom prst="rect">
            <a:avLst/>
          </a:prstGeom>
          <a:noFill/>
        </p:spPr>
        <p:txBody>
          <a:bodyPr wrap="square">
            <a:spAutoFit/>
          </a:bodyPr>
          <a:lstStyle/>
          <a:p>
            <a:pPr algn="l"/>
            <a:r>
              <a:rPr lang="en-US" b="1" i="0" dirty="0">
                <a:solidFill>
                  <a:srgbClr val="000000"/>
                </a:solidFill>
                <a:effectLst/>
                <a:latin typeface="Helvetica" pitchFamily="2" charset="0"/>
              </a:rPr>
              <a:t>Training Time:</a:t>
            </a:r>
          </a:p>
          <a:p>
            <a:pPr algn="l"/>
            <a:r>
              <a:rPr lang="en-US" b="1" i="0" dirty="0">
                <a:solidFill>
                  <a:srgbClr val="000000"/>
                </a:solidFill>
                <a:effectLst/>
                <a:latin typeface="Helvetica" pitchFamily="2" charset="0"/>
              </a:rPr>
              <a:t>06/05/2023 - 06/09/2023</a:t>
            </a:r>
          </a:p>
        </p:txBody>
      </p:sp>
      <p:sp>
        <p:nvSpPr>
          <p:cNvPr id="4" name="Google Shape;89;p1">
            <a:extLst>
              <a:ext uri="{FF2B5EF4-FFF2-40B4-BE49-F238E27FC236}">
                <a16:creationId xmlns:a16="http://schemas.microsoft.com/office/drawing/2014/main" id="{050DF9A2-D97F-D070-FD6B-E3ED9F31F753}"/>
              </a:ext>
            </a:extLst>
          </p:cNvPr>
          <p:cNvSpPr txBox="1"/>
          <p:nvPr/>
        </p:nvSpPr>
        <p:spPr>
          <a:xfrm>
            <a:off x="199372" y="371875"/>
            <a:ext cx="10836490" cy="1107955"/>
          </a:xfrm>
          <a:prstGeom prst="rect">
            <a:avLst/>
          </a:prstGeom>
          <a:noFill/>
          <a:ln>
            <a:noFill/>
          </a:ln>
          <a:effectLst>
            <a:outerShdw blurRad="50800" dist="38100" dir="18900000" algn="bl" rotWithShape="0">
              <a:prstClr val="black">
                <a:alpha val="40000"/>
              </a:prst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chemeClr val="dk1"/>
                </a:solidFill>
                <a:latin typeface="Helvetica" pitchFamily="2" charset="0"/>
                <a:ea typeface="Calibri"/>
                <a:cs typeface="Calibri"/>
                <a:sym typeface="Calibri"/>
              </a:rPr>
              <a:t>Goals: </a:t>
            </a:r>
            <a:endParaRPr sz="2200" dirty="0">
              <a:latin typeface="Helvetica" pitchFamily="2" charset="0"/>
            </a:endParaRPr>
          </a:p>
          <a:p>
            <a:pPr marL="0" marR="0" lvl="0" indent="0" algn="l" rtl="0">
              <a:spcBef>
                <a:spcPts val="0"/>
              </a:spcBef>
              <a:spcAft>
                <a:spcPts val="0"/>
              </a:spcAft>
              <a:buNone/>
            </a:pPr>
            <a:r>
              <a:rPr lang="en-US" sz="2200" dirty="0">
                <a:solidFill>
                  <a:schemeClr val="dk1"/>
                </a:solidFill>
                <a:latin typeface="Helvetica" pitchFamily="2" charset="0"/>
                <a:ea typeface="Calibri"/>
                <a:cs typeface="Calibri"/>
                <a:sym typeface="Calibri"/>
              </a:rPr>
              <a:t>Advance the adoption of data science/machine learning cyber infrastructure by marine science researchers and enhance researchers' abilities in utilizing CI tools.</a:t>
            </a:r>
            <a:endParaRPr sz="2200" dirty="0">
              <a:latin typeface="Helvetica" pitchFamily="2" charset="0"/>
            </a:endParaRPr>
          </a:p>
        </p:txBody>
      </p:sp>
      <p:sp>
        <p:nvSpPr>
          <p:cNvPr id="2" name="TextBox 1">
            <a:extLst>
              <a:ext uri="{FF2B5EF4-FFF2-40B4-BE49-F238E27FC236}">
                <a16:creationId xmlns:a16="http://schemas.microsoft.com/office/drawing/2014/main" id="{8F91D11C-C89C-4A44-7A8C-0360E9265B5E}"/>
              </a:ext>
            </a:extLst>
          </p:cNvPr>
          <p:cNvSpPr txBox="1"/>
          <p:nvPr/>
        </p:nvSpPr>
        <p:spPr>
          <a:xfrm>
            <a:off x="1678663" y="2830499"/>
            <a:ext cx="9096703" cy="1538883"/>
          </a:xfrm>
          <a:prstGeom prst="rect">
            <a:avLst/>
          </a:prstGeom>
          <a:noFill/>
        </p:spPr>
        <p:txBody>
          <a:bodyPr wrap="square" rtlCol="0">
            <a:spAutoFit/>
          </a:bodyPr>
          <a:lstStyle/>
          <a:p>
            <a:r>
              <a:rPr lang="en-US" sz="2200" dirty="0">
                <a:latin typeface="Helvetica" pitchFamily="2" charset="0"/>
              </a:rPr>
              <a:t>Hands-on experience with machine-learning application in marine science projects.</a:t>
            </a:r>
          </a:p>
          <a:p>
            <a:endParaRPr lang="en-US" sz="2200" dirty="0">
              <a:latin typeface="Helvetica" pitchFamily="2" charset="0"/>
            </a:endParaRPr>
          </a:p>
          <a:p>
            <a:r>
              <a:rPr lang="en-US" sz="2800" b="1" dirty="0">
                <a:latin typeface="Helvetica" pitchFamily="2" charset="0"/>
              </a:rPr>
              <a:t>Hackathon project!!</a:t>
            </a:r>
          </a:p>
        </p:txBody>
      </p:sp>
    </p:spTree>
    <p:extLst>
      <p:ext uri="{BB962C8B-B14F-4D97-AF65-F5344CB8AC3E}">
        <p14:creationId xmlns:p14="http://schemas.microsoft.com/office/powerpoint/2010/main" val="1668753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299B5A-9732-EC4E-9579-52905F61DB2A}"/>
              </a:ext>
            </a:extLst>
          </p:cNvPr>
          <p:cNvSpPr>
            <a:spLocks noGrp="1"/>
          </p:cNvSpPr>
          <p:nvPr>
            <p:ph idx="1"/>
          </p:nvPr>
        </p:nvSpPr>
        <p:spPr/>
        <p:txBody>
          <a:bodyPr>
            <a:normAutofit/>
          </a:bodyPr>
          <a:lstStyle/>
          <a:p>
            <a:pPr marL="0" indent="0">
              <a:buNone/>
            </a:pPr>
            <a:r>
              <a:rPr lang="en-US" sz="2600" dirty="0">
                <a:effectLst/>
                <a:latin typeface="Helvetica" pitchFamily="2" charset="0"/>
              </a:rPr>
              <a:t>As an open-source programming language, Python is becoming more and more popular in marine science research with its ocean of libraries of great functionalities. Compared to other programming languages (e.g., MATLAB), Python is memory-managing efficient, and user-friendly to different operating systems (</a:t>
            </a:r>
            <a:r>
              <a:rPr lang="en-US" sz="2600" dirty="0" err="1">
                <a:effectLst/>
                <a:latin typeface="Helvetica" pitchFamily="2" charset="0"/>
              </a:rPr>
              <a:t>e.gs</a:t>
            </a:r>
            <a:r>
              <a:rPr lang="en-US" sz="2600" dirty="0">
                <a:effectLst/>
                <a:latin typeface="Helvetica" pitchFamily="2" charset="0"/>
              </a:rPr>
              <a:t>. Linux, Windows, Mac).</a:t>
            </a:r>
          </a:p>
        </p:txBody>
      </p:sp>
      <p:sp>
        <p:nvSpPr>
          <p:cNvPr id="6" name="Google Shape;89;p1">
            <a:extLst>
              <a:ext uri="{FF2B5EF4-FFF2-40B4-BE49-F238E27FC236}">
                <a16:creationId xmlns:a16="http://schemas.microsoft.com/office/drawing/2014/main" id="{208654EA-4DDC-6B52-A88C-C2929D63ACDC}"/>
              </a:ext>
            </a:extLst>
          </p:cNvPr>
          <p:cNvSpPr txBox="1"/>
          <p:nvPr/>
        </p:nvSpPr>
        <p:spPr>
          <a:xfrm>
            <a:off x="199372" y="371875"/>
            <a:ext cx="10836490" cy="430847"/>
          </a:xfrm>
          <a:prstGeom prst="rect">
            <a:avLst/>
          </a:prstGeom>
          <a:noFill/>
          <a:ln>
            <a:noFill/>
          </a:ln>
          <a:effectLst>
            <a:outerShdw blurRad="50800" dist="38100" dir="18900000" algn="bl" rotWithShape="0">
              <a:prstClr val="black">
                <a:alpha val="40000"/>
              </a:prst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chemeClr val="dk1"/>
                </a:solidFill>
                <a:latin typeface="Helvetica" pitchFamily="2" charset="0"/>
                <a:ea typeface="Calibri"/>
                <a:cs typeface="Calibri"/>
                <a:sym typeface="Calibri"/>
              </a:rPr>
              <a:t>Why Python? </a:t>
            </a:r>
            <a:endParaRPr sz="2200" dirty="0">
              <a:latin typeface="Helvetica" pitchFamily="2" charset="0"/>
            </a:endParaRPr>
          </a:p>
        </p:txBody>
      </p:sp>
    </p:spTree>
    <p:extLst>
      <p:ext uri="{BB962C8B-B14F-4D97-AF65-F5344CB8AC3E}">
        <p14:creationId xmlns:p14="http://schemas.microsoft.com/office/powerpoint/2010/main" val="2274823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450942-8263-EE4E-8EB4-75684EC4D957}"/>
              </a:ext>
            </a:extLst>
          </p:cNvPr>
          <p:cNvSpPr>
            <a:spLocks noGrp="1"/>
          </p:cNvSpPr>
          <p:nvPr>
            <p:ph idx="1"/>
          </p:nvPr>
        </p:nvSpPr>
        <p:spPr>
          <a:xfrm>
            <a:off x="981075" y="1426560"/>
            <a:ext cx="10515600" cy="4351338"/>
          </a:xfrm>
        </p:spPr>
        <p:txBody>
          <a:bodyPr>
            <a:normAutofit/>
          </a:bodyPr>
          <a:lstStyle/>
          <a:p>
            <a:pPr marL="0" indent="0">
              <a:buNone/>
            </a:pPr>
            <a:r>
              <a:rPr lang="en-US" sz="2600" dirty="0">
                <a:effectLst/>
                <a:latin typeface="Helvetica" pitchFamily="2" charset="0"/>
              </a:rPr>
              <a:t>● We will provide many standard Python scripts regarding the following aspects:</a:t>
            </a:r>
          </a:p>
          <a:p>
            <a:pPr marL="0" indent="0">
              <a:buNone/>
            </a:pPr>
            <a:r>
              <a:rPr lang="en-US" sz="2600" dirty="0">
                <a:effectLst/>
                <a:latin typeface="Helvetica" pitchFamily="2" charset="0"/>
              </a:rPr>
              <a:t>● systematically downloading ocean datasets from different sources</a:t>
            </a:r>
          </a:p>
          <a:p>
            <a:pPr marL="0" indent="0">
              <a:buNone/>
            </a:pPr>
            <a:r>
              <a:rPr lang="en-US" sz="2600" dirty="0">
                <a:effectLst/>
                <a:latin typeface="Helvetica" pitchFamily="2" charset="0"/>
              </a:rPr>
              <a:t>● reading and processing the raw ocean data</a:t>
            </a:r>
          </a:p>
          <a:p>
            <a:pPr marL="0" indent="0">
              <a:buNone/>
            </a:pPr>
            <a:r>
              <a:rPr lang="en-US" sz="2600" dirty="0">
                <a:effectLst/>
                <a:latin typeface="Helvetica" pitchFamily="2" charset="0"/>
              </a:rPr>
              <a:t>● organizing the ocean data and transforming the data into a database</a:t>
            </a:r>
          </a:p>
          <a:p>
            <a:pPr marL="0" indent="0">
              <a:buNone/>
            </a:pPr>
            <a:r>
              <a:rPr lang="en-US" sz="2600" dirty="0">
                <a:effectLst/>
                <a:latin typeface="Helvetica" pitchFamily="2" charset="0"/>
              </a:rPr>
              <a:t>● implementing predictive machine learning, deep learning and spatial-temporal models</a:t>
            </a:r>
          </a:p>
          <a:p>
            <a:pPr marL="0" indent="0">
              <a:buNone/>
            </a:pPr>
            <a:r>
              <a:rPr lang="en-US" sz="2600" dirty="0">
                <a:solidFill>
                  <a:schemeClr val="bg1">
                    <a:lumMod val="50000"/>
                  </a:schemeClr>
                </a:solidFill>
                <a:effectLst/>
                <a:latin typeface="Helvetica" pitchFamily="2" charset="0"/>
              </a:rPr>
              <a:t>● executing the scripts on CI</a:t>
            </a:r>
          </a:p>
          <a:p>
            <a:endParaRPr lang="en-US" sz="2600" dirty="0"/>
          </a:p>
        </p:txBody>
      </p:sp>
      <p:sp>
        <p:nvSpPr>
          <p:cNvPr id="2" name="Google Shape;89;p1">
            <a:extLst>
              <a:ext uri="{FF2B5EF4-FFF2-40B4-BE49-F238E27FC236}">
                <a16:creationId xmlns:a16="http://schemas.microsoft.com/office/drawing/2014/main" id="{554C5876-E0F1-2485-9453-B7DFA9C221E9}"/>
              </a:ext>
            </a:extLst>
          </p:cNvPr>
          <p:cNvSpPr txBox="1"/>
          <p:nvPr/>
        </p:nvSpPr>
        <p:spPr>
          <a:xfrm>
            <a:off x="199372" y="371875"/>
            <a:ext cx="10836490" cy="430847"/>
          </a:xfrm>
          <a:prstGeom prst="rect">
            <a:avLst/>
          </a:prstGeom>
          <a:noFill/>
          <a:ln>
            <a:noFill/>
          </a:ln>
          <a:effectLst>
            <a:outerShdw blurRad="50800" dist="38100" dir="18900000" algn="bl" rotWithShape="0">
              <a:prstClr val="black">
                <a:alpha val="40000"/>
              </a:prst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chemeClr val="dk1"/>
                </a:solidFill>
                <a:latin typeface="Helvetica" pitchFamily="2" charset="0"/>
                <a:ea typeface="Calibri"/>
                <a:cs typeface="Calibri"/>
                <a:sym typeface="Calibri"/>
              </a:rPr>
              <a:t>What will we do with Python? </a:t>
            </a:r>
            <a:endParaRPr sz="2200" dirty="0">
              <a:latin typeface="Helvetica" pitchFamily="2" charset="0"/>
            </a:endParaRPr>
          </a:p>
        </p:txBody>
      </p:sp>
    </p:spTree>
    <p:extLst>
      <p:ext uri="{BB962C8B-B14F-4D97-AF65-F5344CB8AC3E}">
        <p14:creationId xmlns:p14="http://schemas.microsoft.com/office/powerpoint/2010/main" val="2270996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F2BF5-8DA4-194E-9E12-89C6B4376BE7}"/>
              </a:ext>
            </a:extLst>
          </p:cNvPr>
          <p:cNvSpPr>
            <a:spLocks noGrp="1"/>
          </p:cNvSpPr>
          <p:nvPr>
            <p:ph idx="1"/>
          </p:nvPr>
        </p:nvSpPr>
        <p:spPr/>
        <p:txBody>
          <a:bodyPr>
            <a:normAutofit/>
          </a:bodyPr>
          <a:lstStyle/>
          <a:p>
            <a:r>
              <a:rPr lang="en-US" dirty="0">
                <a:latin typeface="Helvetica" pitchFamily="2" charset="0"/>
              </a:rPr>
              <a:t>NumPy</a:t>
            </a:r>
          </a:p>
          <a:p>
            <a:r>
              <a:rPr lang="en-US" dirty="0">
                <a:latin typeface="Helvetica" pitchFamily="2" charset="0"/>
              </a:rPr>
              <a:t>Pandas</a:t>
            </a:r>
          </a:p>
          <a:p>
            <a:r>
              <a:rPr lang="en-US" dirty="0">
                <a:latin typeface="Helvetica" pitchFamily="2" charset="0"/>
              </a:rPr>
              <a:t>Matplotlib</a:t>
            </a:r>
          </a:p>
          <a:p>
            <a:r>
              <a:rPr lang="en-US" dirty="0" err="1">
                <a:latin typeface="Helvetica" pitchFamily="2" charset="0"/>
              </a:rPr>
              <a:t>Pylib</a:t>
            </a:r>
            <a:endParaRPr lang="en-US" dirty="0">
              <a:latin typeface="Helvetica" pitchFamily="2" charset="0"/>
            </a:endParaRPr>
          </a:p>
          <a:p>
            <a:r>
              <a:rPr lang="en-US" dirty="0">
                <a:latin typeface="Helvetica" pitchFamily="2" charset="0"/>
              </a:rPr>
              <a:t>U-tide</a:t>
            </a:r>
          </a:p>
          <a:p>
            <a:r>
              <a:rPr lang="en-US" dirty="0">
                <a:latin typeface="Helvetica" pitchFamily="2" charset="0"/>
              </a:rPr>
              <a:t>netCDF4</a:t>
            </a:r>
          </a:p>
          <a:p>
            <a:r>
              <a:rPr lang="en-US" dirty="0" err="1">
                <a:latin typeface="Helvetica" pitchFamily="2" charset="0"/>
              </a:rPr>
              <a:t>Pydap</a:t>
            </a:r>
            <a:endParaRPr lang="en-US" dirty="0">
              <a:latin typeface="Helvetica" pitchFamily="2" charset="0"/>
            </a:endParaRPr>
          </a:p>
          <a:p>
            <a:r>
              <a:rPr lang="en-US" dirty="0" err="1">
                <a:latin typeface="Helvetica" pitchFamily="2" charset="0"/>
              </a:rPr>
              <a:t>etc</a:t>
            </a:r>
            <a:endParaRPr lang="en-US" dirty="0">
              <a:latin typeface="Helvetica" pitchFamily="2" charset="0"/>
            </a:endParaRPr>
          </a:p>
        </p:txBody>
      </p:sp>
      <p:sp>
        <p:nvSpPr>
          <p:cNvPr id="4" name="Google Shape;89;p1">
            <a:extLst>
              <a:ext uri="{FF2B5EF4-FFF2-40B4-BE49-F238E27FC236}">
                <a16:creationId xmlns:a16="http://schemas.microsoft.com/office/drawing/2014/main" id="{012DE1CA-BF08-189B-F172-91827B3C2181}"/>
              </a:ext>
            </a:extLst>
          </p:cNvPr>
          <p:cNvSpPr txBox="1"/>
          <p:nvPr/>
        </p:nvSpPr>
        <p:spPr>
          <a:xfrm>
            <a:off x="199372" y="371875"/>
            <a:ext cx="10836490" cy="430847"/>
          </a:xfrm>
          <a:prstGeom prst="rect">
            <a:avLst/>
          </a:prstGeom>
          <a:noFill/>
          <a:ln>
            <a:noFill/>
          </a:ln>
          <a:effectLst>
            <a:outerShdw blurRad="50800" dist="38100" dir="18900000" algn="bl" rotWithShape="0">
              <a:prstClr val="black">
                <a:alpha val="40000"/>
              </a:prst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chemeClr val="dk1"/>
                </a:solidFill>
                <a:latin typeface="Helvetica" pitchFamily="2" charset="0"/>
                <a:ea typeface="Calibri"/>
                <a:cs typeface="Calibri"/>
                <a:sym typeface="Calibri"/>
              </a:rPr>
              <a:t>Python packages you will learn to manage: </a:t>
            </a:r>
            <a:endParaRPr sz="2200" dirty="0">
              <a:latin typeface="Helvetica" pitchFamily="2" charset="0"/>
            </a:endParaRPr>
          </a:p>
        </p:txBody>
      </p:sp>
    </p:spTree>
    <p:extLst>
      <p:ext uri="{BB962C8B-B14F-4D97-AF65-F5344CB8AC3E}">
        <p14:creationId xmlns:p14="http://schemas.microsoft.com/office/powerpoint/2010/main" val="3238170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BA29B9-B8FD-2E4C-A4E5-4AD9A9FC0C37}"/>
              </a:ext>
            </a:extLst>
          </p:cNvPr>
          <p:cNvSpPr txBox="1"/>
          <p:nvPr/>
        </p:nvSpPr>
        <p:spPr>
          <a:xfrm>
            <a:off x="504497" y="1683696"/>
            <a:ext cx="11112349" cy="3693319"/>
          </a:xfrm>
          <a:prstGeom prst="rect">
            <a:avLst/>
          </a:prstGeom>
          <a:noFill/>
        </p:spPr>
        <p:txBody>
          <a:bodyPr wrap="square">
            <a:spAutoFit/>
          </a:bodyPr>
          <a:lstStyle/>
          <a:p>
            <a:pPr algn="l"/>
            <a:r>
              <a:rPr lang="en-US" sz="2600" b="1" i="0" dirty="0">
                <a:solidFill>
                  <a:srgbClr val="000000"/>
                </a:solidFill>
                <a:effectLst/>
                <a:latin typeface="Helvetica" pitchFamily="2" charset="0"/>
              </a:rPr>
              <a:t>Successfully completing the program, workshop participants will:</a:t>
            </a:r>
          </a:p>
          <a:p>
            <a:pPr marL="457200" indent="-457200" algn="l">
              <a:buFont typeface="Arial" panose="020B0604020202020204" pitchFamily="34" charset="0"/>
              <a:buChar char="•"/>
            </a:pPr>
            <a:r>
              <a:rPr lang="en-US" sz="2600" b="0" i="0" dirty="0">
                <a:solidFill>
                  <a:srgbClr val="000000"/>
                </a:solidFill>
                <a:effectLst/>
                <a:latin typeface="Helvetica" pitchFamily="2" charset="0"/>
              </a:rPr>
              <a:t>be able to use Python and related packages/toolkits for marine science data acquisition, analysis, and visualization</a:t>
            </a:r>
          </a:p>
          <a:p>
            <a:pPr marL="457200" indent="-457200" algn="l">
              <a:buFont typeface="Arial" panose="020B0604020202020204" pitchFamily="34" charset="0"/>
              <a:buChar char="•"/>
            </a:pPr>
            <a:r>
              <a:rPr lang="en-US" sz="2600" b="0" i="0" dirty="0">
                <a:solidFill>
                  <a:srgbClr val="000000"/>
                </a:solidFill>
                <a:effectLst/>
                <a:latin typeface="Helvetica" pitchFamily="2" charset="0"/>
              </a:rPr>
              <a:t>gain basic Python programming skills (variables, loops, conditionals, etc.)</a:t>
            </a:r>
          </a:p>
          <a:p>
            <a:pPr marL="457200" indent="-457200" algn="l">
              <a:buFont typeface="Arial" panose="020B0604020202020204" pitchFamily="34" charset="0"/>
              <a:buChar char="•"/>
            </a:pPr>
            <a:r>
              <a:rPr lang="en-US" sz="2600" b="0" i="0" dirty="0">
                <a:solidFill>
                  <a:srgbClr val="000000"/>
                </a:solidFill>
                <a:effectLst/>
                <a:latin typeface="Helvetica" pitchFamily="2" charset="0"/>
              </a:rPr>
              <a:t>have hands-on experience with machine learning and data science topics, and know how to apply them in solving marine science-related research questions</a:t>
            </a:r>
          </a:p>
          <a:p>
            <a:pPr marL="457200" indent="-457200" algn="l">
              <a:buFont typeface="Arial" panose="020B0604020202020204" pitchFamily="34" charset="0"/>
              <a:buChar char="•"/>
            </a:pPr>
            <a:r>
              <a:rPr lang="en-US" sz="2600" b="0" i="0" dirty="0">
                <a:effectLst/>
                <a:latin typeface="Helvetica" pitchFamily="2" charset="0"/>
              </a:rPr>
              <a:t>get familiar with version control with GitHub</a:t>
            </a:r>
          </a:p>
        </p:txBody>
      </p:sp>
      <p:sp>
        <p:nvSpPr>
          <p:cNvPr id="2" name="Google Shape;89;p1">
            <a:extLst>
              <a:ext uri="{FF2B5EF4-FFF2-40B4-BE49-F238E27FC236}">
                <a16:creationId xmlns:a16="http://schemas.microsoft.com/office/drawing/2014/main" id="{FB64495D-DD0B-06AC-05E5-B858A924A359}"/>
              </a:ext>
            </a:extLst>
          </p:cNvPr>
          <p:cNvSpPr txBox="1"/>
          <p:nvPr/>
        </p:nvSpPr>
        <p:spPr>
          <a:xfrm>
            <a:off x="199372" y="371875"/>
            <a:ext cx="10836490" cy="430847"/>
          </a:xfrm>
          <a:prstGeom prst="rect">
            <a:avLst/>
          </a:prstGeom>
          <a:noFill/>
          <a:ln>
            <a:noFill/>
          </a:ln>
          <a:effectLst>
            <a:outerShdw blurRad="50800" dist="38100" dir="18900000" algn="bl" rotWithShape="0">
              <a:prstClr val="black">
                <a:alpha val="40000"/>
              </a:prst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chemeClr val="dk1"/>
                </a:solidFill>
                <a:latin typeface="Helvetica" pitchFamily="2" charset="0"/>
                <a:ea typeface="Calibri"/>
                <a:cs typeface="Calibri"/>
                <a:sym typeface="Calibri"/>
              </a:rPr>
              <a:t>What you will learn:</a:t>
            </a:r>
          </a:p>
        </p:txBody>
      </p:sp>
    </p:spTree>
    <p:extLst>
      <p:ext uri="{BB962C8B-B14F-4D97-AF65-F5344CB8AC3E}">
        <p14:creationId xmlns:p14="http://schemas.microsoft.com/office/powerpoint/2010/main" val="4016728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5E1C7-B694-734D-B6FC-9A182011E517}"/>
              </a:ext>
            </a:extLst>
          </p:cNvPr>
          <p:cNvSpPr>
            <a:spLocks noGrp="1"/>
          </p:cNvSpPr>
          <p:nvPr>
            <p:ph type="title"/>
          </p:nvPr>
        </p:nvSpPr>
        <p:spPr>
          <a:xfrm>
            <a:off x="621930" y="275574"/>
            <a:ext cx="11202640" cy="1789710"/>
          </a:xfrm>
        </p:spPr>
        <p:txBody>
          <a:bodyPr>
            <a:normAutofit/>
          </a:bodyPr>
          <a:lstStyle/>
          <a:p>
            <a:r>
              <a:rPr lang="en-US" sz="2600" b="1" dirty="0">
                <a:latin typeface="Helvetica" pitchFamily="2" charset="0"/>
              </a:rPr>
              <a:t>2023 </a:t>
            </a:r>
            <a:r>
              <a:rPr lang="en-US" sz="2600" b="1" dirty="0" err="1">
                <a:latin typeface="Helvetica" pitchFamily="2" charset="0"/>
              </a:rPr>
              <a:t>Cybertraining</a:t>
            </a:r>
            <a:r>
              <a:rPr lang="en-US" sz="2600" b="1" dirty="0">
                <a:latin typeface="Helvetica" pitchFamily="2" charset="0"/>
              </a:rPr>
              <a:t> Participants</a:t>
            </a:r>
            <a:br>
              <a:rPr lang="en-US" sz="2600" b="1" dirty="0">
                <a:latin typeface="Helvetica" pitchFamily="2" charset="0"/>
              </a:rPr>
            </a:br>
            <a:br>
              <a:rPr lang="en-US" sz="2600" b="1" dirty="0">
                <a:latin typeface="Helvetica" pitchFamily="2" charset="0"/>
              </a:rPr>
            </a:br>
            <a:r>
              <a:rPr lang="en-US" sz="2600" b="1" dirty="0">
                <a:latin typeface="Helvetica" pitchFamily="2" charset="0"/>
              </a:rPr>
              <a:t>21</a:t>
            </a:r>
            <a:r>
              <a:rPr lang="en-US" sz="2600" dirty="0">
                <a:latin typeface="Helvetica" pitchFamily="2" charset="0"/>
              </a:rPr>
              <a:t> selected participants from </a:t>
            </a:r>
            <a:r>
              <a:rPr lang="en-US" sz="2600" b="1" dirty="0">
                <a:latin typeface="Helvetica" pitchFamily="2" charset="0"/>
              </a:rPr>
              <a:t>12</a:t>
            </a:r>
            <a:r>
              <a:rPr lang="en-US" sz="2600" dirty="0">
                <a:latin typeface="Helvetica" pitchFamily="2" charset="0"/>
              </a:rPr>
              <a:t> </a:t>
            </a:r>
            <a:r>
              <a:rPr lang="en-US" altLang="zh-CN" sz="2600" dirty="0">
                <a:latin typeface="Helvetica" pitchFamily="2" charset="0"/>
              </a:rPr>
              <a:t>Institutions</a:t>
            </a:r>
            <a:br>
              <a:rPr lang="en-US" altLang="zh-CN" sz="2600" dirty="0">
                <a:latin typeface="Helvetica" pitchFamily="2" charset="0"/>
              </a:rPr>
            </a:br>
            <a:r>
              <a:rPr lang="en-US" altLang="zh-CN" sz="2600" dirty="0">
                <a:latin typeface="Helvetica" pitchFamily="2" charset="0"/>
              </a:rPr>
              <a:t>Graduate/undergraduate students</a:t>
            </a:r>
            <a:endParaRPr lang="en-US" sz="2600" dirty="0">
              <a:latin typeface="Helvetica" pitchFamily="2" charset="0"/>
            </a:endParaRPr>
          </a:p>
        </p:txBody>
      </p:sp>
      <p:sp>
        <p:nvSpPr>
          <p:cNvPr id="6" name="TextBox 5">
            <a:extLst>
              <a:ext uri="{FF2B5EF4-FFF2-40B4-BE49-F238E27FC236}">
                <a16:creationId xmlns:a16="http://schemas.microsoft.com/office/drawing/2014/main" id="{7362A776-D428-6147-8179-4634DCBD1A9B}"/>
              </a:ext>
            </a:extLst>
          </p:cNvPr>
          <p:cNvSpPr txBox="1"/>
          <p:nvPr/>
        </p:nvSpPr>
        <p:spPr>
          <a:xfrm>
            <a:off x="8394330" y="2230563"/>
            <a:ext cx="3872486" cy="3970318"/>
          </a:xfrm>
          <a:prstGeom prst="rect">
            <a:avLst/>
          </a:prstGeom>
          <a:noFill/>
        </p:spPr>
        <p:txBody>
          <a:bodyPr wrap="square" rtlCol="0">
            <a:spAutoFit/>
          </a:bodyPr>
          <a:lstStyle/>
          <a:p>
            <a:pPr marL="285750" indent="-285750">
              <a:buFont typeface="Arial" panose="020B0604020202020204" pitchFamily="34" charset="0"/>
              <a:buChar char="•"/>
            </a:pPr>
            <a:r>
              <a:rPr lang="en-US" dirty="0"/>
              <a:t>UNCW</a:t>
            </a:r>
          </a:p>
          <a:p>
            <a:pPr marL="285750" indent="-285750">
              <a:buFont typeface="Arial" panose="020B0604020202020204" pitchFamily="34" charset="0"/>
              <a:buChar char="•"/>
            </a:pPr>
            <a:r>
              <a:rPr lang="en-US" dirty="0"/>
              <a:t>University of Maryland</a:t>
            </a:r>
          </a:p>
          <a:p>
            <a:pPr marL="285750" indent="-285750">
              <a:buFont typeface="Arial" panose="020B0604020202020204" pitchFamily="34" charset="0"/>
              <a:buChar char="•"/>
            </a:pPr>
            <a:r>
              <a:rPr lang="en-US" dirty="0"/>
              <a:t>University of South Alabama</a:t>
            </a:r>
          </a:p>
          <a:p>
            <a:pPr marL="285750" indent="-285750">
              <a:buFont typeface="Arial" panose="020B0604020202020204" pitchFamily="34" charset="0"/>
              <a:buChar char="•"/>
            </a:pPr>
            <a:r>
              <a:rPr lang="en-US" dirty="0"/>
              <a:t>Coastal Carolina University</a:t>
            </a:r>
          </a:p>
          <a:p>
            <a:pPr marL="285750" indent="-285750">
              <a:buFont typeface="Arial" panose="020B0604020202020204" pitchFamily="34" charset="0"/>
              <a:buChar char="•"/>
            </a:pPr>
            <a:r>
              <a:rPr lang="en-US" dirty="0"/>
              <a:t>University of Rhode Island</a:t>
            </a:r>
          </a:p>
          <a:p>
            <a:pPr marL="285750" indent="-285750">
              <a:buFont typeface="Arial" panose="020B0604020202020204" pitchFamily="34" charset="0"/>
              <a:buChar char="•"/>
            </a:pPr>
            <a:r>
              <a:rPr lang="en-US" dirty="0"/>
              <a:t>University of Maryland Eastern Shore</a:t>
            </a:r>
          </a:p>
          <a:p>
            <a:pPr marL="285750" indent="-285750">
              <a:buFont typeface="Arial" panose="020B0604020202020204" pitchFamily="34" charset="0"/>
              <a:buChar char="•"/>
            </a:pPr>
            <a:r>
              <a:rPr lang="en-US" dirty="0"/>
              <a:t>University of California, Riverside</a:t>
            </a:r>
          </a:p>
          <a:p>
            <a:pPr marL="285750" indent="-285750">
              <a:buFont typeface="Arial" panose="020B0604020202020204" pitchFamily="34" charset="0"/>
              <a:buChar char="•"/>
            </a:pPr>
            <a:r>
              <a:rPr lang="en-US" dirty="0"/>
              <a:t>University of South Florida</a:t>
            </a:r>
          </a:p>
          <a:p>
            <a:pPr marL="285750" indent="-285750">
              <a:buFont typeface="Arial" panose="020B0604020202020204" pitchFamily="34" charset="0"/>
              <a:buChar char="•"/>
            </a:pPr>
            <a:r>
              <a:rPr lang="en-US" dirty="0"/>
              <a:t>Georgia Institute of Technology</a:t>
            </a:r>
          </a:p>
          <a:p>
            <a:pPr marL="285750" indent="-285750">
              <a:buFont typeface="Arial" panose="020B0604020202020204" pitchFamily="34" charset="0"/>
              <a:buChar char="•"/>
            </a:pPr>
            <a:r>
              <a:rPr lang="en-US" dirty="0"/>
              <a:t>Old Dominion University</a:t>
            </a:r>
          </a:p>
          <a:p>
            <a:pPr marL="285750" indent="-285750">
              <a:buFont typeface="Arial" panose="020B0604020202020204" pitchFamily="34" charset="0"/>
              <a:buChar char="•"/>
            </a:pPr>
            <a:r>
              <a:rPr lang="en-US" dirty="0"/>
              <a:t>College of Charleston/ University of Vermont</a:t>
            </a:r>
          </a:p>
          <a:p>
            <a:pPr marL="285750" indent="-285750">
              <a:buFont typeface="Arial" panose="020B0604020202020204" pitchFamily="34" charset="0"/>
              <a:buChar char="•"/>
            </a:pPr>
            <a:r>
              <a:rPr lang="en-US" dirty="0"/>
              <a:t>University of Delaware</a:t>
            </a:r>
          </a:p>
        </p:txBody>
      </p:sp>
      <p:pic>
        <p:nvPicPr>
          <p:cNvPr id="4" name="Picture 3">
            <a:extLst>
              <a:ext uri="{FF2B5EF4-FFF2-40B4-BE49-F238E27FC236}">
                <a16:creationId xmlns:a16="http://schemas.microsoft.com/office/drawing/2014/main" id="{1A1B898E-6FE1-D5B4-7717-AD9D28C3DFD7}"/>
              </a:ext>
            </a:extLst>
          </p:cNvPr>
          <p:cNvPicPr>
            <a:picLocks noChangeAspect="1"/>
          </p:cNvPicPr>
          <p:nvPr/>
        </p:nvPicPr>
        <p:blipFill>
          <a:blip r:embed="rId2"/>
          <a:stretch>
            <a:fillRect/>
          </a:stretch>
        </p:blipFill>
        <p:spPr>
          <a:xfrm>
            <a:off x="367430" y="2186957"/>
            <a:ext cx="7772400" cy="3780532"/>
          </a:xfrm>
          <a:prstGeom prst="rect">
            <a:avLst/>
          </a:prstGeom>
        </p:spPr>
      </p:pic>
    </p:spTree>
    <p:extLst>
      <p:ext uri="{BB962C8B-B14F-4D97-AF65-F5344CB8AC3E}">
        <p14:creationId xmlns:p14="http://schemas.microsoft.com/office/powerpoint/2010/main" val="1806471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the united states&#10;&#10;Description automatically generated">
            <a:extLst>
              <a:ext uri="{FF2B5EF4-FFF2-40B4-BE49-F238E27FC236}">
                <a16:creationId xmlns:a16="http://schemas.microsoft.com/office/drawing/2014/main" id="{837DC479-A424-C264-E039-10E6E2D4BDA7}"/>
              </a:ext>
            </a:extLst>
          </p:cNvPr>
          <p:cNvPicPr>
            <a:picLocks noChangeAspect="1"/>
          </p:cNvPicPr>
          <p:nvPr/>
        </p:nvPicPr>
        <p:blipFill>
          <a:blip r:embed="rId2"/>
          <a:stretch>
            <a:fillRect/>
          </a:stretch>
        </p:blipFill>
        <p:spPr>
          <a:xfrm>
            <a:off x="691203" y="1782783"/>
            <a:ext cx="9258581" cy="4862748"/>
          </a:xfrm>
          <a:prstGeom prst="rect">
            <a:avLst/>
          </a:prstGeom>
        </p:spPr>
      </p:pic>
      <p:sp>
        <p:nvSpPr>
          <p:cNvPr id="8" name="Title 1">
            <a:extLst>
              <a:ext uri="{FF2B5EF4-FFF2-40B4-BE49-F238E27FC236}">
                <a16:creationId xmlns:a16="http://schemas.microsoft.com/office/drawing/2014/main" id="{B05D0733-94D8-FD27-1529-389B3C80A9D0}"/>
              </a:ext>
            </a:extLst>
          </p:cNvPr>
          <p:cNvSpPr>
            <a:spLocks noGrp="1"/>
          </p:cNvSpPr>
          <p:nvPr>
            <p:ph type="title"/>
          </p:nvPr>
        </p:nvSpPr>
        <p:spPr>
          <a:xfrm>
            <a:off x="691203" y="0"/>
            <a:ext cx="11202640" cy="1789710"/>
          </a:xfrm>
        </p:spPr>
        <p:txBody>
          <a:bodyPr>
            <a:normAutofit/>
          </a:bodyPr>
          <a:lstStyle/>
          <a:p>
            <a:r>
              <a:rPr lang="en-US" sz="2600" b="1" dirty="0">
                <a:latin typeface="Helvetica" pitchFamily="2" charset="0"/>
              </a:rPr>
              <a:t>2024 </a:t>
            </a:r>
            <a:r>
              <a:rPr lang="en-US" sz="2600" b="1" dirty="0" err="1">
                <a:latin typeface="Helvetica" pitchFamily="2" charset="0"/>
              </a:rPr>
              <a:t>Cybertraining</a:t>
            </a:r>
            <a:r>
              <a:rPr lang="en-US" sz="2600" b="1" dirty="0">
                <a:latin typeface="Helvetica" pitchFamily="2" charset="0"/>
              </a:rPr>
              <a:t> Participants</a:t>
            </a:r>
            <a:br>
              <a:rPr lang="en-US" sz="2600" b="1" dirty="0">
                <a:latin typeface="Helvetica" pitchFamily="2" charset="0"/>
              </a:rPr>
            </a:br>
            <a:br>
              <a:rPr lang="en-US" sz="2600" b="1" dirty="0">
                <a:latin typeface="Helvetica" pitchFamily="2" charset="0"/>
              </a:rPr>
            </a:br>
            <a:r>
              <a:rPr lang="en-US" sz="2600" b="1" dirty="0">
                <a:latin typeface="Helvetica" pitchFamily="2" charset="0"/>
              </a:rPr>
              <a:t>20</a:t>
            </a:r>
            <a:r>
              <a:rPr lang="en-US" sz="2600" dirty="0">
                <a:latin typeface="Helvetica" pitchFamily="2" charset="0"/>
              </a:rPr>
              <a:t> selected participants from </a:t>
            </a:r>
            <a:r>
              <a:rPr lang="en-US" sz="2600" b="1" dirty="0">
                <a:latin typeface="Helvetica" pitchFamily="2" charset="0"/>
              </a:rPr>
              <a:t>12</a:t>
            </a:r>
            <a:r>
              <a:rPr lang="en-US" sz="2600" dirty="0">
                <a:latin typeface="Helvetica" pitchFamily="2" charset="0"/>
              </a:rPr>
              <a:t> </a:t>
            </a:r>
            <a:r>
              <a:rPr lang="en-US" altLang="zh-CN" sz="2600" dirty="0">
                <a:latin typeface="Helvetica" pitchFamily="2" charset="0"/>
              </a:rPr>
              <a:t>Institutions</a:t>
            </a:r>
            <a:br>
              <a:rPr lang="en-US" altLang="zh-CN" sz="2600" dirty="0">
                <a:latin typeface="Helvetica" pitchFamily="2" charset="0"/>
              </a:rPr>
            </a:br>
            <a:r>
              <a:rPr lang="en-US" altLang="zh-CN" sz="2600" dirty="0">
                <a:latin typeface="Helvetica" pitchFamily="2" charset="0"/>
              </a:rPr>
              <a:t>Graduate/undergraduate students</a:t>
            </a:r>
            <a:endParaRPr lang="en-US" sz="2600" dirty="0">
              <a:latin typeface="Helvetica" pitchFamily="2" charset="0"/>
            </a:endParaRPr>
          </a:p>
        </p:txBody>
      </p:sp>
    </p:spTree>
    <p:extLst>
      <p:ext uri="{BB962C8B-B14F-4D97-AF65-F5344CB8AC3E}">
        <p14:creationId xmlns:p14="http://schemas.microsoft.com/office/powerpoint/2010/main" val="3683462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B12DA4B-EC81-D525-E493-EE4AC52A2E18}"/>
              </a:ext>
            </a:extLst>
          </p:cNvPr>
          <p:cNvGraphicFramePr>
            <a:graphicFrameLocks noGrp="1"/>
          </p:cNvGraphicFramePr>
          <p:nvPr>
            <p:extLst>
              <p:ext uri="{D42A27DB-BD31-4B8C-83A1-F6EECF244321}">
                <p14:modId xmlns:p14="http://schemas.microsoft.com/office/powerpoint/2010/main" val="1250281727"/>
              </p:ext>
            </p:extLst>
          </p:nvPr>
        </p:nvGraphicFramePr>
        <p:xfrm>
          <a:off x="377687" y="727366"/>
          <a:ext cx="11589027" cy="5334000"/>
        </p:xfrm>
        <a:graphic>
          <a:graphicData uri="http://schemas.openxmlformats.org/drawingml/2006/table">
            <a:tbl>
              <a:tblPr firstRow="1" firstCol="1" bandRow="1">
                <a:solidFill>
                  <a:schemeClr val="bg1"/>
                </a:solidFill>
                <a:tableStyleId>{69CF1AB2-1976-4502-BF36-3FF5EA218861}</a:tableStyleId>
              </a:tblPr>
              <a:tblGrid>
                <a:gridCol w="795130">
                  <a:extLst>
                    <a:ext uri="{9D8B030D-6E8A-4147-A177-3AD203B41FA5}">
                      <a16:colId xmlns:a16="http://schemas.microsoft.com/office/drawing/2014/main" val="3178673121"/>
                    </a:ext>
                  </a:extLst>
                </a:gridCol>
                <a:gridCol w="1675493">
                  <a:extLst>
                    <a:ext uri="{9D8B030D-6E8A-4147-A177-3AD203B41FA5}">
                      <a16:colId xmlns:a16="http://schemas.microsoft.com/office/drawing/2014/main" val="1444282748"/>
                    </a:ext>
                  </a:extLst>
                </a:gridCol>
                <a:gridCol w="2009107">
                  <a:extLst>
                    <a:ext uri="{9D8B030D-6E8A-4147-A177-3AD203B41FA5}">
                      <a16:colId xmlns:a16="http://schemas.microsoft.com/office/drawing/2014/main" val="695984406"/>
                    </a:ext>
                  </a:extLst>
                </a:gridCol>
                <a:gridCol w="4350237">
                  <a:extLst>
                    <a:ext uri="{9D8B030D-6E8A-4147-A177-3AD203B41FA5}">
                      <a16:colId xmlns:a16="http://schemas.microsoft.com/office/drawing/2014/main" val="2010308685"/>
                    </a:ext>
                  </a:extLst>
                </a:gridCol>
                <a:gridCol w="2759060">
                  <a:extLst>
                    <a:ext uri="{9D8B030D-6E8A-4147-A177-3AD203B41FA5}">
                      <a16:colId xmlns:a16="http://schemas.microsoft.com/office/drawing/2014/main" val="865485328"/>
                    </a:ext>
                  </a:extLst>
                </a:gridCol>
              </a:tblGrid>
              <a:tr h="120870">
                <a:tc gridSpan="3">
                  <a:txBody>
                    <a:bodyPr/>
                    <a:lstStyle/>
                    <a:p>
                      <a:pPr marL="0" marR="0" algn="ctr">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Time</a:t>
                      </a:r>
                    </a:p>
                  </a:txBody>
                  <a:tcPr marL="54392" marR="54392"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pPr marL="0" marR="0">
                        <a:spcBef>
                          <a:spcPts val="0"/>
                        </a:spcBef>
                        <a:spcAft>
                          <a:spcPts val="0"/>
                        </a:spcAft>
                      </a:pPr>
                      <a:r>
                        <a:rPr lang="en-US" sz="1400" dirty="0">
                          <a:effectLst/>
                          <a:latin typeface="Helvetica" pitchFamily="2" charset="0"/>
                        </a:rPr>
                        <a:t> </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a:txBody>
                    <a:bodyPr/>
                    <a:lstStyle/>
                    <a:p>
                      <a:pPr marL="0" marR="0">
                        <a:spcBef>
                          <a:spcPts val="0"/>
                        </a:spcBef>
                        <a:spcAft>
                          <a:spcPts val="0"/>
                        </a:spcAft>
                      </a:pPr>
                      <a:r>
                        <a:rPr lang="en-US" sz="1400" dirty="0">
                          <a:effectLst/>
                          <a:latin typeface="Helvetica" pitchFamily="2" charset="0"/>
                        </a:rPr>
                        <a:t>Topics</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400" dirty="0">
                          <a:effectLst/>
                          <a:latin typeface="Helvetica" pitchFamily="2" charset="0"/>
                        </a:rPr>
                        <a:t>Instructor</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1083524"/>
                  </a:ext>
                </a:extLst>
              </a:tr>
              <a:tr h="120870">
                <a:tc rowSpan="3">
                  <a:txBody>
                    <a:bodyPr/>
                    <a:lstStyle/>
                    <a:p>
                      <a:pPr marL="0" marR="0" algn="l">
                        <a:spcBef>
                          <a:spcPts val="0"/>
                        </a:spcBef>
                        <a:spcAft>
                          <a:spcPts val="0"/>
                        </a:spcAft>
                      </a:pPr>
                      <a:r>
                        <a:rPr lang="en-US" sz="1400" dirty="0">
                          <a:effectLst/>
                          <a:latin typeface="Helvetica" pitchFamily="2" charset="0"/>
                        </a:rPr>
                        <a:t>05/20</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Morning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effectLst/>
                          <a:latin typeface="Helvetica" pitchFamily="2" charset="0"/>
                        </a:rPr>
                        <a:t>9:10AM-11:55AM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Icebreak talk, Python environment setup, basic syntax, data types</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Dogan and Liu</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1776311"/>
                  </a:ext>
                </a:extLst>
              </a:tr>
              <a:tr h="120870">
                <a:tc vMerge="1">
                  <a:txBody>
                    <a:bodyPr/>
                    <a:lstStyle/>
                    <a:p>
                      <a:endParaRPr lang="en-US"/>
                    </a:p>
                  </a:txBody>
                  <a:tcPr/>
                </a:tc>
                <a:tc gridSpan="4">
                  <a:txBody>
                    <a:bodyPr/>
                    <a:lstStyle/>
                    <a:p>
                      <a:pPr marL="0" marR="0" algn="ctr">
                        <a:spcBef>
                          <a:spcPts val="0"/>
                        </a:spcBef>
                        <a:spcAft>
                          <a:spcPts val="0"/>
                        </a:spcAft>
                      </a:pPr>
                      <a:r>
                        <a:rPr lang="en-US" sz="1400" dirty="0">
                          <a:effectLst/>
                          <a:latin typeface="Helvetica" pitchFamily="2" charset="0"/>
                        </a:rPr>
                        <a:t>Lunch</a:t>
                      </a:r>
                      <a:endParaRPr lang="en-US" sz="1400" dirty="0">
                        <a:effectLst/>
                        <a:latin typeface="Helvetica" pitchFamily="2"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6F7"/>
                    </a:solidFill>
                  </a:tcPr>
                </a:tc>
                <a:tc hMerge="1">
                  <a:txBody>
                    <a:bodyPr/>
                    <a:lstStyle/>
                    <a:p>
                      <a:pPr marL="0" marR="0" algn="l">
                        <a:spcBef>
                          <a:spcPts val="0"/>
                        </a:spcBef>
                        <a:spcAft>
                          <a:spcPts val="0"/>
                        </a:spcAft>
                      </a:pPr>
                      <a:r>
                        <a:rPr lang="en-US" sz="1400" dirty="0">
                          <a:effectLst/>
                          <a:latin typeface="Helvetica" pitchFamily="2" charset="0"/>
                        </a:rPr>
                        <a:t>12:00PM-1:30PM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ctr">
                        <a:spcBef>
                          <a:spcPts val="0"/>
                        </a:spcBef>
                        <a:spcAft>
                          <a:spcPts val="0"/>
                        </a:spcAft>
                      </a:pPr>
                      <a:r>
                        <a:rPr lang="en-US" sz="1400" dirty="0">
                          <a:effectLst/>
                          <a:latin typeface="Helvetica" pitchFamily="2" charset="0"/>
                        </a:rPr>
                        <a:t>Lunch</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extLst>
                  <a:ext uri="{0D108BD9-81ED-4DB2-BD59-A6C34878D82A}">
                    <a16:rowId xmlns:a16="http://schemas.microsoft.com/office/drawing/2014/main" val="2805911162"/>
                  </a:ext>
                </a:extLst>
              </a:tr>
              <a:tr h="120870">
                <a:tc vMerge="1">
                  <a:txBody>
                    <a:bodyPr/>
                    <a:lstStyle/>
                    <a:p>
                      <a:endParaRPr lang="en-US"/>
                    </a:p>
                  </a:txBody>
                  <a:tcPr/>
                </a:tc>
                <a:tc>
                  <a:txBody>
                    <a:bodyPr/>
                    <a:lstStyle/>
                    <a:p>
                      <a:pPr marL="0" marR="0" algn="l">
                        <a:spcBef>
                          <a:spcPts val="0"/>
                        </a:spcBef>
                        <a:spcAft>
                          <a:spcPts val="0"/>
                        </a:spcAft>
                      </a:pPr>
                      <a:r>
                        <a:rPr lang="en-US" sz="1400" dirty="0">
                          <a:effectLst/>
                          <a:latin typeface="Helvetica" pitchFamily="2" charset="0"/>
                        </a:rPr>
                        <a:t>Afternoon</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1:30PM-4:30PM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pandas, numpy, dataframe, data processing and cleaning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Song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0480732"/>
                  </a:ext>
                </a:extLst>
              </a:tr>
              <a:tr h="120870">
                <a:tc rowSpan="5">
                  <a:txBody>
                    <a:bodyPr/>
                    <a:lstStyle/>
                    <a:p>
                      <a:pPr marL="0" marR="0" algn="l">
                        <a:spcBef>
                          <a:spcPts val="0"/>
                        </a:spcBef>
                        <a:spcAft>
                          <a:spcPts val="0"/>
                        </a:spcAft>
                      </a:pPr>
                      <a:r>
                        <a:rPr lang="en-US" sz="1400" dirty="0">
                          <a:effectLst/>
                          <a:latin typeface="Helvetica" pitchFamily="2" charset="0"/>
                        </a:rPr>
                        <a:t>05/21</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effectLst/>
                          <a:latin typeface="Helvetica" pitchFamily="2" charset="0"/>
                        </a:rPr>
                        <a:t>Morning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9:10AM-11:30AM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Data visualization with Matplotlib, data acquisition </a:t>
                      </a: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Liu and Wang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extLst>
                  <a:ext uri="{0D108BD9-81ED-4DB2-BD59-A6C34878D82A}">
                    <a16:rowId xmlns:a16="http://schemas.microsoft.com/office/drawing/2014/main" val="286926825"/>
                  </a:ext>
                </a:extLst>
              </a:tr>
              <a:tr h="120870">
                <a:tc vMerge="1">
                  <a:txBody>
                    <a:bodyPr/>
                    <a:lstStyle/>
                    <a:p>
                      <a:endParaRPr lang="en-US"/>
                    </a:p>
                  </a:txBody>
                  <a:tcPr/>
                </a:tc>
                <a:tc>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11:30AM-12:00PM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Coastal Engineering Wave Flume Tour</a:t>
                      </a: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Dr. Long and Benjamin </a:t>
                      </a:r>
                      <a:r>
                        <a:rPr lang="en-US" sz="1400" dirty="0" err="1">
                          <a:effectLst/>
                          <a:latin typeface="Helvetica" pitchFamily="2" charset="0"/>
                          <a:ea typeface="Times New Roman" panose="02020603050405020304" pitchFamily="18" charset="0"/>
                          <a:cs typeface="Times New Roman" panose="02020603050405020304" pitchFamily="18" charset="0"/>
                        </a:rPr>
                        <a:t>Middour</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9759568"/>
                  </a:ext>
                </a:extLst>
              </a:tr>
              <a:tr h="120870">
                <a:tc vMerge="1">
                  <a:txBody>
                    <a:bodyPr/>
                    <a:lstStyle/>
                    <a:p>
                      <a:endParaRPr lang="en-US"/>
                    </a:p>
                  </a:txBody>
                  <a:tcPr/>
                </a:tc>
                <a:tc gridSpan="4">
                  <a:txBody>
                    <a:bodyPr/>
                    <a:lstStyle/>
                    <a:p>
                      <a:pPr marL="0" marR="0" algn="ctr">
                        <a:spcBef>
                          <a:spcPts val="0"/>
                        </a:spcBef>
                        <a:spcAft>
                          <a:spcPts val="0"/>
                        </a:spcAft>
                      </a:pPr>
                      <a:r>
                        <a:rPr lang="en-US" sz="1400" dirty="0">
                          <a:effectLst/>
                          <a:latin typeface="Helvetica" pitchFamily="2" charset="0"/>
                        </a:rPr>
                        <a:t>Lunch</a:t>
                      </a:r>
                      <a:endParaRPr lang="en-US" sz="1400" dirty="0">
                        <a:effectLst/>
                        <a:latin typeface="Helvetica" pitchFamily="2"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6F7"/>
                    </a:solidFill>
                  </a:tcPr>
                </a:tc>
                <a:tc hMerge="1">
                  <a:txBody>
                    <a:bodyPr/>
                    <a:lstStyle/>
                    <a:p>
                      <a:pPr marL="0" marR="0" algn="l">
                        <a:spcBef>
                          <a:spcPts val="0"/>
                        </a:spcBef>
                        <a:spcAft>
                          <a:spcPts val="0"/>
                        </a:spcAft>
                      </a:pPr>
                      <a:r>
                        <a:rPr lang="en-US" sz="1400" dirty="0">
                          <a:effectLst/>
                          <a:latin typeface="Helvetica" pitchFamily="2" charset="0"/>
                        </a:rPr>
                        <a:t>12:30PM-1:30PM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r>
                        <a:rPr lang="en-US" sz="1400" dirty="0">
                          <a:effectLst/>
                          <a:latin typeface="Helvetica" pitchFamily="2" charset="0"/>
                        </a:rPr>
                        <a:t>Lunch</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extLst>
                  <a:ext uri="{0D108BD9-81ED-4DB2-BD59-A6C34878D82A}">
                    <a16:rowId xmlns:a16="http://schemas.microsoft.com/office/drawing/2014/main" val="246974087"/>
                  </a:ext>
                </a:extLst>
              </a:tr>
              <a:tr h="241741">
                <a:tc vMerge="1">
                  <a:txBody>
                    <a:bodyPr/>
                    <a:lstStyle/>
                    <a:p>
                      <a:endParaRPr lang="en-US"/>
                    </a:p>
                  </a:txBody>
                  <a:tcPr/>
                </a:tc>
                <a:tc>
                  <a:txBody>
                    <a:bodyPr/>
                    <a:lstStyle/>
                    <a:p>
                      <a:pPr marL="0" marR="0" algn="l">
                        <a:spcBef>
                          <a:spcPts val="0"/>
                        </a:spcBef>
                        <a:spcAft>
                          <a:spcPts val="0"/>
                        </a:spcAft>
                      </a:pPr>
                      <a:r>
                        <a:rPr lang="en-US" sz="1400" dirty="0">
                          <a:effectLst/>
                          <a:latin typeface="Helvetica" pitchFamily="2" charset="0"/>
                        </a:rPr>
                        <a:t>Afternoon</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1:30PM-3:25PM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Hands on data analysis and visualization, plot tuning; statistics, low-pass filter, …</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Liu and Wang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extLst>
                  <a:ext uri="{0D108BD9-81ED-4DB2-BD59-A6C34878D82A}">
                    <a16:rowId xmlns:a16="http://schemas.microsoft.com/office/drawing/2014/main" val="463221531"/>
                  </a:ext>
                </a:extLst>
              </a:tr>
              <a:tr h="120870">
                <a:tc vMerge="1">
                  <a:txBody>
                    <a:bodyPr/>
                    <a:lstStyle/>
                    <a:p>
                      <a:endParaRPr lang="en-US"/>
                    </a:p>
                  </a:txBody>
                  <a:tcPr/>
                </a:tc>
                <a:tc>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3:30PM-4:30PM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More about data acquisition and analysis</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Liu and Wang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0657476"/>
                  </a:ext>
                </a:extLst>
              </a:tr>
              <a:tr h="120870">
                <a:tc rowSpan="4">
                  <a:txBody>
                    <a:bodyPr/>
                    <a:lstStyle/>
                    <a:p>
                      <a:pPr marL="0" marR="0" algn="l">
                        <a:spcBef>
                          <a:spcPts val="0"/>
                        </a:spcBef>
                        <a:spcAft>
                          <a:spcPts val="0"/>
                        </a:spcAft>
                      </a:pPr>
                      <a:r>
                        <a:rPr lang="en-US" sz="1400" dirty="0">
                          <a:effectLst/>
                          <a:latin typeface="Helvetica" pitchFamily="2" charset="0"/>
                        </a:rPr>
                        <a:t>05/22</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400" dirty="0">
                          <a:effectLst/>
                          <a:latin typeface="Helvetica" pitchFamily="2" charset="0"/>
                        </a:rPr>
                        <a:t>Morning</a:t>
                      </a: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9:10AM–9:55AM</a:t>
                      </a:r>
                    </a:p>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10:10AM–11:55AM</a:t>
                      </a: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Machine learning (minor prediction and more classification)</a:t>
                      </a:r>
                    </a:p>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Introduction to HPC, GitHub for version control</a:t>
                      </a: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Song</a:t>
                      </a:r>
                    </a:p>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Liu and Boot</a:t>
                      </a:r>
                    </a:p>
                  </a:txBody>
                  <a:tcPr marL="54392" marR="54392" marT="0" marB="0">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831124"/>
                  </a:ext>
                </a:extLst>
              </a:tr>
              <a:tr h="120870">
                <a:tc vMerge="1">
                  <a:txBody>
                    <a:bodyPr/>
                    <a:lstStyle/>
                    <a:p>
                      <a:endParaRPr lang="en-US"/>
                    </a:p>
                  </a:txBody>
                  <a:tcPr/>
                </a:tc>
                <a:tc gridSpan="4">
                  <a:txBody>
                    <a:bodyPr/>
                    <a:lstStyle/>
                    <a:p>
                      <a:pPr marL="0" marR="0" algn="ctr">
                        <a:spcBef>
                          <a:spcPts val="0"/>
                        </a:spcBef>
                        <a:spcAft>
                          <a:spcPts val="0"/>
                        </a:spcAft>
                      </a:pPr>
                      <a:r>
                        <a:rPr lang="en-US" sz="1400" dirty="0">
                          <a:effectLst/>
                          <a:latin typeface="Helvetica" pitchFamily="2" charset="0"/>
                        </a:rPr>
                        <a:t>Lunch</a:t>
                      </a:r>
                    </a:p>
                  </a:txBody>
                  <a:tcPr marL="54392" marR="54392"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6F7"/>
                    </a:solidFill>
                  </a:tcPr>
                </a:tc>
                <a:tc hMerge="1">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r>
                        <a:rPr lang="en-US" sz="1400" dirty="0">
                          <a:effectLst/>
                          <a:latin typeface="Helvetica" pitchFamily="2" charset="0"/>
                        </a:rPr>
                        <a:t>Lunch</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r>
                        <a:rPr lang="en-US" sz="1400" dirty="0">
                          <a:effectLst/>
                          <a:latin typeface="Helvetica" pitchFamily="2" charset="0"/>
                        </a:rPr>
                        <a:t> </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extLst>
                  <a:ext uri="{0D108BD9-81ED-4DB2-BD59-A6C34878D82A}">
                    <a16:rowId xmlns:a16="http://schemas.microsoft.com/office/drawing/2014/main" val="2789689610"/>
                  </a:ext>
                </a:extLst>
              </a:tr>
              <a:tr h="120870">
                <a:tc vMerge="1">
                  <a:txBody>
                    <a:bodyPr/>
                    <a:lstStyle/>
                    <a:p>
                      <a:endParaRPr lang="en-US"/>
                    </a:p>
                  </a:txBody>
                  <a:tcPr/>
                </a:tc>
                <a:tc>
                  <a:txBody>
                    <a:bodyPr/>
                    <a:lstStyle/>
                    <a:p>
                      <a:pPr marL="0" marR="0" algn="l">
                        <a:spcBef>
                          <a:spcPts val="0"/>
                        </a:spcBef>
                        <a:spcAft>
                          <a:spcPts val="0"/>
                        </a:spcAft>
                      </a:pPr>
                      <a:r>
                        <a:rPr lang="en-US" sz="1400" dirty="0">
                          <a:effectLst/>
                          <a:latin typeface="Helvetica" pitchFamily="2" charset="0"/>
                        </a:rPr>
                        <a:t>Afternoon</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1:30PM–2:30PM</a:t>
                      </a: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Introduction to Pegasus</a:t>
                      </a: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tc>
                  <a:txBody>
                    <a:bodyPr/>
                    <a:lstStyle/>
                    <a:p>
                      <a:pPr marL="0" marR="0" algn="l">
                        <a:spcBef>
                          <a:spcPts val="0"/>
                        </a:spcBef>
                        <a:spcAft>
                          <a:spcPts val="0"/>
                        </a:spcAft>
                      </a:pPr>
                      <a:r>
                        <a:rPr lang="en-US" sz="1400" dirty="0" err="1">
                          <a:effectLst/>
                          <a:latin typeface="Helvetica" pitchFamily="2" charset="0"/>
                          <a:ea typeface="Times New Roman" panose="02020603050405020304" pitchFamily="18" charset="0"/>
                          <a:cs typeface="Times New Roman" panose="02020603050405020304" pitchFamily="18" charset="0"/>
                        </a:rPr>
                        <a:t>Gachloo</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solidFill>
                  </a:tcPr>
                </a:tc>
                <a:extLst>
                  <a:ext uri="{0D108BD9-81ED-4DB2-BD59-A6C34878D82A}">
                    <a16:rowId xmlns:a16="http://schemas.microsoft.com/office/drawing/2014/main" val="2477353798"/>
                  </a:ext>
                </a:extLst>
              </a:tr>
              <a:tr h="120870">
                <a:tc vMerge="1">
                  <a:txBody>
                    <a:bodyPr/>
                    <a:lstStyle/>
                    <a:p>
                      <a:endParaRPr lang="en-US"/>
                    </a:p>
                  </a:txBody>
                  <a:tcPr/>
                </a:tc>
                <a:tc>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2:30PM–4:30PM</a:t>
                      </a: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ea typeface="Times New Roman" panose="02020603050405020304" pitchFamily="18" charset="0"/>
                          <a:cs typeface="Times New Roman" panose="02020603050405020304" pitchFamily="18" charset="0"/>
                        </a:rPr>
                        <a:t>Free time</a:t>
                      </a: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8996020"/>
                  </a:ext>
                </a:extLst>
              </a:tr>
              <a:tr h="120870">
                <a:tc rowSpan="3">
                  <a:txBody>
                    <a:bodyPr/>
                    <a:lstStyle/>
                    <a:p>
                      <a:pPr marL="0" marR="0" algn="l">
                        <a:spcBef>
                          <a:spcPts val="0"/>
                        </a:spcBef>
                        <a:spcAft>
                          <a:spcPts val="0"/>
                        </a:spcAft>
                      </a:pPr>
                      <a:r>
                        <a:rPr lang="en-US" sz="1400" dirty="0">
                          <a:effectLst/>
                          <a:latin typeface="Helvetica" pitchFamily="2" charset="0"/>
                        </a:rPr>
                        <a:t>05/23</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400" dirty="0">
                          <a:effectLst/>
                          <a:latin typeface="Helvetica" pitchFamily="2" charset="0"/>
                        </a:rPr>
                        <a:t>Morning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9:10AM</a:t>
                      </a:r>
                      <a:r>
                        <a:rPr lang="en-US" sz="1400" dirty="0">
                          <a:effectLst/>
                          <a:latin typeface="Helvetica" pitchFamily="2" charset="0"/>
                          <a:ea typeface="Times New Roman" panose="02020603050405020304" pitchFamily="18" charset="0"/>
                          <a:cs typeface="Times New Roman" panose="02020603050405020304" pitchFamily="18" charset="0"/>
                        </a:rPr>
                        <a:t>–</a:t>
                      </a:r>
                      <a:r>
                        <a:rPr lang="en-US" sz="1400" dirty="0">
                          <a:effectLst/>
                          <a:latin typeface="Helvetica" pitchFamily="2" charset="0"/>
                        </a:rPr>
                        <a:t>11:55AM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Deep Learning, CNN+RNN, Discussion about Hackathon project</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Dogan, Liu, Wang and Song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9081941"/>
                  </a:ext>
                </a:extLst>
              </a:tr>
              <a:tr h="120870">
                <a:tc vMerge="1">
                  <a:txBody>
                    <a:bodyPr/>
                    <a:lstStyle/>
                    <a:p>
                      <a:endParaRPr lang="en-US"/>
                    </a:p>
                  </a:txBody>
                  <a:tcPr/>
                </a:tc>
                <a:tc gridSpan="4">
                  <a:txBody>
                    <a:bodyPr/>
                    <a:lstStyle/>
                    <a:p>
                      <a:pPr marL="0" marR="0" algn="ctr">
                        <a:spcBef>
                          <a:spcPts val="0"/>
                        </a:spcBef>
                        <a:spcAft>
                          <a:spcPts val="0"/>
                        </a:spcAft>
                      </a:pPr>
                      <a:r>
                        <a:rPr lang="en-US" sz="1400" dirty="0">
                          <a:effectLst/>
                          <a:latin typeface="Helvetica" pitchFamily="2" charset="0"/>
                        </a:rPr>
                        <a:t>Lunch</a:t>
                      </a:r>
                      <a:endParaRPr lang="en-US" sz="1400" dirty="0">
                        <a:effectLst/>
                        <a:latin typeface="Helvetica" pitchFamily="2"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6F7"/>
                    </a:solidFill>
                  </a:tcPr>
                </a:tc>
                <a:tc hMerge="1">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r>
                        <a:rPr lang="en-US" sz="1400" dirty="0">
                          <a:effectLst/>
                          <a:latin typeface="Helvetica" pitchFamily="2" charset="0"/>
                        </a:rPr>
                        <a:t>Lunch</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extLst>
                  <a:ext uri="{0D108BD9-81ED-4DB2-BD59-A6C34878D82A}">
                    <a16:rowId xmlns:a16="http://schemas.microsoft.com/office/drawing/2014/main" val="3226333115"/>
                  </a:ext>
                </a:extLst>
              </a:tr>
              <a:tr h="120870">
                <a:tc vMerge="1">
                  <a:txBody>
                    <a:bodyPr/>
                    <a:lstStyle/>
                    <a:p>
                      <a:endParaRPr lang="en-US"/>
                    </a:p>
                  </a:txBody>
                  <a:tcPr/>
                </a:tc>
                <a:tc>
                  <a:txBody>
                    <a:bodyPr/>
                    <a:lstStyle/>
                    <a:p>
                      <a:pPr marL="0" marR="0" algn="l">
                        <a:spcBef>
                          <a:spcPts val="0"/>
                        </a:spcBef>
                        <a:spcAft>
                          <a:spcPts val="0"/>
                        </a:spcAft>
                      </a:pPr>
                      <a:r>
                        <a:rPr lang="en-US" sz="1400" dirty="0">
                          <a:effectLst/>
                          <a:latin typeface="Helvetica" pitchFamily="2" charset="0"/>
                        </a:rPr>
                        <a:t>Afternoon</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1:30PM–4:15PM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Hackathon Project</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Dogan, Liu, Wang and Song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1506895"/>
                  </a:ext>
                </a:extLst>
              </a:tr>
              <a:tr h="0">
                <a:tc rowSpan="3">
                  <a:txBody>
                    <a:bodyPr/>
                    <a:lstStyle/>
                    <a:p>
                      <a:pPr marL="0" marR="0" algn="l">
                        <a:spcBef>
                          <a:spcPts val="0"/>
                        </a:spcBef>
                        <a:spcAft>
                          <a:spcPts val="0"/>
                        </a:spcAft>
                      </a:pPr>
                      <a:r>
                        <a:rPr lang="en-US" sz="1400" dirty="0">
                          <a:effectLst/>
                          <a:latin typeface="Helvetica" pitchFamily="2" charset="0"/>
                        </a:rPr>
                        <a:t>05/24</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gn="l">
                        <a:spcBef>
                          <a:spcPts val="0"/>
                        </a:spcBef>
                        <a:spcAft>
                          <a:spcPts val="0"/>
                        </a:spcAft>
                      </a:pPr>
                      <a:r>
                        <a:rPr lang="en-US" sz="1400" dirty="0">
                          <a:effectLst/>
                          <a:latin typeface="Helvetica" pitchFamily="2" charset="0"/>
                        </a:rPr>
                        <a:t>Morning</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9:10AM–11:55AM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spcBef>
                          <a:spcPts val="0"/>
                        </a:spcBef>
                        <a:spcAft>
                          <a:spcPts val="0"/>
                        </a:spcAft>
                      </a:pPr>
                      <a:r>
                        <a:rPr lang="en-US" sz="1400" dirty="0">
                          <a:effectLst/>
                          <a:latin typeface="Helvetica" pitchFamily="2" charset="0"/>
                        </a:rPr>
                        <a:t>Hackathon Project</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effectLst/>
                          <a:latin typeface="Helvetica" pitchFamily="2" charset="0"/>
                        </a:rPr>
                        <a:t>Dogan, Liu, Wang and Song</a:t>
                      </a:r>
                    </a:p>
                  </a:txBody>
                  <a:tcPr marL="54392" marR="54392" marT="0" marB="0">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8555464"/>
                  </a:ext>
                </a:extLst>
              </a:tr>
              <a:tr h="120870">
                <a:tc vMerge="1">
                  <a:txBody>
                    <a:bodyPr/>
                    <a:lstStyle/>
                    <a:p>
                      <a:endParaRPr lang="en-US"/>
                    </a:p>
                  </a:txBody>
                  <a:tcPr/>
                </a:tc>
                <a:tc gridSpan="4">
                  <a:txBody>
                    <a:bodyPr/>
                    <a:lstStyle/>
                    <a:p>
                      <a:pPr marL="0" marR="0" algn="ctr">
                        <a:spcBef>
                          <a:spcPts val="0"/>
                        </a:spcBef>
                        <a:spcAft>
                          <a:spcPts val="0"/>
                        </a:spcAft>
                      </a:pPr>
                      <a:r>
                        <a:rPr lang="en-US" sz="1400" dirty="0">
                          <a:effectLst/>
                          <a:latin typeface="Helvetica" pitchFamily="2" charset="0"/>
                        </a:rPr>
                        <a:t>Lunch</a:t>
                      </a:r>
                    </a:p>
                  </a:txBody>
                  <a:tcPr marL="54392" marR="54392"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6F7"/>
                    </a:solidFill>
                  </a:tcPr>
                </a:tc>
                <a:tc hMerge="1">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r>
                        <a:rPr lang="en-US" sz="1400" dirty="0">
                          <a:effectLst/>
                          <a:latin typeface="Helvetica" pitchFamily="2" charset="0"/>
                        </a:rPr>
                        <a:t>Lunch</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tc hMerge="1">
                  <a:txBody>
                    <a:bodyPr/>
                    <a:lstStyle/>
                    <a:p>
                      <a:pPr marL="0" marR="0" algn="l">
                        <a:spcBef>
                          <a:spcPts val="0"/>
                        </a:spcBef>
                        <a:spcAft>
                          <a:spcPts val="0"/>
                        </a:spcAft>
                      </a:pPr>
                      <a:r>
                        <a:rPr lang="en-US" sz="1400" dirty="0">
                          <a:effectLst/>
                          <a:latin typeface="Helvetica" pitchFamily="2" charset="0"/>
                        </a:rPr>
                        <a:t>Review Session for Final Exam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tc>
                <a:extLst>
                  <a:ext uri="{0D108BD9-81ED-4DB2-BD59-A6C34878D82A}">
                    <a16:rowId xmlns:a16="http://schemas.microsoft.com/office/drawing/2014/main" val="2962571441"/>
                  </a:ext>
                </a:extLst>
              </a:tr>
              <a:tr h="120870">
                <a:tc vMerge="1">
                  <a:txBody>
                    <a:bodyPr/>
                    <a:lstStyle/>
                    <a:p>
                      <a:endParaRPr lang="en-US"/>
                    </a:p>
                  </a:txBody>
                  <a:tcPr/>
                </a:tc>
                <a:tc>
                  <a:txBody>
                    <a:bodyPr/>
                    <a:lstStyle/>
                    <a:p>
                      <a:pPr marL="0" marR="0" algn="l">
                        <a:spcBef>
                          <a:spcPts val="0"/>
                        </a:spcBef>
                        <a:spcAft>
                          <a:spcPts val="0"/>
                        </a:spcAft>
                      </a:pPr>
                      <a:r>
                        <a:rPr lang="en-US" sz="1400" dirty="0">
                          <a:effectLst/>
                          <a:latin typeface="Helvetica" pitchFamily="2" charset="0"/>
                        </a:rPr>
                        <a:t>Afternoon Session</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algn="l">
                        <a:spcBef>
                          <a:spcPts val="0"/>
                        </a:spcBef>
                        <a:spcAft>
                          <a:spcPts val="0"/>
                        </a:spcAft>
                      </a:pPr>
                      <a:r>
                        <a:rPr lang="en-US" sz="1400">
                          <a:effectLst/>
                          <a:latin typeface="Helvetica" pitchFamily="2" charset="0"/>
                        </a:rPr>
                        <a:t>1:30PM–4:15PM</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algn="l">
                        <a:spcBef>
                          <a:spcPts val="0"/>
                        </a:spcBef>
                        <a:spcAft>
                          <a:spcPts val="0"/>
                        </a:spcAft>
                      </a:pPr>
                      <a:r>
                        <a:rPr lang="en-US" sz="1400" dirty="0" err="1">
                          <a:effectLst/>
                          <a:latin typeface="Helvetica" pitchFamily="2" charset="0"/>
                        </a:rPr>
                        <a:t>Hackthon</a:t>
                      </a:r>
                      <a:r>
                        <a:rPr lang="en-US" sz="1400" dirty="0">
                          <a:effectLst/>
                          <a:latin typeface="Helvetica" pitchFamily="2" charset="0"/>
                        </a:rPr>
                        <a:t> Presentation</a:t>
                      </a: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algn="l">
                        <a:spcBef>
                          <a:spcPts val="0"/>
                        </a:spcBef>
                        <a:spcAft>
                          <a:spcPts val="0"/>
                        </a:spcAft>
                      </a:pPr>
                      <a:endParaRPr lang="en-US" sz="1400" dirty="0">
                        <a:effectLst/>
                        <a:latin typeface="Helvetica" pitchFamily="2" charset="0"/>
                        <a:ea typeface="Times New Roman" panose="02020603050405020304" pitchFamily="18" charset="0"/>
                        <a:cs typeface="Times New Roman" panose="02020603050405020304" pitchFamily="18" charset="0"/>
                      </a:endParaRPr>
                    </a:p>
                  </a:txBody>
                  <a:tcPr marL="54392" marR="54392" marT="0" marB="0">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4128327855"/>
                  </a:ext>
                </a:extLst>
              </a:tr>
            </a:tbl>
          </a:graphicData>
        </a:graphic>
      </p:graphicFrame>
    </p:spTree>
    <p:extLst>
      <p:ext uri="{BB962C8B-B14F-4D97-AF65-F5344CB8AC3E}">
        <p14:creationId xmlns:p14="http://schemas.microsoft.com/office/powerpoint/2010/main" val="510329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80AE4-C466-664C-B6F3-E9D2721FBD15}"/>
              </a:ext>
            </a:extLst>
          </p:cNvPr>
          <p:cNvSpPr>
            <a:spLocks noGrp="1"/>
          </p:cNvSpPr>
          <p:nvPr>
            <p:ph type="title"/>
          </p:nvPr>
        </p:nvSpPr>
        <p:spPr/>
        <p:txBody>
          <a:bodyPr/>
          <a:lstStyle/>
          <a:p>
            <a:r>
              <a:rPr lang="en-US" dirty="0"/>
              <a:t>Center for Marine Science, UNCW</a:t>
            </a:r>
          </a:p>
        </p:txBody>
      </p:sp>
      <p:sp>
        <p:nvSpPr>
          <p:cNvPr id="3" name="Content Placeholder 2">
            <a:extLst>
              <a:ext uri="{FF2B5EF4-FFF2-40B4-BE49-F238E27FC236}">
                <a16:creationId xmlns:a16="http://schemas.microsoft.com/office/drawing/2014/main" id="{26C2E203-0B0D-AC4E-8A3F-5986667DCAD4}"/>
              </a:ext>
            </a:extLst>
          </p:cNvPr>
          <p:cNvSpPr>
            <a:spLocks noGrp="1"/>
          </p:cNvSpPr>
          <p:nvPr>
            <p:ph idx="1"/>
          </p:nvPr>
        </p:nvSpPr>
        <p:spPr/>
        <p:txBody>
          <a:bodyPr/>
          <a:lstStyle/>
          <a:p>
            <a:r>
              <a:rPr lang="en-US" dirty="0"/>
              <a:t>Master in Marine Science Program</a:t>
            </a:r>
          </a:p>
          <a:p>
            <a:r>
              <a:rPr lang="en-US" dirty="0"/>
              <a:t>ACOS (Applied Coastal &amp; Ocean Science) program</a:t>
            </a:r>
          </a:p>
          <a:p>
            <a:pPr marL="0" indent="0">
              <a:buNone/>
            </a:pPr>
            <a:r>
              <a:rPr lang="en-US" dirty="0"/>
              <a:t>https://</a:t>
            </a:r>
            <a:r>
              <a:rPr lang="en-US" dirty="0" err="1"/>
              <a:t>uncw.edu</a:t>
            </a:r>
            <a:r>
              <a:rPr lang="en-US" dirty="0"/>
              <a:t>/academics/majors-programs/</a:t>
            </a:r>
            <a:r>
              <a:rPr lang="en-US" dirty="0" err="1"/>
              <a:t>cms</a:t>
            </a:r>
            <a:r>
              <a:rPr lang="en-US" dirty="0"/>
              <a:t>/applied-coastal-ocean-sciences-</a:t>
            </a:r>
            <a:r>
              <a:rPr lang="en-US" dirty="0" err="1"/>
              <a:t>phd</a:t>
            </a:r>
            <a:r>
              <a:rPr lang="en-US" dirty="0"/>
              <a:t>/</a:t>
            </a:r>
          </a:p>
        </p:txBody>
      </p:sp>
    </p:spTree>
    <p:extLst>
      <p:ext uri="{BB962C8B-B14F-4D97-AF65-F5344CB8AC3E}">
        <p14:creationId xmlns:p14="http://schemas.microsoft.com/office/powerpoint/2010/main" val="1706751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4A369-CDF0-E8A2-9F28-08C6B1031CB2}"/>
              </a:ext>
            </a:extLst>
          </p:cNvPr>
          <p:cNvSpPr>
            <a:spLocks noGrp="1"/>
          </p:cNvSpPr>
          <p:nvPr>
            <p:ph type="title"/>
          </p:nvPr>
        </p:nvSpPr>
        <p:spPr/>
        <p:txBody>
          <a:bodyPr/>
          <a:lstStyle/>
          <a:p>
            <a:r>
              <a:rPr lang="en-US" dirty="0"/>
              <a:t>On-campus Housing</a:t>
            </a:r>
          </a:p>
        </p:txBody>
      </p:sp>
      <p:sp>
        <p:nvSpPr>
          <p:cNvPr id="3" name="Content Placeholder 2">
            <a:extLst>
              <a:ext uri="{FF2B5EF4-FFF2-40B4-BE49-F238E27FC236}">
                <a16:creationId xmlns:a16="http://schemas.microsoft.com/office/drawing/2014/main" id="{CD5BE35E-E77E-40CE-8BA0-81A0D72337F0}"/>
              </a:ext>
            </a:extLst>
          </p:cNvPr>
          <p:cNvSpPr>
            <a:spLocks noGrp="1"/>
          </p:cNvSpPr>
          <p:nvPr>
            <p:ph idx="1"/>
          </p:nvPr>
        </p:nvSpPr>
        <p:spPr/>
        <p:txBody>
          <a:bodyPr/>
          <a:lstStyle/>
          <a:p>
            <a:endParaRPr lang="en-US" dirty="0"/>
          </a:p>
          <a:p>
            <a:r>
              <a:rPr lang="en-US" dirty="0"/>
              <a:t>No permit needed for visitor parking</a:t>
            </a:r>
          </a:p>
        </p:txBody>
      </p:sp>
    </p:spTree>
    <p:extLst>
      <p:ext uri="{BB962C8B-B14F-4D97-AF65-F5344CB8AC3E}">
        <p14:creationId xmlns:p14="http://schemas.microsoft.com/office/powerpoint/2010/main" val="545327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56980-5A68-8BA3-7FB0-A8A38A42D222}"/>
              </a:ext>
            </a:extLst>
          </p:cNvPr>
          <p:cNvSpPr>
            <a:spLocks noGrp="1"/>
          </p:cNvSpPr>
          <p:nvPr>
            <p:ph type="title"/>
          </p:nvPr>
        </p:nvSpPr>
        <p:spPr>
          <a:xfrm>
            <a:off x="838200" y="18255"/>
            <a:ext cx="10515600" cy="1325563"/>
          </a:xfrm>
        </p:spPr>
        <p:txBody>
          <a:bodyPr/>
          <a:lstStyle/>
          <a:p>
            <a:r>
              <a:rPr lang="en-US" b="1" dirty="0"/>
              <a:t>PIs</a:t>
            </a:r>
          </a:p>
        </p:txBody>
      </p:sp>
      <p:sp>
        <p:nvSpPr>
          <p:cNvPr id="3" name="Content Placeholder 2">
            <a:extLst>
              <a:ext uri="{FF2B5EF4-FFF2-40B4-BE49-F238E27FC236}">
                <a16:creationId xmlns:a16="http://schemas.microsoft.com/office/drawing/2014/main" id="{66A1B4E7-A88E-09AC-B707-0BCE211C4F4E}"/>
              </a:ext>
            </a:extLst>
          </p:cNvPr>
          <p:cNvSpPr>
            <a:spLocks noGrp="1"/>
          </p:cNvSpPr>
          <p:nvPr>
            <p:ph idx="1"/>
          </p:nvPr>
        </p:nvSpPr>
        <p:spPr>
          <a:xfrm>
            <a:off x="838200" y="1229710"/>
            <a:ext cx="10515600" cy="4947253"/>
          </a:xfrm>
        </p:spPr>
        <p:txBody>
          <a:bodyPr>
            <a:normAutofit/>
          </a:bodyPr>
          <a:lstStyle/>
          <a:p>
            <a:r>
              <a:rPr lang="en-US" b="1" dirty="0"/>
              <a:t>Qianqian Liu</a:t>
            </a:r>
          </a:p>
          <a:p>
            <a:pPr marL="0" indent="0">
              <a:buNone/>
            </a:pPr>
            <a:r>
              <a:rPr lang="en-US" dirty="0"/>
              <a:t>Assistant Professor in Physics and Physical Oceanography and Center for Marine Science, UNCW</a:t>
            </a:r>
          </a:p>
          <a:p>
            <a:pPr marL="0" indent="0">
              <a:buNone/>
            </a:pPr>
            <a:r>
              <a:rPr lang="en-US" dirty="0"/>
              <a:t>Research Interests:</a:t>
            </a:r>
          </a:p>
          <a:p>
            <a:pPr marL="0" indent="0">
              <a:buNone/>
            </a:pPr>
            <a:r>
              <a:rPr lang="en-US" dirty="0"/>
              <a:t>Coastal and Estuarine Dynamics; Hydrodynamic and Biophysical Simulations; Machine Learning Models</a:t>
            </a:r>
          </a:p>
          <a:p>
            <a:r>
              <a:rPr lang="en-US" b="1" dirty="0"/>
              <a:t>Yang Song</a:t>
            </a:r>
          </a:p>
          <a:p>
            <a:pPr marL="0" indent="0">
              <a:buNone/>
            </a:pPr>
            <a:r>
              <a:rPr lang="en-US" dirty="0"/>
              <a:t>Assistant Professor in Computer Science, UNCW</a:t>
            </a:r>
          </a:p>
          <a:p>
            <a:pPr marL="0" indent="0">
              <a:buNone/>
            </a:pPr>
            <a:r>
              <a:rPr lang="en-US" dirty="0"/>
              <a:t>Research Interests:</a:t>
            </a:r>
          </a:p>
          <a:p>
            <a:pPr marL="0" indent="0">
              <a:buNone/>
            </a:pPr>
            <a:r>
              <a:rPr lang="en-US" dirty="0"/>
              <a:t>Data mining; Data sciences and analytics; Machine Learning</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12480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56980-5A68-8BA3-7FB0-A8A38A42D222}"/>
              </a:ext>
            </a:extLst>
          </p:cNvPr>
          <p:cNvSpPr>
            <a:spLocks noGrp="1"/>
          </p:cNvSpPr>
          <p:nvPr>
            <p:ph type="title"/>
          </p:nvPr>
        </p:nvSpPr>
        <p:spPr>
          <a:xfrm>
            <a:off x="838200" y="18255"/>
            <a:ext cx="10515600" cy="1325563"/>
          </a:xfrm>
        </p:spPr>
        <p:txBody>
          <a:bodyPr/>
          <a:lstStyle/>
          <a:p>
            <a:r>
              <a:rPr lang="en-US" b="1" dirty="0"/>
              <a:t>PIs</a:t>
            </a:r>
          </a:p>
        </p:txBody>
      </p:sp>
      <p:sp>
        <p:nvSpPr>
          <p:cNvPr id="3" name="Content Placeholder 2">
            <a:extLst>
              <a:ext uri="{FF2B5EF4-FFF2-40B4-BE49-F238E27FC236}">
                <a16:creationId xmlns:a16="http://schemas.microsoft.com/office/drawing/2014/main" id="{66A1B4E7-A88E-09AC-B707-0BCE211C4F4E}"/>
              </a:ext>
            </a:extLst>
          </p:cNvPr>
          <p:cNvSpPr>
            <a:spLocks noGrp="1"/>
          </p:cNvSpPr>
          <p:nvPr>
            <p:ph idx="1"/>
          </p:nvPr>
        </p:nvSpPr>
        <p:spPr>
          <a:xfrm>
            <a:off x="838200" y="1229710"/>
            <a:ext cx="10515600" cy="4947253"/>
          </a:xfrm>
        </p:spPr>
        <p:txBody>
          <a:bodyPr>
            <a:normAutofit fontScale="92500" lnSpcReduction="10000"/>
          </a:bodyPr>
          <a:lstStyle/>
          <a:p>
            <a:r>
              <a:rPr lang="en-US" b="1" dirty="0" err="1"/>
              <a:t>Gulustan</a:t>
            </a:r>
            <a:r>
              <a:rPr lang="en-US" b="1" dirty="0"/>
              <a:t> Dogan</a:t>
            </a:r>
          </a:p>
          <a:p>
            <a:pPr marL="0" indent="0">
              <a:buNone/>
            </a:pPr>
            <a:r>
              <a:rPr lang="en-US" dirty="0"/>
              <a:t>Assistant Professor in Computer Science, UNCW</a:t>
            </a:r>
          </a:p>
          <a:p>
            <a:pPr marL="0" indent="0">
              <a:buNone/>
            </a:pPr>
            <a:r>
              <a:rPr lang="en-US" dirty="0"/>
              <a:t>Research Interests:</a:t>
            </a:r>
          </a:p>
          <a:p>
            <a:pPr marL="0" indent="0">
              <a:buNone/>
            </a:pPr>
            <a:r>
              <a:rPr lang="en-US" dirty="0"/>
              <a:t>Artificial Intelligence, Data Science; Machine Learning; Internet of Things; Motion Analytics and Learning Analytics</a:t>
            </a:r>
          </a:p>
          <a:p>
            <a:pPr marL="0" indent="0">
              <a:buNone/>
            </a:pPr>
            <a:endParaRPr lang="en-US" b="1" dirty="0"/>
          </a:p>
          <a:p>
            <a:r>
              <a:rPr lang="en-US" b="1" dirty="0" err="1"/>
              <a:t>Zhengui</a:t>
            </a:r>
            <a:r>
              <a:rPr lang="en-US" b="1" dirty="0"/>
              <a:t> Wang</a:t>
            </a:r>
          </a:p>
          <a:p>
            <a:pPr marL="0" indent="0">
              <a:buNone/>
            </a:pPr>
            <a:r>
              <a:rPr lang="en-US" dirty="0"/>
              <a:t>Assistant Research Scientist in Center for Coastal Resources Management, Virginia Institute of Marine Science</a:t>
            </a:r>
          </a:p>
          <a:p>
            <a:pPr marL="0" indent="0">
              <a:buNone/>
            </a:pPr>
            <a:r>
              <a:rPr lang="en-US" dirty="0"/>
              <a:t>Research Interests:</a:t>
            </a:r>
          </a:p>
          <a:p>
            <a:pPr marL="0" indent="0">
              <a:buNone/>
            </a:pPr>
            <a:r>
              <a:rPr lang="en-US" dirty="0"/>
              <a:t>Numerical/Hydrodynamic Modeling; Phytoplankton and Nutrients Dynamics</a:t>
            </a:r>
          </a:p>
          <a:p>
            <a:pPr marL="0" indent="0">
              <a:buNone/>
            </a:pPr>
            <a:endParaRPr lang="en-US" b="1" dirty="0"/>
          </a:p>
          <a:p>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15506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e32bd2a-1ccd-49c1-a814-de8553946415}" enabled="1" method="Standard" siteId="{22136781-9753-4c75-af28-68a078871ebf}" contentBits="0" removed="0"/>
</clbl:labelList>
</file>

<file path=docProps/app.xml><?xml version="1.0" encoding="utf-8"?>
<Properties xmlns="http://schemas.openxmlformats.org/officeDocument/2006/extended-properties" xmlns:vt="http://schemas.openxmlformats.org/officeDocument/2006/docPropsVTypes">
  <TotalTime>3905</TotalTime>
  <Words>1284</Words>
  <Application>Microsoft Macintosh PowerPoint</Application>
  <PresentationFormat>Widescreen</PresentationFormat>
  <Paragraphs>184</Paragraphs>
  <Slides>16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Google Sans</vt:lpstr>
      <vt:lpstr>TimesNewRomanPSMT</vt:lpstr>
      <vt:lpstr>Arial</vt:lpstr>
      <vt:lpstr>Calibri</vt:lpstr>
      <vt:lpstr>Calibri Light</vt:lpstr>
      <vt:lpstr>Helvetica</vt:lpstr>
      <vt:lpstr>Roboto</vt:lpstr>
      <vt:lpstr>Office Theme</vt:lpstr>
      <vt:lpstr>Collaborative Research: CyberTraining: Pilot: A Cybertraining Program to Advance Data Acquisition, Processing, and Machine Learning-based Modeling in Marine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2023 Cybertraining Participants  21 selected participants from 12 Institutions Graduate/undergraduate students</vt:lpstr>
      <vt:lpstr>2024 Cybertraining Participants  20 selected participants from 12 Institutions Graduate/undergraduate students</vt:lpstr>
      <vt:lpstr>PowerPoint Presentation</vt:lpstr>
      <vt:lpstr>Center for Marine Science, UNCW</vt:lpstr>
      <vt:lpstr>On-campus Housing</vt:lpstr>
      <vt:lpstr>PIs</vt:lpstr>
      <vt:lpstr>PIs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Liu, Qianqian</dc:creator>
  <cp:lastModifiedBy>Liu, Qianqian</cp:lastModifiedBy>
  <cp:revision>65</cp:revision>
  <cp:lastPrinted>2023-06-04T19:28:48Z</cp:lastPrinted>
  <dcterms:created xsi:type="dcterms:W3CDTF">2023-05-29T15:36:45Z</dcterms:created>
  <dcterms:modified xsi:type="dcterms:W3CDTF">2024-05-19T21:57:11Z</dcterms:modified>
</cp:coreProperties>
</file>