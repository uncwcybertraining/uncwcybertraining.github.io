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1B_20716DAD.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94" r:id="rId2"/>
    <p:sldId id="256" r:id="rId3"/>
    <p:sldId id="276" r:id="rId4"/>
    <p:sldId id="292" r:id="rId5"/>
    <p:sldId id="278" r:id="rId6"/>
    <p:sldId id="277" r:id="rId7"/>
    <p:sldId id="285" r:id="rId8"/>
    <p:sldId id="286" r:id="rId9"/>
    <p:sldId id="282" r:id="rId10"/>
    <p:sldId id="283" r:id="rId11"/>
    <p:sldId id="284" r:id="rId12"/>
    <p:sldId id="298" r:id="rId13"/>
    <p:sldId id="296" r:id="rId14"/>
    <p:sldId id="295" r:id="rId15"/>
    <p:sldId id="281" r:id="rId16"/>
    <p:sldId id="288" r:id="rId17"/>
    <p:sldId id="297" r:id="rId18"/>
    <p:sldId id="274" r:id="rId19"/>
    <p:sldId id="266" r:id="rId20"/>
    <p:sldId id="267" r:id="rId21"/>
    <p:sldId id="258" r:id="rId22"/>
    <p:sldId id="261" r:id="rId23"/>
    <p:sldId id="312" r:id="rId24"/>
    <p:sldId id="262" r:id="rId25"/>
    <p:sldId id="302" r:id="rId26"/>
    <p:sldId id="303" r:id="rId27"/>
    <p:sldId id="310" r:id="rId28"/>
    <p:sldId id="307" r:id="rId29"/>
    <p:sldId id="313" r:id="rId30"/>
    <p:sldId id="311" r:id="rId31"/>
    <p:sldId id="317" r:id="rId32"/>
    <p:sldId id="308" r:id="rId33"/>
    <p:sldId id="314" r:id="rId34"/>
    <p:sldId id="316" r:id="rId35"/>
    <p:sldId id="318" r:id="rId36"/>
    <p:sldId id="315" r:id="rId37"/>
    <p:sldId id="290" r:id="rId38"/>
    <p:sldId id="271" r:id="rId39"/>
    <p:sldId id="265" r:id="rId40"/>
    <p:sldId id="268" r:id="rId41"/>
    <p:sldId id="27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DB2D856-DC36-5586-076A-ADD47A38CF09}" name="Boot, Katherine Elizabeth" initials="KB" userId="S::keb3424@uncw.edu::157326f2-7cb4-447b-af42-b91c78ad3fa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286D4C-B3E1-164A-A56B-D100ED9C9E41}" v="60" dt="2024-05-22T14:51:35.844"/>
    <p1510:client id="{C875FFE2-E376-9B48-BD2D-BDBAAAB1B9B7}" v="807" dt="2024-05-22T13:17:34.7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5"/>
    <p:restoredTop sz="83645"/>
  </p:normalViewPr>
  <p:slideViewPr>
    <p:cSldViewPr snapToGrid="0">
      <p:cViewPr varScale="1">
        <p:scale>
          <a:sx n="92" d="100"/>
          <a:sy n="92" d="100"/>
        </p:scale>
        <p:origin x="131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ot, Katherine Elizabeth" userId="157326f2-7cb4-447b-af42-b91c78ad3fa7" providerId="ADAL" clId="{83286D4C-B3E1-164A-A56B-D100ED9C9E41}"/>
    <pc:docChg chg="undo custSel delSld modSld">
      <pc:chgData name="Boot, Katherine Elizabeth" userId="157326f2-7cb4-447b-af42-b91c78ad3fa7" providerId="ADAL" clId="{83286D4C-B3E1-164A-A56B-D100ED9C9E41}" dt="2024-05-22T14:53:05.791" v="342" actId="2696"/>
      <pc:docMkLst>
        <pc:docMk/>
      </pc:docMkLst>
      <pc:sldChg chg="modSp mod">
        <pc:chgData name="Boot, Katherine Elizabeth" userId="157326f2-7cb4-447b-af42-b91c78ad3fa7" providerId="ADAL" clId="{83286D4C-B3E1-164A-A56B-D100ED9C9E41}" dt="2024-05-22T14:47:02.865" v="270" actId="20577"/>
        <pc:sldMkLst>
          <pc:docMk/>
          <pc:sldMk cId="3751287571" sldId="258"/>
        </pc:sldMkLst>
        <pc:spChg chg="mod">
          <ac:chgData name="Boot, Katherine Elizabeth" userId="157326f2-7cb4-447b-af42-b91c78ad3fa7" providerId="ADAL" clId="{83286D4C-B3E1-164A-A56B-D100ED9C9E41}" dt="2024-05-22T14:47:02.865" v="270" actId="20577"/>
          <ac:spMkLst>
            <pc:docMk/>
            <pc:sldMk cId="3751287571" sldId="258"/>
            <ac:spMk id="5" creationId="{1B8BCA24-47C5-A3CC-7F2B-D7CCD23C956C}"/>
          </ac:spMkLst>
        </pc:spChg>
        <pc:spChg chg="mod">
          <ac:chgData name="Boot, Katherine Elizabeth" userId="157326f2-7cb4-447b-af42-b91c78ad3fa7" providerId="ADAL" clId="{83286D4C-B3E1-164A-A56B-D100ED9C9E41}" dt="2024-05-22T14:46:40.960" v="241" actId="1035"/>
          <ac:spMkLst>
            <pc:docMk/>
            <pc:sldMk cId="3751287571" sldId="258"/>
            <ac:spMk id="6" creationId="{0C9738F3-54C0-DAEE-7154-45D5EB390BA9}"/>
          </ac:spMkLst>
        </pc:spChg>
      </pc:sldChg>
      <pc:sldChg chg="addSp modSp modNotesTx">
        <pc:chgData name="Boot, Katherine Elizabeth" userId="157326f2-7cb4-447b-af42-b91c78ad3fa7" providerId="ADAL" clId="{83286D4C-B3E1-164A-A56B-D100ED9C9E41}" dt="2024-05-22T14:51:35.844" v="329" actId="1076"/>
        <pc:sldMkLst>
          <pc:docMk/>
          <pc:sldMk cId="451511653" sldId="276"/>
        </pc:sldMkLst>
        <pc:picChg chg="add mod">
          <ac:chgData name="Boot, Katherine Elizabeth" userId="157326f2-7cb4-447b-af42-b91c78ad3fa7" providerId="ADAL" clId="{83286D4C-B3E1-164A-A56B-D100ED9C9E41}" dt="2024-05-22T14:50:38.078" v="318" actId="1076"/>
          <ac:picMkLst>
            <pc:docMk/>
            <pc:sldMk cId="451511653" sldId="276"/>
            <ac:picMk id="4" creationId="{74508580-0999-BD20-73B9-38924EBFF6F0}"/>
          </ac:picMkLst>
        </pc:picChg>
        <pc:picChg chg="add mod">
          <ac:chgData name="Boot, Katherine Elizabeth" userId="157326f2-7cb4-447b-af42-b91c78ad3fa7" providerId="ADAL" clId="{83286D4C-B3E1-164A-A56B-D100ED9C9E41}" dt="2024-05-22T14:51:24.462" v="326" actId="1076"/>
          <ac:picMkLst>
            <pc:docMk/>
            <pc:sldMk cId="451511653" sldId="276"/>
            <ac:picMk id="5" creationId="{03CD914A-4F2E-F392-CB49-349D65E2CC03}"/>
          </ac:picMkLst>
        </pc:picChg>
        <pc:picChg chg="mod">
          <ac:chgData name="Boot, Katherine Elizabeth" userId="157326f2-7cb4-447b-af42-b91c78ad3fa7" providerId="ADAL" clId="{83286D4C-B3E1-164A-A56B-D100ED9C9E41}" dt="2024-05-22T14:51:35.844" v="329" actId="1076"/>
          <ac:picMkLst>
            <pc:docMk/>
            <pc:sldMk cId="451511653" sldId="276"/>
            <ac:picMk id="3076" creationId="{E89B4D09-0F6D-55D0-778E-071DE364FA90}"/>
          </ac:picMkLst>
        </pc:picChg>
      </pc:sldChg>
      <pc:sldChg chg="modSp mod">
        <pc:chgData name="Boot, Katherine Elizabeth" userId="157326f2-7cb4-447b-af42-b91c78ad3fa7" providerId="ADAL" clId="{83286D4C-B3E1-164A-A56B-D100ED9C9E41}" dt="2024-05-22T14:37:31.276" v="156" actId="1035"/>
        <pc:sldMkLst>
          <pc:docMk/>
          <pc:sldMk cId="1966676931" sldId="277"/>
        </pc:sldMkLst>
        <pc:spChg chg="mod">
          <ac:chgData name="Boot, Katherine Elizabeth" userId="157326f2-7cb4-447b-af42-b91c78ad3fa7" providerId="ADAL" clId="{83286D4C-B3E1-164A-A56B-D100ED9C9E41}" dt="2024-05-22T14:37:31.276" v="156" actId="1035"/>
          <ac:spMkLst>
            <pc:docMk/>
            <pc:sldMk cId="1966676931" sldId="277"/>
            <ac:spMk id="4" creationId="{041F1F2B-BB54-F62C-45BB-B6CABD96BE2B}"/>
          </ac:spMkLst>
        </pc:spChg>
      </pc:sldChg>
      <pc:sldChg chg="modSp mod">
        <pc:chgData name="Boot, Katherine Elizabeth" userId="157326f2-7cb4-447b-af42-b91c78ad3fa7" providerId="ADAL" clId="{83286D4C-B3E1-164A-A56B-D100ED9C9E41}" dt="2024-05-22T14:45:12.364" v="158" actId="27636"/>
        <pc:sldMkLst>
          <pc:docMk/>
          <pc:sldMk cId="3798660381" sldId="278"/>
        </pc:sldMkLst>
        <pc:spChg chg="mod">
          <ac:chgData name="Boot, Katherine Elizabeth" userId="157326f2-7cb4-447b-af42-b91c78ad3fa7" providerId="ADAL" clId="{83286D4C-B3E1-164A-A56B-D100ED9C9E41}" dt="2024-05-22T14:45:12.364" v="158" actId="27636"/>
          <ac:spMkLst>
            <pc:docMk/>
            <pc:sldMk cId="3798660381" sldId="278"/>
            <ac:spMk id="3" creationId="{02AFD86D-2E06-D494-40B9-417DDDE9530A}"/>
          </ac:spMkLst>
        </pc:spChg>
      </pc:sldChg>
      <pc:sldChg chg="modNotesTx">
        <pc:chgData name="Boot, Katherine Elizabeth" userId="157326f2-7cb4-447b-af42-b91c78ad3fa7" providerId="ADAL" clId="{83286D4C-B3E1-164A-A56B-D100ED9C9E41}" dt="2024-05-22T14:33:11.702" v="143" actId="20577"/>
        <pc:sldMkLst>
          <pc:docMk/>
          <pc:sldMk cId="865867280" sldId="292"/>
        </pc:sldMkLst>
      </pc:sldChg>
      <pc:sldChg chg="addSp delSp modSp del mod modNotesTx">
        <pc:chgData name="Boot, Katherine Elizabeth" userId="157326f2-7cb4-447b-af42-b91c78ad3fa7" providerId="ADAL" clId="{83286D4C-B3E1-164A-A56B-D100ED9C9E41}" dt="2024-05-22T14:53:05.791" v="342" actId="2696"/>
        <pc:sldMkLst>
          <pc:docMk/>
          <pc:sldMk cId="1184546563" sldId="293"/>
        </pc:sldMkLst>
        <pc:spChg chg="mod">
          <ac:chgData name="Boot, Katherine Elizabeth" userId="157326f2-7cb4-447b-af42-b91c78ad3fa7" providerId="ADAL" clId="{83286D4C-B3E1-164A-A56B-D100ED9C9E41}" dt="2024-05-22T14:52:40.097" v="341" actId="122"/>
          <ac:spMkLst>
            <pc:docMk/>
            <pc:sldMk cId="1184546563" sldId="293"/>
            <ac:spMk id="2" creationId="{7430A539-A1A6-835B-E491-85777A39FE3E}"/>
          </ac:spMkLst>
        </pc:spChg>
        <pc:picChg chg="add del mod">
          <ac:chgData name="Boot, Katherine Elizabeth" userId="157326f2-7cb4-447b-af42-b91c78ad3fa7" providerId="ADAL" clId="{83286D4C-B3E1-164A-A56B-D100ED9C9E41}" dt="2024-05-22T14:50:47.405" v="320" actId="478"/>
          <ac:picMkLst>
            <pc:docMk/>
            <pc:sldMk cId="1184546563" sldId="293"/>
            <ac:picMk id="4" creationId="{660582F6-557E-5BB5-45DA-7CD589D70B23}"/>
          </ac:picMkLst>
        </pc:picChg>
        <pc:picChg chg="add mod">
          <ac:chgData name="Boot, Katherine Elizabeth" userId="157326f2-7cb4-447b-af42-b91c78ad3fa7" providerId="ADAL" clId="{83286D4C-B3E1-164A-A56B-D100ED9C9E41}" dt="2024-05-22T14:51:02.195" v="323" actId="1076"/>
          <ac:picMkLst>
            <pc:docMk/>
            <pc:sldMk cId="1184546563" sldId="293"/>
            <ac:picMk id="1026" creationId="{74CFFDBB-5EB3-9E10-3790-B24F36BAFE0D}"/>
          </ac:picMkLst>
        </pc:picChg>
        <pc:picChg chg="del">
          <ac:chgData name="Boot, Katherine Elizabeth" userId="157326f2-7cb4-447b-af42-b91c78ad3fa7" providerId="ADAL" clId="{83286D4C-B3E1-164A-A56B-D100ED9C9E41}" dt="2024-05-22T14:50:05.425" v="309" actId="21"/>
          <ac:picMkLst>
            <pc:docMk/>
            <pc:sldMk cId="1184546563" sldId="293"/>
            <ac:picMk id="3074" creationId="{01F97A3F-9D90-C33D-40B4-64806D8F49C1}"/>
          </ac:picMkLst>
        </pc:picChg>
      </pc:sldChg>
      <pc:sldChg chg="modSp mod">
        <pc:chgData name="Boot, Katherine Elizabeth" userId="157326f2-7cb4-447b-af42-b91c78ad3fa7" providerId="ADAL" clId="{83286D4C-B3E1-164A-A56B-D100ED9C9E41}" dt="2024-05-22T14:48:40.986" v="275" actId="20577"/>
        <pc:sldMkLst>
          <pc:docMk/>
          <pc:sldMk cId="776653522" sldId="295"/>
        </pc:sldMkLst>
        <pc:spChg chg="mod">
          <ac:chgData name="Boot, Katherine Elizabeth" userId="157326f2-7cb4-447b-af42-b91c78ad3fa7" providerId="ADAL" clId="{83286D4C-B3E1-164A-A56B-D100ED9C9E41}" dt="2024-05-22T14:48:40.986" v="275" actId="20577"/>
          <ac:spMkLst>
            <pc:docMk/>
            <pc:sldMk cId="776653522" sldId="295"/>
            <ac:spMk id="5" creationId="{02640982-EF22-C36C-C32B-DBC773ECAD7E}"/>
          </ac:spMkLst>
        </pc:spChg>
      </pc:sldChg>
      <pc:sldChg chg="modSp mod modNotesTx">
        <pc:chgData name="Boot, Katherine Elizabeth" userId="157326f2-7cb4-447b-af42-b91c78ad3fa7" providerId="ADAL" clId="{83286D4C-B3E1-164A-A56B-D100ED9C9E41}" dt="2024-05-22T13:30:23.201" v="123"/>
        <pc:sldMkLst>
          <pc:docMk/>
          <pc:sldMk cId="2788470690" sldId="310"/>
        </pc:sldMkLst>
        <pc:spChg chg="mod">
          <ac:chgData name="Boot, Katherine Elizabeth" userId="157326f2-7cb4-447b-af42-b91c78ad3fa7" providerId="ADAL" clId="{83286D4C-B3E1-164A-A56B-D100ED9C9E41}" dt="2024-05-22T13:29:15.204" v="12" actId="20577"/>
          <ac:spMkLst>
            <pc:docMk/>
            <pc:sldMk cId="2788470690" sldId="310"/>
            <ac:spMk id="13" creationId="{89D1C047-BE0E-D50D-F5C1-ABD03F43940B}"/>
          </ac:spMkLst>
        </pc:spChg>
      </pc:sldChg>
      <pc:sldChg chg="modSp mod">
        <pc:chgData name="Boot, Katherine Elizabeth" userId="157326f2-7cb4-447b-af42-b91c78ad3fa7" providerId="ADAL" clId="{83286D4C-B3E1-164A-A56B-D100ED9C9E41}" dt="2024-05-22T13:31:16.035" v="125" actId="20577"/>
        <pc:sldMkLst>
          <pc:docMk/>
          <pc:sldMk cId="1549407174" sldId="311"/>
        </pc:sldMkLst>
        <pc:spChg chg="mod">
          <ac:chgData name="Boot, Katherine Elizabeth" userId="157326f2-7cb4-447b-af42-b91c78ad3fa7" providerId="ADAL" clId="{83286D4C-B3E1-164A-A56B-D100ED9C9E41}" dt="2024-05-22T13:31:16.035" v="125" actId="20577"/>
          <ac:spMkLst>
            <pc:docMk/>
            <pc:sldMk cId="1549407174" sldId="311"/>
            <ac:spMk id="3" creationId="{DC14E757-ED3C-0A3F-4E24-578F1F073B62}"/>
          </ac:spMkLst>
        </pc:spChg>
      </pc:sldChg>
    </pc:docChg>
  </pc:docChgLst>
</pc:chgInfo>
</file>

<file path=ppt/comments/modernComment_11B_20716DAD.xml><?xml version="1.0" encoding="utf-8"?>
<p188:cmLst xmlns:a="http://schemas.openxmlformats.org/drawingml/2006/main" xmlns:r="http://schemas.openxmlformats.org/officeDocument/2006/relationships" xmlns:p188="http://schemas.microsoft.com/office/powerpoint/2018/8/main">
  <p188:cm id="{77C783D0-5FD2-6C4D-A763-7448FF7B536B}" authorId="{6DB2D856-DC36-5586-076A-ADD47A38CF09}" created="2024-05-21T16:12:04.340">
    <pc:sldMkLst xmlns:pc="http://schemas.microsoft.com/office/powerpoint/2013/main/command">
      <pc:docMk/>
      <pc:sldMk cId="544304557" sldId="283"/>
    </pc:sldMkLst>
    <p188:txBody>
      <a:bodyPr/>
      <a:lstStyle/>
      <a:p>
        <a:r>
          <a:rPr lang="en-US"/>
          <a:t>What is the projects folder for this class? (Not unc107 or unc108?)</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72C744-6474-3540-B796-9842FB9D2ED8}" type="doc">
      <dgm:prSet loTypeId="urn:microsoft.com/office/officeart/2005/8/layout/default" loCatId="" qsTypeId="urn:microsoft.com/office/officeart/2005/8/quickstyle/simple1" qsCatId="simple" csTypeId="urn:microsoft.com/office/officeart/2005/8/colors/accent1_2" csCatId="accent1" phldr="1"/>
      <dgm:spPr/>
      <dgm:t>
        <a:bodyPr/>
        <a:lstStyle/>
        <a:p>
          <a:endParaRPr lang="en-US"/>
        </a:p>
      </dgm:t>
    </dgm:pt>
    <dgm:pt modelId="{160F29CE-E371-C84F-846D-F33A7BADB251}">
      <dgm:prSet phldrT="[Text]"/>
      <dgm:spPr>
        <a:solidFill>
          <a:schemeClr val="accent2">
            <a:lumMod val="75000"/>
          </a:schemeClr>
        </a:solidFill>
      </dgm:spPr>
      <dgm:t>
        <a:bodyPr/>
        <a:lstStyle/>
        <a:p>
          <a:pPr>
            <a:buNone/>
          </a:pPr>
          <a:r>
            <a:rPr lang="en-US" b="1" u="sng" dirty="0">
              <a:solidFill>
                <a:schemeClr val="bg1"/>
              </a:solidFill>
              <a:latin typeface="-apple-system"/>
            </a:rPr>
            <a:t>R  &amp; RStudio</a:t>
          </a:r>
        </a:p>
        <a:p>
          <a:pPr>
            <a:buNone/>
          </a:pPr>
          <a:r>
            <a:rPr lang="en-US" b="1" dirty="0">
              <a:solidFill>
                <a:schemeClr val="bg1"/>
              </a:solidFill>
              <a:latin typeface="-apple-system"/>
            </a:rPr>
            <a:t>.</a:t>
          </a:r>
          <a:r>
            <a:rPr lang="en-US" b="1" dirty="0" err="1">
              <a:solidFill>
                <a:schemeClr val="bg1"/>
              </a:solidFill>
              <a:latin typeface="-apple-system"/>
            </a:rPr>
            <a:t>Rdata</a:t>
          </a:r>
          <a:r>
            <a:rPr lang="en-US" b="1" dirty="0">
              <a:solidFill>
                <a:schemeClr val="bg1"/>
              </a:solidFill>
              <a:latin typeface="-apple-system"/>
            </a:rPr>
            <a:t> </a:t>
          </a:r>
          <a:r>
            <a:rPr lang="en-US" dirty="0">
              <a:solidFill>
                <a:schemeClr val="bg1"/>
              </a:solidFill>
              <a:latin typeface="-apple-system"/>
            </a:rPr>
            <a:t>– R formatted data</a:t>
          </a:r>
        </a:p>
        <a:p>
          <a:pPr>
            <a:buNone/>
          </a:pPr>
          <a:r>
            <a:rPr lang="en-US" b="1" dirty="0">
              <a:solidFill>
                <a:schemeClr val="bg1"/>
              </a:solidFill>
              <a:latin typeface="-apple-system"/>
            </a:rPr>
            <a:t>.</a:t>
          </a:r>
          <a:r>
            <a:rPr lang="en-US" b="1" dirty="0" err="1">
              <a:solidFill>
                <a:schemeClr val="bg1"/>
              </a:solidFill>
              <a:latin typeface="-apple-system"/>
            </a:rPr>
            <a:t>rmd</a:t>
          </a:r>
          <a:r>
            <a:rPr lang="en-US" b="1" dirty="0">
              <a:solidFill>
                <a:schemeClr val="bg1"/>
              </a:solidFill>
              <a:latin typeface="-apple-system"/>
            </a:rPr>
            <a:t>  </a:t>
          </a:r>
          <a:r>
            <a:rPr lang="en-US" dirty="0">
              <a:solidFill>
                <a:schemeClr val="bg1"/>
              </a:solidFill>
              <a:latin typeface="-apple-system"/>
            </a:rPr>
            <a:t>- R Markdown</a:t>
          </a:r>
        </a:p>
        <a:p>
          <a:pPr>
            <a:buNone/>
          </a:pPr>
          <a:r>
            <a:rPr lang="en-US" b="1" dirty="0">
              <a:solidFill>
                <a:schemeClr val="bg1"/>
              </a:solidFill>
              <a:latin typeface="-apple-system"/>
            </a:rPr>
            <a:t>.r </a:t>
          </a:r>
          <a:r>
            <a:rPr lang="en-US" dirty="0">
              <a:solidFill>
                <a:schemeClr val="bg1"/>
              </a:solidFill>
              <a:latin typeface="-apple-system"/>
            </a:rPr>
            <a:t>– R code</a:t>
          </a:r>
          <a:endParaRPr lang="en-US" dirty="0">
            <a:solidFill>
              <a:schemeClr val="bg1"/>
            </a:solidFill>
          </a:endParaRPr>
        </a:p>
      </dgm:t>
    </dgm:pt>
    <dgm:pt modelId="{D3D2EB84-C7E9-614B-AC6F-D6D0AFAFA28A}" type="parTrans" cxnId="{7E34DB06-A002-DA46-A71F-95EA10FDD9F0}">
      <dgm:prSet/>
      <dgm:spPr/>
      <dgm:t>
        <a:bodyPr/>
        <a:lstStyle/>
        <a:p>
          <a:endParaRPr lang="en-US">
            <a:solidFill>
              <a:schemeClr val="bg1"/>
            </a:solidFill>
          </a:endParaRPr>
        </a:p>
      </dgm:t>
    </dgm:pt>
    <dgm:pt modelId="{A5DDE86F-8C3E-064E-B0BE-001EB3ACAC4D}" type="sibTrans" cxnId="{7E34DB06-A002-DA46-A71F-95EA10FDD9F0}">
      <dgm:prSet/>
      <dgm:spPr/>
      <dgm:t>
        <a:bodyPr/>
        <a:lstStyle/>
        <a:p>
          <a:endParaRPr lang="en-US">
            <a:solidFill>
              <a:schemeClr val="bg1"/>
            </a:solidFill>
          </a:endParaRPr>
        </a:p>
      </dgm:t>
    </dgm:pt>
    <dgm:pt modelId="{0BB410C5-CC35-2D49-AA4D-0D9BB79649AC}">
      <dgm:prSet phldrT="[Text]"/>
      <dgm:spPr>
        <a:solidFill>
          <a:schemeClr val="accent6">
            <a:lumMod val="75000"/>
          </a:schemeClr>
        </a:solidFill>
      </dgm:spPr>
      <dgm:t>
        <a:bodyPr/>
        <a:lstStyle/>
        <a:p>
          <a:pPr>
            <a:buNone/>
          </a:pPr>
          <a:r>
            <a:rPr lang="en-US" b="1" i="0" u="sng" dirty="0">
              <a:solidFill>
                <a:schemeClr val="bg1"/>
              </a:solidFill>
              <a:effectLst/>
              <a:latin typeface="-apple-system"/>
            </a:rPr>
            <a:t>Matlab </a:t>
          </a:r>
        </a:p>
        <a:p>
          <a:pPr>
            <a:buNone/>
          </a:pPr>
          <a:r>
            <a:rPr lang="en-US" b="0" i="0" dirty="0">
              <a:solidFill>
                <a:schemeClr val="bg1"/>
              </a:solidFill>
              <a:effectLst/>
              <a:latin typeface="-apple-system"/>
            </a:rPr>
            <a:t>.</a:t>
          </a:r>
          <a:r>
            <a:rPr lang="en-US" b="1" i="0" dirty="0">
              <a:solidFill>
                <a:schemeClr val="bg1"/>
              </a:solidFill>
              <a:effectLst/>
              <a:latin typeface="-apple-system"/>
            </a:rPr>
            <a:t>mat</a:t>
          </a:r>
          <a:r>
            <a:rPr lang="en-US" dirty="0">
              <a:solidFill>
                <a:schemeClr val="bg1"/>
              </a:solidFill>
              <a:latin typeface="-apple-system"/>
            </a:rPr>
            <a:t> </a:t>
          </a:r>
          <a:r>
            <a:rPr lang="en-US" b="0" i="0" dirty="0">
              <a:solidFill>
                <a:schemeClr val="bg1"/>
              </a:solidFill>
              <a:effectLst/>
              <a:latin typeface="-apple-system"/>
            </a:rPr>
            <a:t> - MATLAB formatted data</a:t>
          </a:r>
        </a:p>
        <a:p>
          <a:pPr>
            <a:buNone/>
          </a:pPr>
          <a:r>
            <a:rPr lang="en-US" b="1" i="0" dirty="0">
              <a:solidFill>
                <a:schemeClr val="bg1"/>
              </a:solidFill>
              <a:effectLst/>
              <a:latin typeface="-apple-system"/>
            </a:rPr>
            <a:t>.m</a:t>
          </a:r>
          <a:r>
            <a:rPr lang="en-US" b="0" i="0" dirty="0">
              <a:solidFill>
                <a:schemeClr val="bg1"/>
              </a:solidFill>
              <a:effectLst/>
              <a:latin typeface="-apple-system"/>
            </a:rPr>
            <a:t> – functions/code</a:t>
          </a:r>
        </a:p>
        <a:p>
          <a:pPr>
            <a:buNone/>
          </a:pPr>
          <a:r>
            <a:rPr lang="en-US" b="1" i="0" dirty="0">
              <a:solidFill>
                <a:schemeClr val="bg1"/>
              </a:solidFill>
              <a:effectLst/>
              <a:latin typeface="-apple-system"/>
            </a:rPr>
            <a:t>.mlx </a:t>
          </a:r>
          <a:r>
            <a:rPr lang="en-US" b="0" i="0" dirty="0">
              <a:solidFill>
                <a:schemeClr val="bg1"/>
              </a:solidFill>
              <a:effectLst/>
              <a:latin typeface="-apple-system"/>
            </a:rPr>
            <a:t>– </a:t>
          </a:r>
          <a:r>
            <a:rPr lang="en-US" b="0" i="0" dirty="0" err="1">
              <a:solidFill>
                <a:schemeClr val="bg1"/>
              </a:solidFill>
              <a:effectLst/>
              <a:latin typeface="-apple-system"/>
            </a:rPr>
            <a:t>livescript</a:t>
          </a:r>
          <a:r>
            <a:rPr lang="en-US" b="0" i="0" dirty="0">
              <a:solidFill>
                <a:schemeClr val="bg1"/>
              </a:solidFill>
              <a:effectLst/>
              <a:latin typeface="-apple-system"/>
            </a:rPr>
            <a:t> </a:t>
          </a:r>
          <a:endParaRPr lang="en-US" dirty="0">
            <a:solidFill>
              <a:schemeClr val="bg1"/>
            </a:solidFill>
          </a:endParaRPr>
        </a:p>
      </dgm:t>
    </dgm:pt>
    <dgm:pt modelId="{9D94F489-D615-1F41-9963-A511DE564522}" type="parTrans" cxnId="{2B64794C-B233-4247-8326-688C0BCFDD8D}">
      <dgm:prSet/>
      <dgm:spPr/>
      <dgm:t>
        <a:bodyPr/>
        <a:lstStyle/>
        <a:p>
          <a:endParaRPr lang="en-US">
            <a:solidFill>
              <a:schemeClr val="bg1"/>
            </a:solidFill>
          </a:endParaRPr>
        </a:p>
      </dgm:t>
    </dgm:pt>
    <dgm:pt modelId="{F6156453-A432-C740-B843-A349591EAF3B}" type="sibTrans" cxnId="{2B64794C-B233-4247-8326-688C0BCFDD8D}">
      <dgm:prSet/>
      <dgm:spPr/>
      <dgm:t>
        <a:bodyPr/>
        <a:lstStyle/>
        <a:p>
          <a:endParaRPr lang="en-US">
            <a:solidFill>
              <a:schemeClr val="bg1"/>
            </a:solidFill>
          </a:endParaRPr>
        </a:p>
      </dgm:t>
    </dgm:pt>
    <dgm:pt modelId="{9F5883AE-2EB6-4842-8333-E74382C768D3}">
      <dgm:prSet phldrT="[Text]"/>
      <dgm:spPr/>
      <dgm:t>
        <a:bodyPr/>
        <a:lstStyle/>
        <a:p>
          <a:pPr>
            <a:buNone/>
          </a:pPr>
          <a:r>
            <a:rPr lang="en-US" b="1" u="sng" dirty="0">
              <a:solidFill>
                <a:schemeClr val="bg1"/>
              </a:solidFill>
              <a:latin typeface="-apple-system"/>
            </a:rPr>
            <a:t>Python </a:t>
          </a:r>
        </a:p>
        <a:p>
          <a:pPr>
            <a:buNone/>
          </a:pPr>
          <a:r>
            <a:rPr lang="en-US" b="1" dirty="0">
              <a:solidFill>
                <a:schemeClr val="bg1"/>
              </a:solidFill>
              <a:latin typeface="-apple-system"/>
            </a:rPr>
            <a:t>.py</a:t>
          </a:r>
          <a:r>
            <a:rPr lang="en-US" dirty="0">
              <a:solidFill>
                <a:schemeClr val="bg1"/>
              </a:solidFill>
              <a:latin typeface="-apple-system"/>
            </a:rPr>
            <a:t> – functions/code </a:t>
          </a:r>
        </a:p>
        <a:p>
          <a:pPr>
            <a:buNone/>
          </a:pPr>
          <a:r>
            <a:rPr lang="en-US" b="1" dirty="0">
              <a:solidFill>
                <a:schemeClr val="bg1"/>
              </a:solidFill>
              <a:latin typeface="-apple-system"/>
            </a:rPr>
            <a:t>.ipynb</a:t>
          </a:r>
          <a:r>
            <a:rPr lang="en-US" dirty="0">
              <a:solidFill>
                <a:schemeClr val="bg1"/>
              </a:solidFill>
              <a:latin typeface="-apple-system"/>
            </a:rPr>
            <a:t> – Interactive Python Notebook</a:t>
          </a:r>
          <a:endParaRPr lang="en-US" dirty="0">
            <a:solidFill>
              <a:schemeClr val="bg1"/>
            </a:solidFill>
          </a:endParaRPr>
        </a:p>
      </dgm:t>
    </dgm:pt>
    <dgm:pt modelId="{4E4BBD1F-BEE5-A748-B054-E747597872DB}" type="parTrans" cxnId="{193D8429-6041-134A-88DE-EDA9EE713301}">
      <dgm:prSet/>
      <dgm:spPr/>
      <dgm:t>
        <a:bodyPr/>
        <a:lstStyle/>
        <a:p>
          <a:endParaRPr lang="en-US">
            <a:solidFill>
              <a:schemeClr val="bg1"/>
            </a:solidFill>
          </a:endParaRPr>
        </a:p>
      </dgm:t>
    </dgm:pt>
    <dgm:pt modelId="{590E571A-7FD9-5943-B1C4-34DA1FEAE88C}" type="sibTrans" cxnId="{193D8429-6041-134A-88DE-EDA9EE713301}">
      <dgm:prSet/>
      <dgm:spPr/>
      <dgm:t>
        <a:bodyPr/>
        <a:lstStyle/>
        <a:p>
          <a:endParaRPr lang="en-US">
            <a:solidFill>
              <a:schemeClr val="bg1"/>
            </a:solidFill>
          </a:endParaRPr>
        </a:p>
      </dgm:t>
    </dgm:pt>
    <dgm:pt modelId="{99E77F29-1297-C14F-911C-588FE3D08EEE}">
      <dgm:prSet phldrT="[Text]"/>
      <dgm:spPr>
        <a:solidFill>
          <a:srgbClr val="C00000"/>
        </a:solidFill>
      </dgm:spPr>
      <dgm:t>
        <a:bodyPr/>
        <a:lstStyle/>
        <a:p>
          <a:pPr>
            <a:buNone/>
          </a:pPr>
          <a:r>
            <a:rPr lang="en-US" b="1" i="0" u="sng" dirty="0">
              <a:solidFill>
                <a:schemeClr val="bg1"/>
              </a:solidFill>
              <a:effectLst/>
              <a:latin typeface="-apple-system"/>
            </a:rPr>
            <a:t>Data Storage</a:t>
          </a:r>
        </a:p>
        <a:p>
          <a:pPr>
            <a:buNone/>
          </a:pPr>
          <a:r>
            <a:rPr lang="en-US" b="1" i="0" dirty="0">
              <a:solidFill>
                <a:schemeClr val="bg1"/>
              </a:solidFill>
              <a:effectLst/>
              <a:latin typeface="-apple-system"/>
            </a:rPr>
            <a:t>.</a:t>
          </a:r>
          <a:r>
            <a:rPr lang="en-US" b="1" i="0" dirty="0" err="1">
              <a:solidFill>
                <a:schemeClr val="bg1"/>
              </a:solidFill>
              <a:effectLst/>
              <a:latin typeface="-apple-system"/>
            </a:rPr>
            <a:t>nc</a:t>
          </a:r>
          <a:r>
            <a:rPr lang="en-US" b="1" i="0" dirty="0">
              <a:solidFill>
                <a:schemeClr val="bg1"/>
              </a:solidFill>
              <a:effectLst/>
              <a:latin typeface="-apple-system"/>
            </a:rPr>
            <a:t> </a:t>
          </a:r>
          <a:r>
            <a:rPr lang="en-US" b="0" i="0" dirty="0">
              <a:solidFill>
                <a:schemeClr val="bg1"/>
              </a:solidFill>
              <a:effectLst/>
              <a:latin typeface="-apple-system"/>
            </a:rPr>
            <a:t>– NetCDF </a:t>
          </a:r>
        </a:p>
        <a:p>
          <a:pPr>
            <a:buNone/>
          </a:pPr>
          <a:r>
            <a:rPr lang="en-US" b="1" dirty="0">
              <a:solidFill>
                <a:schemeClr val="bg1"/>
              </a:solidFill>
              <a:latin typeface="-apple-system"/>
            </a:rPr>
            <a:t>.txt </a:t>
          </a:r>
          <a:r>
            <a:rPr lang="en-US" dirty="0">
              <a:solidFill>
                <a:schemeClr val="bg1"/>
              </a:solidFill>
              <a:latin typeface="-apple-system"/>
            </a:rPr>
            <a:t>– Text File</a:t>
          </a:r>
        </a:p>
        <a:p>
          <a:pPr>
            <a:buNone/>
          </a:pPr>
          <a:r>
            <a:rPr lang="en-US" b="1" i="0" dirty="0">
              <a:solidFill>
                <a:schemeClr val="bg1"/>
              </a:solidFill>
              <a:effectLst/>
              <a:latin typeface="-apple-system"/>
            </a:rPr>
            <a:t>.csv </a:t>
          </a:r>
          <a:r>
            <a:rPr lang="en-US" b="0" i="0" dirty="0">
              <a:solidFill>
                <a:schemeClr val="bg1"/>
              </a:solidFill>
              <a:effectLst/>
              <a:latin typeface="-apple-system"/>
            </a:rPr>
            <a:t>– Spreadsheet </a:t>
          </a:r>
          <a:endParaRPr lang="en-US" dirty="0">
            <a:solidFill>
              <a:schemeClr val="bg1"/>
            </a:solidFill>
          </a:endParaRPr>
        </a:p>
      </dgm:t>
    </dgm:pt>
    <dgm:pt modelId="{DC6A214A-80A4-7D4C-8D54-C87306AE9FAE}" type="parTrans" cxnId="{BEA88A2C-A607-184F-A5B7-8ADD3D391105}">
      <dgm:prSet/>
      <dgm:spPr/>
      <dgm:t>
        <a:bodyPr/>
        <a:lstStyle/>
        <a:p>
          <a:endParaRPr lang="en-US">
            <a:solidFill>
              <a:schemeClr val="bg1"/>
            </a:solidFill>
          </a:endParaRPr>
        </a:p>
      </dgm:t>
    </dgm:pt>
    <dgm:pt modelId="{7D51E7CC-07AA-C041-8EE6-2EB09A772406}" type="sibTrans" cxnId="{BEA88A2C-A607-184F-A5B7-8ADD3D391105}">
      <dgm:prSet/>
      <dgm:spPr/>
      <dgm:t>
        <a:bodyPr/>
        <a:lstStyle/>
        <a:p>
          <a:endParaRPr lang="en-US">
            <a:solidFill>
              <a:schemeClr val="bg1"/>
            </a:solidFill>
          </a:endParaRPr>
        </a:p>
      </dgm:t>
    </dgm:pt>
    <dgm:pt modelId="{A3AF0F40-A997-7047-8629-E7FE294E6CBF}" type="pres">
      <dgm:prSet presAssocID="{4972C744-6474-3540-B796-9842FB9D2ED8}" presName="diagram" presStyleCnt="0">
        <dgm:presLayoutVars>
          <dgm:dir/>
          <dgm:resizeHandles val="exact"/>
        </dgm:presLayoutVars>
      </dgm:prSet>
      <dgm:spPr/>
    </dgm:pt>
    <dgm:pt modelId="{FC76D581-FD11-B14C-9D63-93F64DB2D8FA}" type="pres">
      <dgm:prSet presAssocID="{160F29CE-E371-C84F-846D-F33A7BADB251}" presName="node" presStyleLbl="node1" presStyleIdx="0" presStyleCnt="4" custLinFactY="100000" custLinFactNeighborX="-501" custLinFactNeighborY="133635">
        <dgm:presLayoutVars>
          <dgm:bulletEnabled val="1"/>
        </dgm:presLayoutVars>
      </dgm:prSet>
      <dgm:spPr/>
    </dgm:pt>
    <dgm:pt modelId="{16B6DD8D-EFD8-2A49-98AB-980154E708B6}" type="pres">
      <dgm:prSet presAssocID="{A5DDE86F-8C3E-064E-B0BE-001EB3ACAC4D}" presName="sibTrans" presStyleCnt="0"/>
      <dgm:spPr/>
    </dgm:pt>
    <dgm:pt modelId="{48B687E3-01F1-7247-92AF-3571A14A0DA7}" type="pres">
      <dgm:prSet presAssocID="{0BB410C5-CC35-2D49-AA4D-0D9BB79649AC}" presName="node" presStyleLbl="node1" presStyleIdx="1" presStyleCnt="4">
        <dgm:presLayoutVars>
          <dgm:bulletEnabled val="1"/>
        </dgm:presLayoutVars>
      </dgm:prSet>
      <dgm:spPr/>
    </dgm:pt>
    <dgm:pt modelId="{B7596B18-19B1-CB41-8E97-C378EDDD0E52}" type="pres">
      <dgm:prSet presAssocID="{F6156453-A432-C740-B843-A349591EAF3B}" presName="sibTrans" presStyleCnt="0"/>
      <dgm:spPr/>
    </dgm:pt>
    <dgm:pt modelId="{AB569484-1B26-C647-B0D8-60C95E8B2FF5}" type="pres">
      <dgm:prSet presAssocID="{9F5883AE-2EB6-4842-8333-E74382C768D3}" presName="node" presStyleLbl="node1" presStyleIdx="2" presStyleCnt="4" custLinFactY="-100000" custLinFactNeighborX="-353" custLinFactNeighborY="-130431">
        <dgm:presLayoutVars>
          <dgm:bulletEnabled val="1"/>
        </dgm:presLayoutVars>
      </dgm:prSet>
      <dgm:spPr/>
    </dgm:pt>
    <dgm:pt modelId="{B07DA9A5-1C79-9646-9DCD-4E010831AEC5}" type="pres">
      <dgm:prSet presAssocID="{590E571A-7FD9-5943-B1C4-34DA1FEAE88C}" presName="sibTrans" presStyleCnt="0"/>
      <dgm:spPr/>
    </dgm:pt>
    <dgm:pt modelId="{CBEF1185-8119-9D4F-A50B-875228872310}" type="pres">
      <dgm:prSet presAssocID="{99E77F29-1297-C14F-911C-588FE3D08EEE}" presName="node" presStyleLbl="node1" presStyleIdx="3" presStyleCnt="4">
        <dgm:presLayoutVars>
          <dgm:bulletEnabled val="1"/>
        </dgm:presLayoutVars>
      </dgm:prSet>
      <dgm:spPr/>
    </dgm:pt>
  </dgm:ptLst>
  <dgm:cxnLst>
    <dgm:cxn modelId="{7E34DB06-A002-DA46-A71F-95EA10FDD9F0}" srcId="{4972C744-6474-3540-B796-9842FB9D2ED8}" destId="{160F29CE-E371-C84F-846D-F33A7BADB251}" srcOrd="0" destOrd="0" parTransId="{D3D2EB84-C7E9-614B-AC6F-D6D0AFAFA28A}" sibTransId="{A5DDE86F-8C3E-064E-B0BE-001EB3ACAC4D}"/>
    <dgm:cxn modelId="{193D8429-6041-134A-88DE-EDA9EE713301}" srcId="{4972C744-6474-3540-B796-9842FB9D2ED8}" destId="{9F5883AE-2EB6-4842-8333-E74382C768D3}" srcOrd="2" destOrd="0" parTransId="{4E4BBD1F-BEE5-A748-B054-E747597872DB}" sibTransId="{590E571A-7FD9-5943-B1C4-34DA1FEAE88C}"/>
    <dgm:cxn modelId="{BEA88A2C-A607-184F-A5B7-8ADD3D391105}" srcId="{4972C744-6474-3540-B796-9842FB9D2ED8}" destId="{99E77F29-1297-C14F-911C-588FE3D08EEE}" srcOrd="3" destOrd="0" parTransId="{DC6A214A-80A4-7D4C-8D54-C87306AE9FAE}" sibTransId="{7D51E7CC-07AA-C041-8EE6-2EB09A772406}"/>
    <dgm:cxn modelId="{F9377130-3548-F44C-AA34-2351CC8707CF}" type="presOf" srcId="{9F5883AE-2EB6-4842-8333-E74382C768D3}" destId="{AB569484-1B26-C647-B0D8-60C95E8B2FF5}" srcOrd="0" destOrd="0" presId="urn:microsoft.com/office/officeart/2005/8/layout/default"/>
    <dgm:cxn modelId="{2B64794C-B233-4247-8326-688C0BCFDD8D}" srcId="{4972C744-6474-3540-B796-9842FB9D2ED8}" destId="{0BB410C5-CC35-2D49-AA4D-0D9BB79649AC}" srcOrd="1" destOrd="0" parTransId="{9D94F489-D615-1F41-9963-A511DE564522}" sibTransId="{F6156453-A432-C740-B843-A349591EAF3B}"/>
    <dgm:cxn modelId="{D3AEE290-12A1-FA4E-81C5-276E944B8735}" type="presOf" srcId="{160F29CE-E371-C84F-846D-F33A7BADB251}" destId="{FC76D581-FD11-B14C-9D63-93F64DB2D8FA}" srcOrd="0" destOrd="0" presId="urn:microsoft.com/office/officeart/2005/8/layout/default"/>
    <dgm:cxn modelId="{39E6EBA9-14E1-784B-8146-D8801B77F0D6}" type="presOf" srcId="{0BB410C5-CC35-2D49-AA4D-0D9BB79649AC}" destId="{48B687E3-01F1-7247-92AF-3571A14A0DA7}" srcOrd="0" destOrd="0" presId="urn:microsoft.com/office/officeart/2005/8/layout/default"/>
    <dgm:cxn modelId="{57A3CDDC-84CB-0D48-A3D1-BF6BB8535656}" type="presOf" srcId="{99E77F29-1297-C14F-911C-588FE3D08EEE}" destId="{CBEF1185-8119-9D4F-A50B-875228872310}" srcOrd="0" destOrd="0" presId="urn:microsoft.com/office/officeart/2005/8/layout/default"/>
    <dgm:cxn modelId="{079F13EA-922A-8546-B175-1A7ACEBCDCB8}" type="presOf" srcId="{4972C744-6474-3540-B796-9842FB9D2ED8}" destId="{A3AF0F40-A997-7047-8629-E7FE294E6CBF}" srcOrd="0" destOrd="0" presId="urn:microsoft.com/office/officeart/2005/8/layout/default"/>
    <dgm:cxn modelId="{8DC92105-F9B5-6746-B799-7201CB277E36}" type="presParOf" srcId="{A3AF0F40-A997-7047-8629-E7FE294E6CBF}" destId="{FC76D581-FD11-B14C-9D63-93F64DB2D8FA}" srcOrd="0" destOrd="0" presId="urn:microsoft.com/office/officeart/2005/8/layout/default"/>
    <dgm:cxn modelId="{F8571D83-8C2F-804F-BB31-DC66CC58989B}" type="presParOf" srcId="{A3AF0F40-A997-7047-8629-E7FE294E6CBF}" destId="{16B6DD8D-EFD8-2A49-98AB-980154E708B6}" srcOrd="1" destOrd="0" presId="urn:microsoft.com/office/officeart/2005/8/layout/default"/>
    <dgm:cxn modelId="{8B810152-1815-3E41-BD80-855F4F256B80}" type="presParOf" srcId="{A3AF0F40-A997-7047-8629-E7FE294E6CBF}" destId="{48B687E3-01F1-7247-92AF-3571A14A0DA7}" srcOrd="2" destOrd="0" presId="urn:microsoft.com/office/officeart/2005/8/layout/default"/>
    <dgm:cxn modelId="{D28F2EEE-2324-014F-86A4-FE6C673163C6}" type="presParOf" srcId="{A3AF0F40-A997-7047-8629-E7FE294E6CBF}" destId="{B7596B18-19B1-CB41-8E97-C378EDDD0E52}" srcOrd="3" destOrd="0" presId="urn:microsoft.com/office/officeart/2005/8/layout/default"/>
    <dgm:cxn modelId="{BA16D172-52E7-0543-90D5-917D87721377}" type="presParOf" srcId="{A3AF0F40-A997-7047-8629-E7FE294E6CBF}" destId="{AB569484-1B26-C647-B0D8-60C95E8B2FF5}" srcOrd="4" destOrd="0" presId="urn:microsoft.com/office/officeart/2005/8/layout/default"/>
    <dgm:cxn modelId="{E1E65A2F-6121-034A-8A5B-86820E09A40B}" type="presParOf" srcId="{A3AF0F40-A997-7047-8629-E7FE294E6CBF}" destId="{B07DA9A5-1C79-9646-9DCD-4E010831AEC5}" srcOrd="5" destOrd="0" presId="urn:microsoft.com/office/officeart/2005/8/layout/default"/>
    <dgm:cxn modelId="{37646FA9-A4B1-C74B-9E38-AC8F8C56E897}" type="presParOf" srcId="{A3AF0F40-A997-7047-8629-E7FE294E6CBF}" destId="{CBEF1185-8119-9D4F-A50B-875228872310}"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E8C512C-ED6E-3C4E-ABB6-2858B1F71EF2}" type="doc">
      <dgm:prSet loTypeId="urn:microsoft.com/office/officeart/2005/8/layout/venn3" loCatId="" qsTypeId="urn:microsoft.com/office/officeart/2005/8/quickstyle/simple1" qsCatId="simple" csTypeId="urn:microsoft.com/office/officeart/2005/8/colors/accent1_2" csCatId="accent1" phldr="1"/>
      <dgm:spPr/>
      <dgm:t>
        <a:bodyPr/>
        <a:lstStyle/>
        <a:p>
          <a:endParaRPr lang="en-US"/>
        </a:p>
      </dgm:t>
    </dgm:pt>
    <dgm:pt modelId="{2EEA2C2E-CB46-B94E-A15E-F0D11542F57B}">
      <dgm:prSet phldrT="[Text]"/>
      <dgm:spPr/>
      <dgm:t>
        <a:bodyPr/>
        <a:lstStyle/>
        <a:p>
          <a:r>
            <a:rPr lang="en-US" dirty="0"/>
            <a:t>Pull to LOCAL</a:t>
          </a:r>
        </a:p>
      </dgm:t>
    </dgm:pt>
    <dgm:pt modelId="{D0EACC73-86C4-C040-A1FB-2CB2212D39A3}" type="parTrans" cxnId="{F9686EE8-6F43-8E4C-A493-5C8710CD97FC}">
      <dgm:prSet/>
      <dgm:spPr/>
      <dgm:t>
        <a:bodyPr/>
        <a:lstStyle/>
        <a:p>
          <a:endParaRPr lang="en-US"/>
        </a:p>
      </dgm:t>
    </dgm:pt>
    <dgm:pt modelId="{B22E6F0F-2C8C-5940-A700-68BE058F27D4}" type="sibTrans" cxnId="{F9686EE8-6F43-8E4C-A493-5C8710CD97FC}">
      <dgm:prSet/>
      <dgm:spPr/>
      <dgm:t>
        <a:bodyPr/>
        <a:lstStyle/>
        <a:p>
          <a:endParaRPr lang="en-US"/>
        </a:p>
      </dgm:t>
    </dgm:pt>
    <dgm:pt modelId="{D3A902EA-40E7-694A-A33F-BB08599D979C}">
      <dgm:prSet phldrT="[Text]"/>
      <dgm:spPr/>
      <dgm:t>
        <a:bodyPr/>
        <a:lstStyle/>
        <a:p>
          <a:r>
            <a:rPr lang="en-US" dirty="0"/>
            <a:t>Edit</a:t>
          </a:r>
        </a:p>
      </dgm:t>
    </dgm:pt>
    <dgm:pt modelId="{D7EF1345-0B2A-EB4D-8FDF-24144241C66B}" type="parTrans" cxnId="{11BCA033-6D74-AF4D-AAE4-D42F6E5450F0}">
      <dgm:prSet/>
      <dgm:spPr/>
      <dgm:t>
        <a:bodyPr/>
        <a:lstStyle/>
        <a:p>
          <a:endParaRPr lang="en-US"/>
        </a:p>
      </dgm:t>
    </dgm:pt>
    <dgm:pt modelId="{9E9D5A8D-DE2B-AF49-8F1D-4C909015FDEF}" type="sibTrans" cxnId="{11BCA033-6D74-AF4D-AAE4-D42F6E5450F0}">
      <dgm:prSet/>
      <dgm:spPr/>
      <dgm:t>
        <a:bodyPr/>
        <a:lstStyle/>
        <a:p>
          <a:endParaRPr lang="en-US"/>
        </a:p>
      </dgm:t>
    </dgm:pt>
    <dgm:pt modelId="{3264FF57-BA67-6849-B852-93CA5066824D}">
      <dgm:prSet phldrT="[Text]"/>
      <dgm:spPr/>
      <dgm:t>
        <a:bodyPr/>
        <a:lstStyle/>
        <a:p>
          <a:r>
            <a:rPr lang="en-US" dirty="0"/>
            <a:t>Add changes</a:t>
          </a:r>
        </a:p>
      </dgm:t>
    </dgm:pt>
    <dgm:pt modelId="{CCA9EF0E-7BBD-C045-A461-F47AC40455D0}" type="parTrans" cxnId="{508169C0-8BC2-8C43-89B3-0A7410E1B8BE}">
      <dgm:prSet/>
      <dgm:spPr/>
      <dgm:t>
        <a:bodyPr/>
        <a:lstStyle/>
        <a:p>
          <a:endParaRPr lang="en-US"/>
        </a:p>
      </dgm:t>
    </dgm:pt>
    <dgm:pt modelId="{9E62B24E-0676-5343-9C75-71A311A78D6B}" type="sibTrans" cxnId="{508169C0-8BC2-8C43-89B3-0A7410E1B8BE}">
      <dgm:prSet/>
      <dgm:spPr/>
      <dgm:t>
        <a:bodyPr/>
        <a:lstStyle/>
        <a:p>
          <a:endParaRPr lang="en-US"/>
        </a:p>
      </dgm:t>
    </dgm:pt>
    <dgm:pt modelId="{CA9E5F50-0794-004F-9343-49F6DF82C8F0}">
      <dgm:prSet phldrT="[Text]"/>
      <dgm:spPr/>
      <dgm:t>
        <a:bodyPr/>
        <a:lstStyle/>
        <a:p>
          <a:r>
            <a:rPr lang="en-US" dirty="0"/>
            <a:t>Commit changes to branch</a:t>
          </a:r>
        </a:p>
      </dgm:t>
    </dgm:pt>
    <dgm:pt modelId="{DE1D4E04-A951-B741-9991-A548A6F9B9DA}" type="parTrans" cxnId="{B374C85F-D80A-3A41-B02C-4CB217A3256F}">
      <dgm:prSet/>
      <dgm:spPr/>
      <dgm:t>
        <a:bodyPr/>
        <a:lstStyle/>
        <a:p>
          <a:endParaRPr lang="en-US"/>
        </a:p>
      </dgm:t>
    </dgm:pt>
    <dgm:pt modelId="{591BC136-6E7E-674C-BB45-5B195C8200A1}" type="sibTrans" cxnId="{B374C85F-D80A-3A41-B02C-4CB217A3256F}">
      <dgm:prSet/>
      <dgm:spPr/>
      <dgm:t>
        <a:bodyPr/>
        <a:lstStyle/>
        <a:p>
          <a:endParaRPr lang="en-US"/>
        </a:p>
      </dgm:t>
    </dgm:pt>
    <dgm:pt modelId="{7F08C73D-5107-B844-A986-FDA3C60EE861}">
      <dgm:prSet phldrT="[Text]"/>
      <dgm:spPr/>
      <dgm:t>
        <a:bodyPr/>
        <a:lstStyle/>
        <a:p>
          <a:r>
            <a:rPr lang="en-US" dirty="0"/>
            <a:t>Push to</a:t>
          </a:r>
        </a:p>
        <a:p>
          <a:r>
            <a:rPr lang="en-US" dirty="0"/>
            <a:t>REMOTE</a:t>
          </a:r>
        </a:p>
      </dgm:t>
    </dgm:pt>
    <dgm:pt modelId="{0164A45D-4169-1342-82A0-3B28C286E5F9}" type="parTrans" cxnId="{0FCB3DAB-92DB-2143-BCC9-716F6D6D2CF3}">
      <dgm:prSet/>
      <dgm:spPr/>
      <dgm:t>
        <a:bodyPr/>
        <a:lstStyle/>
        <a:p>
          <a:endParaRPr lang="en-US"/>
        </a:p>
      </dgm:t>
    </dgm:pt>
    <dgm:pt modelId="{D582EBAB-03E0-2442-969D-194B58EABE7E}" type="sibTrans" cxnId="{0FCB3DAB-92DB-2143-BCC9-716F6D6D2CF3}">
      <dgm:prSet/>
      <dgm:spPr/>
      <dgm:t>
        <a:bodyPr/>
        <a:lstStyle/>
        <a:p>
          <a:endParaRPr lang="en-US"/>
        </a:p>
      </dgm:t>
    </dgm:pt>
    <dgm:pt modelId="{33324AD6-E808-2C4E-ABBB-35F19391B77C}" type="pres">
      <dgm:prSet presAssocID="{0E8C512C-ED6E-3C4E-ABB6-2858B1F71EF2}" presName="Name0" presStyleCnt="0">
        <dgm:presLayoutVars>
          <dgm:dir/>
          <dgm:resizeHandles val="exact"/>
        </dgm:presLayoutVars>
      </dgm:prSet>
      <dgm:spPr/>
    </dgm:pt>
    <dgm:pt modelId="{1A8047DB-6D5E-7E47-BB76-B67986828284}" type="pres">
      <dgm:prSet presAssocID="{2EEA2C2E-CB46-B94E-A15E-F0D11542F57B}" presName="Name5" presStyleLbl="vennNode1" presStyleIdx="0" presStyleCnt="5">
        <dgm:presLayoutVars>
          <dgm:bulletEnabled val="1"/>
        </dgm:presLayoutVars>
      </dgm:prSet>
      <dgm:spPr/>
    </dgm:pt>
    <dgm:pt modelId="{5434A516-F763-0B4D-9AA9-256D6A5BAF7A}" type="pres">
      <dgm:prSet presAssocID="{B22E6F0F-2C8C-5940-A700-68BE058F27D4}" presName="space" presStyleCnt="0"/>
      <dgm:spPr/>
    </dgm:pt>
    <dgm:pt modelId="{C019D5D2-940E-2443-B97D-3447199BC06C}" type="pres">
      <dgm:prSet presAssocID="{D3A902EA-40E7-694A-A33F-BB08599D979C}" presName="Name5" presStyleLbl="vennNode1" presStyleIdx="1" presStyleCnt="5">
        <dgm:presLayoutVars>
          <dgm:bulletEnabled val="1"/>
        </dgm:presLayoutVars>
      </dgm:prSet>
      <dgm:spPr/>
    </dgm:pt>
    <dgm:pt modelId="{CAD199CB-5B43-DE4F-9B3F-F65D77DCD283}" type="pres">
      <dgm:prSet presAssocID="{9E9D5A8D-DE2B-AF49-8F1D-4C909015FDEF}" presName="space" presStyleCnt="0"/>
      <dgm:spPr/>
    </dgm:pt>
    <dgm:pt modelId="{9BE34EB1-73D7-3440-854A-8640ABAE0A0C}" type="pres">
      <dgm:prSet presAssocID="{3264FF57-BA67-6849-B852-93CA5066824D}" presName="Name5" presStyleLbl="vennNode1" presStyleIdx="2" presStyleCnt="5">
        <dgm:presLayoutVars>
          <dgm:bulletEnabled val="1"/>
        </dgm:presLayoutVars>
      </dgm:prSet>
      <dgm:spPr/>
    </dgm:pt>
    <dgm:pt modelId="{01AC1CA1-35A8-3040-AB55-23BE5C305CB9}" type="pres">
      <dgm:prSet presAssocID="{9E62B24E-0676-5343-9C75-71A311A78D6B}" presName="space" presStyleCnt="0"/>
      <dgm:spPr/>
    </dgm:pt>
    <dgm:pt modelId="{FE106EED-32BB-9E45-8A5F-19D0B995DE5D}" type="pres">
      <dgm:prSet presAssocID="{CA9E5F50-0794-004F-9343-49F6DF82C8F0}" presName="Name5" presStyleLbl="vennNode1" presStyleIdx="3" presStyleCnt="5">
        <dgm:presLayoutVars>
          <dgm:bulletEnabled val="1"/>
        </dgm:presLayoutVars>
      </dgm:prSet>
      <dgm:spPr/>
    </dgm:pt>
    <dgm:pt modelId="{BD914854-A1CE-F74F-9BCB-8B42B279D6B4}" type="pres">
      <dgm:prSet presAssocID="{591BC136-6E7E-674C-BB45-5B195C8200A1}" presName="space" presStyleCnt="0"/>
      <dgm:spPr/>
    </dgm:pt>
    <dgm:pt modelId="{64D930CC-B690-AE4A-8A5D-0EA10D418658}" type="pres">
      <dgm:prSet presAssocID="{7F08C73D-5107-B844-A986-FDA3C60EE861}" presName="Name5" presStyleLbl="vennNode1" presStyleIdx="4" presStyleCnt="5">
        <dgm:presLayoutVars>
          <dgm:bulletEnabled val="1"/>
        </dgm:presLayoutVars>
      </dgm:prSet>
      <dgm:spPr/>
    </dgm:pt>
  </dgm:ptLst>
  <dgm:cxnLst>
    <dgm:cxn modelId="{8FFF3706-77D7-5847-B77A-923D6860B9B4}" type="presOf" srcId="{D3A902EA-40E7-694A-A33F-BB08599D979C}" destId="{C019D5D2-940E-2443-B97D-3447199BC06C}" srcOrd="0" destOrd="0" presId="urn:microsoft.com/office/officeart/2005/8/layout/venn3"/>
    <dgm:cxn modelId="{2CD6BD07-7C07-0141-AAE3-F942F76572CF}" type="presOf" srcId="{2EEA2C2E-CB46-B94E-A15E-F0D11542F57B}" destId="{1A8047DB-6D5E-7E47-BB76-B67986828284}" srcOrd="0" destOrd="0" presId="urn:microsoft.com/office/officeart/2005/8/layout/venn3"/>
    <dgm:cxn modelId="{2055D610-AC71-1D44-B468-5536A34D9CA7}" type="presOf" srcId="{CA9E5F50-0794-004F-9343-49F6DF82C8F0}" destId="{FE106EED-32BB-9E45-8A5F-19D0B995DE5D}" srcOrd="0" destOrd="0" presId="urn:microsoft.com/office/officeart/2005/8/layout/venn3"/>
    <dgm:cxn modelId="{11BCA033-6D74-AF4D-AAE4-D42F6E5450F0}" srcId="{0E8C512C-ED6E-3C4E-ABB6-2858B1F71EF2}" destId="{D3A902EA-40E7-694A-A33F-BB08599D979C}" srcOrd="1" destOrd="0" parTransId="{D7EF1345-0B2A-EB4D-8FDF-24144241C66B}" sibTransId="{9E9D5A8D-DE2B-AF49-8F1D-4C909015FDEF}"/>
    <dgm:cxn modelId="{B374C85F-D80A-3A41-B02C-4CB217A3256F}" srcId="{0E8C512C-ED6E-3C4E-ABB6-2858B1F71EF2}" destId="{CA9E5F50-0794-004F-9343-49F6DF82C8F0}" srcOrd="3" destOrd="0" parTransId="{DE1D4E04-A951-B741-9991-A548A6F9B9DA}" sibTransId="{591BC136-6E7E-674C-BB45-5B195C8200A1}"/>
    <dgm:cxn modelId="{86FED665-CFF5-D94A-9DA5-F9B15871C948}" type="presOf" srcId="{7F08C73D-5107-B844-A986-FDA3C60EE861}" destId="{64D930CC-B690-AE4A-8A5D-0EA10D418658}" srcOrd="0" destOrd="0" presId="urn:microsoft.com/office/officeart/2005/8/layout/venn3"/>
    <dgm:cxn modelId="{0FCB3DAB-92DB-2143-BCC9-716F6D6D2CF3}" srcId="{0E8C512C-ED6E-3C4E-ABB6-2858B1F71EF2}" destId="{7F08C73D-5107-B844-A986-FDA3C60EE861}" srcOrd="4" destOrd="0" parTransId="{0164A45D-4169-1342-82A0-3B28C286E5F9}" sibTransId="{D582EBAB-03E0-2442-969D-194B58EABE7E}"/>
    <dgm:cxn modelId="{508169C0-8BC2-8C43-89B3-0A7410E1B8BE}" srcId="{0E8C512C-ED6E-3C4E-ABB6-2858B1F71EF2}" destId="{3264FF57-BA67-6849-B852-93CA5066824D}" srcOrd="2" destOrd="0" parTransId="{CCA9EF0E-7BBD-C045-A461-F47AC40455D0}" sibTransId="{9E62B24E-0676-5343-9C75-71A311A78D6B}"/>
    <dgm:cxn modelId="{A574B8C7-EF9B-3B4F-BB02-74FA1821382D}" type="presOf" srcId="{3264FF57-BA67-6849-B852-93CA5066824D}" destId="{9BE34EB1-73D7-3440-854A-8640ABAE0A0C}" srcOrd="0" destOrd="0" presId="urn:microsoft.com/office/officeart/2005/8/layout/venn3"/>
    <dgm:cxn modelId="{F9686EE8-6F43-8E4C-A493-5C8710CD97FC}" srcId="{0E8C512C-ED6E-3C4E-ABB6-2858B1F71EF2}" destId="{2EEA2C2E-CB46-B94E-A15E-F0D11542F57B}" srcOrd="0" destOrd="0" parTransId="{D0EACC73-86C4-C040-A1FB-2CB2212D39A3}" sibTransId="{B22E6F0F-2C8C-5940-A700-68BE058F27D4}"/>
    <dgm:cxn modelId="{B07CC3F9-8F83-9A4F-9E8C-5F58345190E2}" type="presOf" srcId="{0E8C512C-ED6E-3C4E-ABB6-2858B1F71EF2}" destId="{33324AD6-E808-2C4E-ABBB-35F19391B77C}" srcOrd="0" destOrd="0" presId="urn:microsoft.com/office/officeart/2005/8/layout/venn3"/>
    <dgm:cxn modelId="{9B52FE4A-2222-814E-A258-07787241E1BF}" type="presParOf" srcId="{33324AD6-E808-2C4E-ABBB-35F19391B77C}" destId="{1A8047DB-6D5E-7E47-BB76-B67986828284}" srcOrd="0" destOrd="0" presId="urn:microsoft.com/office/officeart/2005/8/layout/venn3"/>
    <dgm:cxn modelId="{28972128-BE8C-FB4F-ADBC-724C77B654CA}" type="presParOf" srcId="{33324AD6-E808-2C4E-ABBB-35F19391B77C}" destId="{5434A516-F763-0B4D-9AA9-256D6A5BAF7A}" srcOrd="1" destOrd="0" presId="urn:microsoft.com/office/officeart/2005/8/layout/venn3"/>
    <dgm:cxn modelId="{116BF6D8-A186-434F-BDE2-49878686010D}" type="presParOf" srcId="{33324AD6-E808-2C4E-ABBB-35F19391B77C}" destId="{C019D5D2-940E-2443-B97D-3447199BC06C}" srcOrd="2" destOrd="0" presId="urn:microsoft.com/office/officeart/2005/8/layout/venn3"/>
    <dgm:cxn modelId="{E753FCEC-43A0-E34D-85AC-CE09C01D7E96}" type="presParOf" srcId="{33324AD6-E808-2C4E-ABBB-35F19391B77C}" destId="{CAD199CB-5B43-DE4F-9B3F-F65D77DCD283}" srcOrd="3" destOrd="0" presId="urn:microsoft.com/office/officeart/2005/8/layout/venn3"/>
    <dgm:cxn modelId="{4ADC49E4-44B1-5A48-A9C5-5A6D5D7C8B65}" type="presParOf" srcId="{33324AD6-E808-2C4E-ABBB-35F19391B77C}" destId="{9BE34EB1-73D7-3440-854A-8640ABAE0A0C}" srcOrd="4" destOrd="0" presId="urn:microsoft.com/office/officeart/2005/8/layout/venn3"/>
    <dgm:cxn modelId="{BD76CE0D-BC66-7744-B8BB-E84453A3FE45}" type="presParOf" srcId="{33324AD6-E808-2C4E-ABBB-35F19391B77C}" destId="{01AC1CA1-35A8-3040-AB55-23BE5C305CB9}" srcOrd="5" destOrd="0" presId="urn:microsoft.com/office/officeart/2005/8/layout/venn3"/>
    <dgm:cxn modelId="{1910C9F8-E7E5-6F4B-BEB5-B28E07ABB18A}" type="presParOf" srcId="{33324AD6-E808-2C4E-ABBB-35F19391B77C}" destId="{FE106EED-32BB-9E45-8A5F-19D0B995DE5D}" srcOrd="6" destOrd="0" presId="urn:microsoft.com/office/officeart/2005/8/layout/venn3"/>
    <dgm:cxn modelId="{01AA9881-7F5F-0E47-B153-C3BF888EE465}" type="presParOf" srcId="{33324AD6-E808-2C4E-ABBB-35F19391B77C}" destId="{BD914854-A1CE-F74F-9BCB-8B42B279D6B4}" srcOrd="7" destOrd="0" presId="urn:microsoft.com/office/officeart/2005/8/layout/venn3"/>
    <dgm:cxn modelId="{920A660C-F85C-6F40-AF73-3831AEB8AD7C}" type="presParOf" srcId="{33324AD6-E808-2C4E-ABBB-35F19391B77C}" destId="{64D930CC-B690-AE4A-8A5D-0EA10D418658}" srcOrd="8"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E8C512C-ED6E-3C4E-ABB6-2858B1F71EF2}" type="doc">
      <dgm:prSet loTypeId="urn:microsoft.com/office/officeart/2005/8/layout/venn3" loCatId="" qsTypeId="urn:microsoft.com/office/officeart/2005/8/quickstyle/simple1" qsCatId="simple" csTypeId="urn:microsoft.com/office/officeart/2005/8/colors/accent1_2" csCatId="accent1" phldr="1"/>
      <dgm:spPr/>
      <dgm:t>
        <a:bodyPr/>
        <a:lstStyle/>
        <a:p>
          <a:endParaRPr lang="en-US"/>
        </a:p>
      </dgm:t>
    </dgm:pt>
    <dgm:pt modelId="{2EEA2C2E-CB46-B94E-A15E-F0D11542F57B}">
      <dgm:prSet phldrT="[Text]"/>
      <dgm:spPr/>
      <dgm:t>
        <a:bodyPr/>
        <a:lstStyle/>
        <a:p>
          <a:r>
            <a:rPr lang="en-US" dirty="0"/>
            <a:t>Pull to LOCAL</a:t>
          </a:r>
        </a:p>
      </dgm:t>
    </dgm:pt>
    <dgm:pt modelId="{D0EACC73-86C4-C040-A1FB-2CB2212D39A3}" type="parTrans" cxnId="{F9686EE8-6F43-8E4C-A493-5C8710CD97FC}">
      <dgm:prSet/>
      <dgm:spPr/>
      <dgm:t>
        <a:bodyPr/>
        <a:lstStyle/>
        <a:p>
          <a:endParaRPr lang="en-US"/>
        </a:p>
      </dgm:t>
    </dgm:pt>
    <dgm:pt modelId="{B22E6F0F-2C8C-5940-A700-68BE058F27D4}" type="sibTrans" cxnId="{F9686EE8-6F43-8E4C-A493-5C8710CD97FC}">
      <dgm:prSet/>
      <dgm:spPr/>
      <dgm:t>
        <a:bodyPr/>
        <a:lstStyle/>
        <a:p>
          <a:endParaRPr lang="en-US"/>
        </a:p>
      </dgm:t>
    </dgm:pt>
    <dgm:pt modelId="{D3A902EA-40E7-694A-A33F-BB08599D979C}">
      <dgm:prSet phldrT="[Text]"/>
      <dgm:spPr/>
      <dgm:t>
        <a:bodyPr/>
        <a:lstStyle/>
        <a:p>
          <a:r>
            <a:rPr lang="en-US" dirty="0"/>
            <a:t>Edit</a:t>
          </a:r>
        </a:p>
      </dgm:t>
    </dgm:pt>
    <dgm:pt modelId="{D7EF1345-0B2A-EB4D-8FDF-24144241C66B}" type="parTrans" cxnId="{11BCA033-6D74-AF4D-AAE4-D42F6E5450F0}">
      <dgm:prSet/>
      <dgm:spPr/>
      <dgm:t>
        <a:bodyPr/>
        <a:lstStyle/>
        <a:p>
          <a:endParaRPr lang="en-US"/>
        </a:p>
      </dgm:t>
    </dgm:pt>
    <dgm:pt modelId="{9E9D5A8D-DE2B-AF49-8F1D-4C909015FDEF}" type="sibTrans" cxnId="{11BCA033-6D74-AF4D-AAE4-D42F6E5450F0}">
      <dgm:prSet/>
      <dgm:spPr/>
      <dgm:t>
        <a:bodyPr/>
        <a:lstStyle/>
        <a:p>
          <a:endParaRPr lang="en-US"/>
        </a:p>
      </dgm:t>
    </dgm:pt>
    <dgm:pt modelId="{3264FF57-BA67-6849-B852-93CA5066824D}">
      <dgm:prSet phldrT="[Text]"/>
      <dgm:spPr/>
      <dgm:t>
        <a:bodyPr/>
        <a:lstStyle/>
        <a:p>
          <a:r>
            <a:rPr lang="en-US" dirty="0"/>
            <a:t>Add changes</a:t>
          </a:r>
        </a:p>
      </dgm:t>
    </dgm:pt>
    <dgm:pt modelId="{CCA9EF0E-7BBD-C045-A461-F47AC40455D0}" type="parTrans" cxnId="{508169C0-8BC2-8C43-89B3-0A7410E1B8BE}">
      <dgm:prSet/>
      <dgm:spPr/>
      <dgm:t>
        <a:bodyPr/>
        <a:lstStyle/>
        <a:p>
          <a:endParaRPr lang="en-US"/>
        </a:p>
      </dgm:t>
    </dgm:pt>
    <dgm:pt modelId="{9E62B24E-0676-5343-9C75-71A311A78D6B}" type="sibTrans" cxnId="{508169C0-8BC2-8C43-89B3-0A7410E1B8BE}">
      <dgm:prSet/>
      <dgm:spPr/>
      <dgm:t>
        <a:bodyPr/>
        <a:lstStyle/>
        <a:p>
          <a:endParaRPr lang="en-US"/>
        </a:p>
      </dgm:t>
    </dgm:pt>
    <dgm:pt modelId="{CA9E5F50-0794-004F-9343-49F6DF82C8F0}">
      <dgm:prSet phldrT="[Text]"/>
      <dgm:spPr/>
      <dgm:t>
        <a:bodyPr/>
        <a:lstStyle/>
        <a:p>
          <a:r>
            <a:rPr lang="en-US" dirty="0"/>
            <a:t>Commit changes to branch</a:t>
          </a:r>
        </a:p>
      </dgm:t>
    </dgm:pt>
    <dgm:pt modelId="{DE1D4E04-A951-B741-9991-A548A6F9B9DA}" type="parTrans" cxnId="{B374C85F-D80A-3A41-B02C-4CB217A3256F}">
      <dgm:prSet/>
      <dgm:spPr/>
      <dgm:t>
        <a:bodyPr/>
        <a:lstStyle/>
        <a:p>
          <a:endParaRPr lang="en-US"/>
        </a:p>
      </dgm:t>
    </dgm:pt>
    <dgm:pt modelId="{591BC136-6E7E-674C-BB45-5B195C8200A1}" type="sibTrans" cxnId="{B374C85F-D80A-3A41-B02C-4CB217A3256F}">
      <dgm:prSet/>
      <dgm:spPr/>
      <dgm:t>
        <a:bodyPr/>
        <a:lstStyle/>
        <a:p>
          <a:endParaRPr lang="en-US"/>
        </a:p>
      </dgm:t>
    </dgm:pt>
    <dgm:pt modelId="{7F08C73D-5107-B844-A986-FDA3C60EE861}">
      <dgm:prSet phldrT="[Text]"/>
      <dgm:spPr/>
      <dgm:t>
        <a:bodyPr/>
        <a:lstStyle/>
        <a:p>
          <a:r>
            <a:rPr lang="en-US" dirty="0"/>
            <a:t>Push to</a:t>
          </a:r>
        </a:p>
        <a:p>
          <a:r>
            <a:rPr lang="en-US" dirty="0"/>
            <a:t>REMOTE</a:t>
          </a:r>
        </a:p>
      </dgm:t>
    </dgm:pt>
    <dgm:pt modelId="{0164A45D-4169-1342-82A0-3B28C286E5F9}" type="parTrans" cxnId="{0FCB3DAB-92DB-2143-BCC9-716F6D6D2CF3}">
      <dgm:prSet/>
      <dgm:spPr/>
      <dgm:t>
        <a:bodyPr/>
        <a:lstStyle/>
        <a:p>
          <a:endParaRPr lang="en-US"/>
        </a:p>
      </dgm:t>
    </dgm:pt>
    <dgm:pt modelId="{D582EBAB-03E0-2442-969D-194B58EABE7E}" type="sibTrans" cxnId="{0FCB3DAB-92DB-2143-BCC9-716F6D6D2CF3}">
      <dgm:prSet/>
      <dgm:spPr/>
      <dgm:t>
        <a:bodyPr/>
        <a:lstStyle/>
        <a:p>
          <a:endParaRPr lang="en-US"/>
        </a:p>
      </dgm:t>
    </dgm:pt>
    <dgm:pt modelId="{33324AD6-E808-2C4E-ABBB-35F19391B77C}" type="pres">
      <dgm:prSet presAssocID="{0E8C512C-ED6E-3C4E-ABB6-2858B1F71EF2}" presName="Name0" presStyleCnt="0">
        <dgm:presLayoutVars>
          <dgm:dir/>
          <dgm:resizeHandles val="exact"/>
        </dgm:presLayoutVars>
      </dgm:prSet>
      <dgm:spPr/>
    </dgm:pt>
    <dgm:pt modelId="{1A8047DB-6D5E-7E47-BB76-B67986828284}" type="pres">
      <dgm:prSet presAssocID="{2EEA2C2E-CB46-B94E-A15E-F0D11542F57B}" presName="Name5" presStyleLbl="vennNode1" presStyleIdx="0" presStyleCnt="5">
        <dgm:presLayoutVars>
          <dgm:bulletEnabled val="1"/>
        </dgm:presLayoutVars>
      </dgm:prSet>
      <dgm:spPr/>
    </dgm:pt>
    <dgm:pt modelId="{5434A516-F763-0B4D-9AA9-256D6A5BAF7A}" type="pres">
      <dgm:prSet presAssocID="{B22E6F0F-2C8C-5940-A700-68BE058F27D4}" presName="space" presStyleCnt="0"/>
      <dgm:spPr/>
    </dgm:pt>
    <dgm:pt modelId="{C019D5D2-940E-2443-B97D-3447199BC06C}" type="pres">
      <dgm:prSet presAssocID="{D3A902EA-40E7-694A-A33F-BB08599D979C}" presName="Name5" presStyleLbl="vennNode1" presStyleIdx="1" presStyleCnt="5">
        <dgm:presLayoutVars>
          <dgm:bulletEnabled val="1"/>
        </dgm:presLayoutVars>
      </dgm:prSet>
      <dgm:spPr/>
    </dgm:pt>
    <dgm:pt modelId="{CAD199CB-5B43-DE4F-9B3F-F65D77DCD283}" type="pres">
      <dgm:prSet presAssocID="{9E9D5A8D-DE2B-AF49-8F1D-4C909015FDEF}" presName="space" presStyleCnt="0"/>
      <dgm:spPr/>
    </dgm:pt>
    <dgm:pt modelId="{9BE34EB1-73D7-3440-854A-8640ABAE0A0C}" type="pres">
      <dgm:prSet presAssocID="{3264FF57-BA67-6849-B852-93CA5066824D}" presName="Name5" presStyleLbl="vennNode1" presStyleIdx="2" presStyleCnt="5">
        <dgm:presLayoutVars>
          <dgm:bulletEnabled val="1"/>
        </dgm:presLayoutVars>
      </dgm:prSet>
      <dgm:spPr/>
    </dgm:pt>
    <dgm:pt modelId="{01AC1CA1-35A8-3040-AB55-23BE5C305CB9}" type="pres">
      <dgm:prSet presAssocID="{9E62B24E-0676-5343-9C75-71A311A78D6B}" presName="space" presStyleCnt="0"/>
      <dgm:spPr/>
    </dgm:pt>
    <dgm:pt modelId="{FE106EED-32BB-9E45-8A5F-19D0B995DE5D}" type="pres">
      <dgm:prSet presAssocID="{CA9E5F50-0794-004F-9343-49F6DF82C8F0}" presName="Name5" presStyleLbl="vennNode1" presStyleIdx="3" presStyleCnt="5">
        <dgm:presLayoutVars>
          <dgm:bulletEnabled val="1"/>
        </dgm:presLayoutVars>
      </dgm:prSet>
      <dgm:spPr/>
    </dgm:pt>
    <dgm:pt modelId="{BD914854-A1CE-F74F-9BCB-8B42B279D6B4}" type="pres">
      <dgm:prSet presAssocID="{591BC136-6E7E-674C-BB45-5B195C8200A1}" presName="space" presStyleCnt="0"/>
      <dgm:spPr/>
    </dgm:pt>
    <dgm:pt modelId="{64D930CC-B690-AE4A-8A5D-0EA10D418658}" type="pres">
      <dgm:prSet presAssocID="{7F08C73D-5107-B844-A986-FDA3C60EE861}" presName="Name5" presStyleLbl="vennNode1" presStyleIdx="4" presStyleCnt="5">
        <dgm:presLayoutVars>
          <dgm:bulletEnabled val="1"/>
        </dgm:presLayoutVars>
      </dgm:prSet>
      <dgm:spPr/>
    </dgm:pt>
  </dgm:ptLst>
  <dgm:cxnLst>
    <dgm:cxn modelId="{8FFF3706-77D7-5847-B77A-923D6860B9B4}" type="presOf" srcId="{D3A902EA-40E7-694A-A33F-BB08599D979C}" destId="{C019D5D2-940E-2443-B97D-3447199BC06C}" srcOrd="0" destOrd="0" presId="urn:microsoft.com/office/officeart/2005/8/layout/venn3"/>
    <dgm:cxn modelId="{2CD6BD07-7C07-0141-AAE3-F942F76572CF}" type="presOf" srcId="{2EEA2C2E-CB46-B94E-A15E-F0D11542F57B}" destId="{1A8047DB-6D5E-7E47-BB76-B67986828284}" srcOrd="0" destOrd="0" presId="urn:microsoft.com/office/officeart/2005/8/layout/venn3"/>
    <dgm:cxn modelId="{2055D610-AC71-1D44-B468-5536A34D9CA7}" type="presOf" srcId="{CA9E5F50-0794-004F-9343-49F6DF82C8F0}" destId="{FE106EED-32BB-9E45-8A5F-19D0B995DE5D}" srcOrd="0" destOrd="0" presId="urn:microsoft.com/office/officeart/2005/8/layout/venn3"/>
    <dgm:cxn modelId="{11BCA033-6D74-AF4D-AAE4-D42F6E5450F0}" srcId="{0E8C512C-ED6E-3C4E-ABB6-2858B1F71EF2}" destId="{D3A902EA-40E7-694A-A33F-BB08599D979C}" srcOrd="1" destOrd="0" parTransId="{D7EF1345-0B2A-EB4D-8FDF-24144241C66B}" sibTransId="{9E9D5A8D-DE2B-AF49-8F1D-4C909015FDEF}"/>
    <dgm:cxn modelId="{B374C85F-D80A-3A41-B02C-4CB217A3256F}" srcId="{0E8C512C-ED6E-3C4E-ABB6-2858B1F71EF2}" destId="{CA9E5F50-0794-004F-9343-49F6DF82C8F0}" srcOrd="3" destOrd="0" parTransId="{DE1D4E04-A951-B741-9991-A548A6F9B9DA}" sibTransId="{591BC136-6E7E-674C-BB45-5B195C8200A1}"/>
    <dgm:cxn modelId="{86FED665-CFF5-D94A-9DA5-F9B15871C948}" type="presOf" srcId="{7F08C73D-5107-B844-A986-FDA3C60EE861}" destId="{64D930CC-B690-AE4A-8A5D-0EA10D418658}" srcOrd="0" destOrd="0" presId="urn:microsoft.com/office/officeart/2005/8/layout/venn3"/>
    <dgm:cxn modelId="{0FCB3DAB-92DB-2143-BCC9-716F6D6D2CF3}" srcId="{0E8C512C-ED6E-3C4E-ABB6-2858B1F71EF2}" destId="{7F08C73D-5107-B844-A986-FDA3C60EE861}" srcOrd="4" destOrd="0" parTransId="{0164A45D-4169-1342-82A0-3B28C286E5F9}" sibTransId="{D582EBAB-03E0-2442-969D-194B58EABE7E}"/>
    <dgm:cxn modelId="{508169C0-8BC2-8C43-89B3-0A7410E1B8BE}" srcId="{0E8C512C-ED6E-3C4E-ABB6-2858B1F71EF2}" destId="{3264FF57-BA67-6849-B852-93CA5066824D}" srcOrd="2" destOrd="0" parTransId="{CCA9EF0E-7BBD-C045-A461-F47AC40455D0}" sibTransId="{9E62B24E-0676-5343-9C75-71A311A78D6B}"/>
    <dgm:cxn modelId="{A574B8C7-EF9B-3B4F-BB02-74FA1821382D}" type="presOf" srcId="{3264FF57-BA67-6849-B852-93CA5066824D}" destId="{9BE34EB1-73D7-3440-854A-8640ABAE0A0C}" srcOrd="0" destOrd="0" presId="urn:microsoft.com/office/officeart/2005/8/layout/venn3"/>
    <dgm:cxn modelId="{F9686EE8-6F43-8E4C-A493-5C8710CD97FC}" srcId="{0E8C512C-ED6E-3C4E-ABB6-2858B1F71EF2}" destId="{2EEA2C2E-CB46-B94E-A15E-F0D11542F57B}" srcOrd="0" destOrd="0" parTransId="{D0EACC73-86C4-C040-A1FB-2CB2212D39A3}" sibTransId="{B22E6F0F-2C8C-5940-A700-68BE058F27D4}"/>
    <dgm:cxn modelId="{B07CC3F9-8F83-9A4F-9E8C-5F58345190E2}" type="presOf" srcId="{0E8C512C-ED6E-3C4E-ABB6-2858B1F71EF2}" destId="{33324AD6-E808-2C4E-ABBB-35F19391B77C}" srcOrd="0" destOrd="0" presId="urn:microsoft.com/office/officeart/2005/8/layout/venn3"/>
    <dgm:cxn modelId="{9B52FE4A-2222-814E-A258-07787241E1BF}" type="presParOf" srcId="{33324AD6-E808-2C4E-ABBB-35F19391B77C}" destId="{1A8047DB-6D5E-7E47-BB76-B67986828284}" srcOrd="0" destOrd="0" presId="urn:microsoft.com/office/officeart/2005/8/layout/venn3"/>
    <dgm:cxn modelId="{28972128-BE8C-FB4F-ADBC-724C77B654CA}" type="presParOf" srcId="{33324AD6-E808-2C4E-ABBB-35F19391B77C}" destId="{5434A516-F763-0B4D-9AA9-256D6A5BAF7A}" srcOrd="1" destOrd="0" presId="urn:microsoft.com/office/officeart/2005/8/layout/venn3"/>
    <dgm:cxn modelId="{116BF6D8-A186-434F-BDE2-49878686010D}" type="presParOf" srcId="{33324AD6-E808-2C4E-ABBB-35F19391B77C}" destId="{C019D5D2-940E-2443-B97D-3447199BC06C}" srcOrd="2" destOrd="0" presId="urn:microsoft.com/office/officeart/2005/8/layout/venn3"/>
    <dgm:cxn modelId="{E753FCEC-43A0-E34D-85AC-CE09C01D7E96}" type="presParOf" srcId="{33324AD6-E808-2C4E-ABBB-35F19391B77C}" destId="{CAD199CB-5B43-DE4F-9B3F-F65D77DCD283}" srcOrd="3" destOrd="0" presId="urn:microsoft.com/office/officeart/2005/8/layout/venn3"/>
    <dgm:cxn modelId="{4ADC49E4-44B1-5A48-A9C5-5A6D5D7C8B65}" type="presParOf" srcId="{33324AD6-E808-2C4E-ABBB-35F19391B77C}" destId="{9BE34EB1-73D7-3440-854A-8640ABAE0A0C}" srcOrd="4" destOrd="0" presId="urn:microsoft.com/office/officeart/2005/8/layout/venn3"/>
    <dgm:cxn modelId="{BD76CE0D-BC66-7744-B8BB-E84453A3FE45}" type="presParOf" srcId="{33324AD6-E808-2C4E-ABBB-35F19391B77C}" destId="{01AC1CA1-35A8-3040-AB55-23BE5C305CB9}" srcOrd="5" destOrd="0" presId="urn:microsoft.com/office/officeart/2005/8/layout/venn3"/>
    <dgm:cxn modelId="{1910C9F8-E7E5-6F4B-BEB5-B28E07ABB18A}" type="presParOf" srcId="{33324AD6-E808-2C4E-ABBB-35F19391B77C}" destId="{FE106EED-32BB-9E45-8A5F-19D0B995DE5D}" srcOrd="6" destOrd="0" presId="urn:microsoft.com/office/officeart/2005/8/layout/venn3"/>
    <dgm:cxn modelId="{01AA9881-7F5F-0E47-B153-C3BF888EE465}" type="presParOf" srcId="{33324AD6-E808-2C4E-ABBB-35F19391B77C}" destId="{BD914854-A1CE-F74F-9BCB-8B42B279D6B4}" srcOrd="7" destOrd="0" presId="urn:microsoft.com/office/officeart/2005/8/layout/venn3"/>
    <dgm:cxn modelId="{920A660C-F85C-6F40-AF73-3831AEB8AD7C}" type="presParOf" srcId="{33324AD6-E808-2C4E-ABBB-35F19391B77C}" destId="{64D930CC-B690-AE4A-8A5D-0EA10D418658}" srcOrd="8" destOrd="0" presId="urn:microsoft.com/office/officeart/2005/8/layout/ven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76D581-FD11-B14C-9D63-93F64DB2D8FA}">
      <dsp:nvSpPr>
        <dsp:cNvPr id="0" name=""/>
        <dsp:cNvSpPr/>
      </dsp:nvSpPr>
      <dsp:spPr>
        <a:xfrm>
          <a:off x="942382" y="3418010"/>
          <a:ext cx="2435248" cy="1461149"/>
        </a:xfrm>
        <a:prstGeom prst="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u="sng" kern="1200" dirty="0">
              <a:solidFill>
                <a:schemeClr val="bg1"/>
              </a:solidFill>
              <a:latin typeface="-apple-system"/>
            </a:rPr>
            <a:t>R  &amp; RStudio</a:t>
          </a:r>
        </a:p>
        <a:p>
          <a:pPr marL="0" lvl="0" indent="0" algn="ctr" defTabSz="666750">
            <a:lnSpc>
              <a:spcPct val="90000"/>
            </a:lnSpc>
            <a:spcBef>
              <a:spcPct val="0"/>
            </a:spcBef>
            <a:spcAft>
              <a:spcPct val="35000"/>
            </a:spcAft>
            <a:buNone/>
          </a:pPr>
          <a:r>
            <a:rPr lang="en-US" sz="1500" b="1" kern="1200" dirty="0">
              <a:solidFill>
                <a:schemeClr val="bg1"/>
              </a:solidFill>
              <a:latin typeface="-apple-system"/>
            </a:rPr>
            <a:t>.</a:t>
          </a:r>
          <a:r>
            <a:rPr lang="en-US" sz="1500" b="1" kern="1200" dirty="0" err="1">
              <a:solidFill>
                <a:schemeClr val="bg1"/>
              </a:solidFill>
              <a:latin typeface="-apple-system"/>
            </a:rPr>
            <a:t>Rdata</a:t>
          </a:r>
          <a:r>
            <a:rPr lang="en-US" sz="1500" b="1" kern="1200" dirty="0">
              <a:solidFill>
                <a:schemeClr val="bg1"/>
              </a:solidFill>
              <a:latin typeface="-apple-system"/>
            </a:rPr>
            <a:t> </a:t>
          </a:r>
          <a:r>
            <a:rPr lang="en-US" sz="1500" kern="1200" dirty="0">
              <a:solidFill>
                <a:schemeClr val="bg1"/>
              </a:solidFill>
              <a:latin typeface="-apple-system"/>
            </a:rPr>
            <a:t>– R formatted data</a:t>
          </a:r>
        </a:p>
        <a:p>
          <a:pPr marL="0" lvl="0" indent="0" algn="ctr" defTabSz="666750">
            <a:lnSpc>
              <a:spcPct val="90000"/>
            </a:lnSpc>
            <a:spcBef>
              <a:spcPct val="0"/>
            </a:spcBef>
            <a:spcAft>
              <a:spcPct val="35000"/>
            </a:spcAft>
            <a:buNone/>
          </a:pPr>
          <a:r>
            <a:rPr lang="en-US" sz="1500" b="1" kern="1200" dirty="0">
              <a:solidFill>
                <a:schemeClr val="bg1"/>
              </a:solidFill>
              <a:latin typeface="-apple-system"/>
            </a:rPr>
            <a:t>.</a:t>
          </a:r>
          <a:r>
            <a:rPr lang="en-US" sz="1500" b="1" kern="1200" dirty="0" err="1">
              <a:solidFill>
                <a:schemeClr val="bg1"/>
              </a:solidFill>
              <a:latin typeface="-apple-system"/>
            </a:rPr>
            <a:t>rmd</a:t>
          </a:r>
          <a:r>
            <a:rPr lang="en-US" sz="1500" b="1" kern="1200" dirty="0">
              <a:solidFill>
                <a:schemeClr val="bg1"/>
              </a:solidFill>
              <a:latin typeface="-apple-system"/>
            </a:rPr>
            <a:t>  </a:t>
          </a:r>
          <a:r>
            <a:rPr lang="en-US" sz="1500" kern="1200" dirty="0">
              <a:solidFill>
                <a:schemeClr val="bg1"/>
              </a:solidFill>
              <a:latin typeface="-apple-system"/>
            </a:rPr>
            <a:t>- R Markdown</a:t>
          </a:r>
        </a:p>
        <a:p>
          <a:pPr marL="0" lvl="0" indent="0" algn="ctr" defTabSz="666750">
            <a:lnSpc>
              <a:spcPct val="90000"/>
            </a:lnSpc>
            <a:spcBef>
              <a:spcPct val="0"/>
            </a:spcBef>
            <a:spcAft>
              <a:spcPct val="35000"/>
            </a:spcAft>
            <a:buNone/>
          </a:pPr>
          <a:r>
            <a:rPr lang="en-US" sz="1500" b="1" kern="1200" dirty="0">
              <a:solidFill>
                <a:schemeClr val="bg1"/>
              </a:solidFill>
              <a:latin typeface="-apple-system"/>
            </a:rPr>
            <a:t>.r </a:t>
          </a:r>
          <a:r>
            <a:rPr lang="en-US" sz="1500" kern="1200" dirty="0">
              <a:solidFill>
                <a:schemeClr val="bg1"/>
              </a:solidFill>
              <a:latin typeface="-apple-system"/>
            </a:rPr>
            <a:t>– R code</a:t>
          </a:r>
          <a:endParaRPr lang="en-US" sz="1500" kern="1200" dirty="0">
            <a:solidFill>
              <a:schemeClr val="bg1"/>
            </a:solidFill>
          </a:endParaRPr>
        </a:p>
      </dsp:txBody>
      <dsp:txXfrm>
        <a:off x="942382" y="3418010"/>
        <a:ext cx="2435248" cy="1461149"/>
      </dsp:txXfrm>
    </dsp:sp>
    <dsp:sp modelId="{48B687E3-01F1-7247-92AF-3571A14A0DA7}">
      <dsp:nvSpPr>
        <dsp:cNvPr id="0" name=""/>
        <dsp:cNvSpPr/>
      </dsp:nvSpPr>
      <dsp:spPr>
        <a:xfrm>
          <a:off x="954583" y="1708928"/>
          <a:ext cx="2435248" cy="1461149"/>
        </a:xfrm>
        <a:prstGeom prst="rect">
          <a:avLst/>
        </a:prstGeom>
        <a:solidFill>
          <a:schemeClr val="accent6">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i="0" u="sng" kern="1200" dirty="0">
              <a:solidFill>
                <a:schemeClr val="bg1"/>
              </a:solidFill>
              <a:effectLst/>
              <a:latin typeface="-apple-system"/>
            </a:rPr>
            <a:t>Matlab </a:t>
          </a:r>
        </a:p>
        <a:p>
          <a:pPr marL="0" lvl="0" indent="0" algn="ctr" defTabSz="666750">
            <a:lnSpc>
              <a:spcPct val="90000"/>
            </a:lnSpc>
            <a:spcBef>
              <a:spcPct val="0"/>
            </a:spcBef>
            <a:spcAft>
              <a:spcPct val="35000"/>
            </a:spcAft>
            <a:buNone/>
          </a:pPr>
          <a:r>
            <a:rPr lang="en-US" sz="1500" b="0" i="0" kern="1200" dirty="0">
              <a:solidFill>
                <a:schemeClr val="bg1"/>
              </a:solidFill>
              <a:effectLst/>
              <a:latin typeface="-apple-system"/>
            </a:rPr>
            <a:t>.</a:t>
          </a:r>
          <a:r>
            <a:rPr lang="en-US" sz="1500" b="1" i="0" kern="1200" dirty="0">
              <a:solidFill>
                <a:schemeClr val="bg1"/>
              </a:solidFill>
              <a:effectLst/>
              <a:latin typeface="-apple-system"/>
            </a:rPr>
            <a:t>mat</a:t>
          </a:r>
          <a:r>
            <a:rPr lang="en-US" sz="1500" kern="1200" dirty="0">
              <a:solidFill>
                <a:schemeClr val="bg1"/>
              </a:solidFill>
              <a:latin typeface="-apple-system"/>
            </a:rPr>
            <a:t> </a:t>
          </a:r>
          <a:r>
            <a:rPr lang="en-US" sz="1500" b="0" i="0" kern="1200" dirty="0">
              <a:solidFill>
                <a:schemeClr val="bg1"/>
              </a:solidFill>
              <a:effectLst/>
              <a:latin typeface="-apple-system"/>
            </a:rPr>
            <a:t> - MATLAB formatted data</a:t>
          </a:r>
        </a:p>
        <a:p>
          <a:pPr marL="0" lvl="0" indent="0" algn="ctr" defTabSz="666750">
            <a:lnSpc>
              <a:spcPct val="90000"/>
            </a:lnSpc>
            <a:spcBef>
              <a:spcPct val="0"/>
            </a:spcBef>
            <a:spcAft>
              <a:spcPct val="35000"/>
            </a:spcAft>
            <a:buNone/>
          </a:pPr>
          <a:r>
            <a:rPr lang="en-US" sz="1500" b="1" i="0" kern="1200" dirty="0">
              <a:solidFill>
                <a:schemeClr val="bg1"/>
              </a:solidFill>
              <a:effectLst/>
              <a:latin typeface="-apple-system"/>
            </a:rPr>
            <a:t>.m</a:t>
          </a:r>
          <a:r>
            <a:rPr lang="en-US" sz="1500" b="0" i="0" kern="1200" dirty="0">
              <a:solidFill>
                <a:schemeClr val="bg1"/>
              </a:solidFill>
              <a:effectLst/>
              <a:latin typeface="-apple-system"/>
            </a:rPr>
            <a:t> – functions/code</a:t>
          </a:r>
        </a:p>
        <a:p>
          <a:pPr marL="0" lvl="0" indent="0" algn="ctr" defTabSz="666750">
            <a:lnSpc>
              <a:spcPct val="90000"/>
            </a:lnSpc>
            <a:spcBef>
              <a:spcPct val="0"/>
            </a:spcBef>
            <a:spcAft>
              <a:spcPct val="35000"/>
            </a:spcAft>
            <a:buNone/>
          </a:pPr>
          <a:r>
            <a:rPr lang="en-US" sz="1500" b="1" i="0" kern="1200" dirty="0">
              <a:solidFill>
                <a:schemeClr val="bg1"/>
              </a:solidFill>
              <a:effectLst/>
              <a:latin typeface="-apple-system"/>
            </a:rPr>
            <a:t>.mlx </a:t>
          </a:r>
          <a:r>
            <a:rPr lang="en-US" sz="1500" b="0" i="0" kern="1200" dirty="0">
              <a:solidFill>
                <a:schemeClr val="bg1"/>
              </a:solidFill>
              <a:effectLst/>
              <a:latin typeface="-apple-system"/>
            </a:rPr>
            <a:t>– </a:t>
          </a:r>
          <a:r>
            <a:rPr lang="en-US" sz="1500" b="0" i="0" kern="1200" dirty="0" err="1">
              <a:solidFill>
                <a:schemeClr val="bg1"/>
              </a:solidFill>
              <a:effectLst/>
              <a:latin typeface="-apple-system"/>
            </a:rPr>
            <a:t>livescript</a:t>
          </a:r>
          <a:r>
            <a:rPr lang="en-US" sz="1500" b="0" i="0" kern="1200" dirty="0">
              <a:solidFill>
                <a:schemeClr val="bg1"/>
              </a:solidFill>
              <a:effectLst/>
              <a:latin typeface="-apple-system"/>
            </a:rPr>
            <a:t> </a:t>
          </a:r>
          <a:endParaRPr lang="en-US" sz="1500" kern="1200" dirty="0">
            <a:solidFill>
              <a:schemeClr val="bg1"/>
            </a:solidFill>
          </a:endParaRPr>
        </a:p>
      </dsp:txBody>
      <dsp:txXfrm>
        <a:off x="954583" y="1708928"/>
        <a:ext cx="2435248" cy="1461149"/>
      </dsp:txXfrm>
    </dsp:sp>
    <dsp:sp modelId="{AB569484-1B26-C647-B0D8-60C95E8B2FF5}">
      <dsp:nvSpPr>
        <dsp:cNvPr id="0" name=""/>
        <dsp:cNvSpPr/>
      </dsp:nvSpPr>
      <dsp:spPr>
        <a:xfrm>
          <a:off x="945987" y="46661"/>
          <a:ext cx="2435248" cy="146114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u="sng" kern="1200" dirty="0">
              <a:solidFill>
                <a:schemeClr val="bg1"/>
              </a:solidFill>
              <a:latin typeface="-apple-system"/>
            </a:rPr>
            <a:t>Python </a:t>
          </a:r>
        </a:p>
        <a:p>
          <a:pPr marL="0" lvl="0" indent="0" algn="ctr" defTabSz="666750">
            <a:lnSpc>
              <a:spcPct val="90000"/>
            </a:lnSpc>
            <a:spcBef>
              <a:spcPct val="0"/>
            </a:spcBef>
            <a:spcAft>
              <a:spcPct val="35000"/>
            </a:spcAft>
            <a:buNone/>
          </a:pPr>
          <a:r>
            <a:rPr lang="en-US" sz="1500" b="1" kern="1200" dirty="0">
              <a:solidFill>
                <a:schemeClr val="bg1"/>
              </a:solidFill>
              <a:latin typeface="-apple-system"/>
            </a:rPr>
            <a:t>.py</a:t>
          </a:r>
          <a:r>
            <a:rPr lang="en-US" sz="1500" kern="1200" dirty="0">
              <a:solidFill>
                <a:schemeClr val="bg1"/>
              </a:solidFill>
              <a:latin typeface="-apple-system"/>
            </a:rPr>
            <a:t> – functions/code </a:t>
          </a:r>
        </a:p>
        <a:p>
          <a:pPr marL="0" lvl="0" indent="0" algn="ctr" defTabSz="666750">
            <a:lnSpc>
              <a:spcPct val="90000"/>
            </a:lnSpc>
            <a:spcBef>
              <a:spcPct val="0"/>
            </a:spcBef>
            <a:spcAft>
              <a:spcPct val="35000"/>
            </a:spcAft>
            <a:buNone/>
          </a:pPr>
          <a:r>
            <a:rPr lang="en-US" sz="1500" b="1" kern="1200" dirty="0">
              <a:solidFill>
                <a:schemeClr val="bg1"/>
              </a:solidFill>
              <a:latin typeface="-apple-system"/>
            </a:rPr>
            <a:t>.ipynb</a:t>
          </a:r>
          <a:r>
            <a:rPr lang="en-US" sz="1500" kern="1200" dirty="0">
              <a:solidFill>
                <a:schemeClr val="bg1"/>
              </a:solidFill>
              <a:latin typeface="-apple-system"/>
            </a:rPr>
            <a:t> – Interactive Python Notebook</a:t>
          </a:r>
          <a:endParaRPr lang="en-US" sz="1500" kern="1200" dirty="0">
            <a:solidFill>
              <a:schemeClr val="bg1"/>
            </a:solidFill>
          </a:endParaRPr>
        </a:p>
      </dsp:txBody>
      <dsp:txXfrm>
        <a:off x="945987" y="46661"/>
        <a:ext cx="2435248" cy="1461149"/>
      </dsp:txXfrm>
    </dsp:sp>
    <dsp:sp modelId="{CBEF1185-8119-9D4F-A50B-875228872310}">
      <dsp:nvSpPr>
        <dsp:cNvPr id="0" name=""/>
        <dsp:cNvSpPr/>
      </dsp:nvSpPr>
      <dsp:spPr>
        <a:xfrm>
          <a:off x="954583" y="5118276"/>
          <a:ext cx="2435248" cy="1461149"/>
        </a:xfrm>
        <a:prstGeom prst="rect">
          <a:avLst/>
        </a:prstGeom>
        <a:solidFill>
          <a:srgbClr val="C00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i="0" u="sng" kern="1200" dirty="0">
              <a:solidFill>
                <a:schemeClr val="bg1"/>
              </a:solidFill>
              <a:effectLst/>
              <a:latin typeface="-apple-system"/>
            </a:rPr>
            <a:t>Data Storage</a:t>
          </a:r>
        </a:p>
        <a:p>
          <a:pPr marL="0" lvl="0" indent="0" algn="ctr" defTabSz="666750">
            <a:lnSpc>
              <a:spcPct val="90000"/>
            </a:lnSpc>
            <a:spcBef>
              <a:spcPct val="0"/>
            </a:spcBef>
            <a:spcAft>
              <a:spcPct val="35000"/>
            </a:spcAft>
            <a:buNone/>
          </a:pPr>
          <a:r>
            <a:rPr lang="en-US" sz="1500" b="1" i="0" kern="1200" dirty="0">
              <a:solidFill>
                <a:schemeClr val="bg1"/>
              </a:solidFill>
              <a:effectLst/>
              <a:latin typeface="-apple-system"/>
            </a:rPr>
            <a:t>.</a:t>
          </a:r>
          <a:r>
            <a:rPr lang="en-US" sz="1500" b="1" i="0" kern="1200" dirty="0" err="1">
              <a:solidFill>
                <a:schemeClr val="bg1"/>
              </a:solidFill>
              <a:effectLst/>
              <a:latin typeface="-apple-system"/>
            </a:rPr>
            <a:t>nc</a:t>
          </a:r>
          <a:r>
            <a:rPr lang="en-US" sz="1500" b="1" i="0" kern="1200" dirty="0">
              <a:solidFill>
                <a:schemeClr val="bg1"/>
              </a:solidFill>
              <a:effectLst/>
              <a:latin typeface="-apple-system"/>
            </a:rPr>
            <a:t> </a:t>
          </a:r>
          <a:r>
            <a:rPr lang="en-US" sz="1500" b="0" i="0" kern="1200" dirty="0">
              <a:solidFill>
                <a:schemeClr val="bg1"/>
              </a:solidFill>
              <a:effectLst/>
              <a:latin typeface="-apple-system"/>
            </a:rPr>
            <a:t>– NetCDF </a:t>
          </a:r>
        </a:p>
        <a:p>
          <a:pPr marL="0" lvl="0" indent="0" algn="ctr" defTabSz="666750">
            <a:lnSpc>
              <a:spcPct val="90000"/>
            </a:lnSpc>
            <a:spcBef>
              <a:spcPct val="0"/>
            </a:spcBef>
            <a:spcAft>
              <a:spcPct val="35000"/>
            </a:spcAft>
            <a:buNone/>
          </a:pPr>
          <a:r>
            <a:rPr lang="en-US" sz="1500" b="1" kern="1200" dirty="0">
              <a:solidFill>
                <a:schemeClr val="bg1"/>
              </a:solidFill>
              <a:latin typeface="-apple-system"/>
            </a:rPr>
            <a:t>.txt </a:t>
          </a:r>
          <a:r>
            <a:rPr lang="en-US" sz="1500" kern="1200" dirty="0">
              <a:solidFill>
                <a:schemeClr val="bg1"/>
              </a:solidFill>
              <a:latin typeface="-apple-system"/>
            </a:rPr>
            <a:t>– Text File</a:t>
          </a:r>
        </a:p>
        <a:p>
          <a:pPr marL="0" lvl="0" indent="0" algn="ctr" defTabSz="666750">
            <a:lnSpc>
              <a:spcPct val="90000"/>
            </a:lnSpc>
            <a:spcBef>
              <a:spcPct val="0"/>
            </a:spcBef>
            <a:spcAft>
              <a:spcPct val="35000"/>
            </a:spcAft>
            <a:buNone/>
          </a:pPr>
          <a:r>
            <a:rPr lang="en-US" sz="1500" b="1" i="0" kern="1200" dirty="0">
              <a:solidFill>
                <a:schemeClr val="bg1"/>
              </a:solidFill>
              <a:effectLst/>
              <a:latin typeface="-apple-system"/>
            </a:rPr>
            <a:t>.csv </a:t>
          </a:r>
          <a:r>
            <a:rPr lang="en-US" sz="1500" b="0" i="0" kern="1200" dirty="0">
              <a:solidFill>
                <a:schemeClr val="bg1"/>
              </a:solidFill>
              <a:effectLst/>
              <a:latin typeface="-apple-system"/>
            </a:rPr>
            <a:t>– Spreadsheet </a:t>
          </a:r>
          <a:endParaRPr lang="en-US" sz="1500" kern="1200" dirty="0">
            <a:solidFill>
              <a:schemeClr val="bg1"/>
            </a:solidFill>
          </a:endParaRPr>
        </a:p>
      </dsp:txBody>
      <dsp:txXfrm>
        <a:off x="954583" y="5118276"/>
        <a:ext cx="2435248" cy="14611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8047DB-6D5E-7E47-BB76-B67986828284}">
      <dsp:nvSpPr>
        <dsp:cNvPr id="0" name=""/>
        <dsp:cNvSpPr/>
      </dsp:nvSpPr>
      <dsp:spPr>
        <a:xfrm>
          <a:off x="992" y="1741950"/>
          <a:ext cx="1934765" cy="1934765"/>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477" tIns="29210" rIns="106477" bIns="29210" numCol="1" spcCol="1270" anchor="ctr" anchorCtr="0">
          <a:noAutofit/>
        </a:bodyPr>
        <a:lstStyle/>
        <a:p>
          <a:pPr marL="0" lvl="0" indent="0" algn="ctr" defTabSz="1022350">
            <a:lnSpc>
              <a:spcPct val="90000"/>
            </a:lnSpc>
            <a:spcBef>
              <a:spcPct val="0"/>
            </a:spcBef>
            <a:spcAft>
              <a:spcPct val="35000"/>
            </a:spcAft>
            <a:buNone/>
          </a:pPr>
          <a:r>
            <a:rPr lang="en-US" sz="2300" kern="1200" dirty="0"/>
            <a:t>Pull to LOCAL</a:t>
          </a:r>
        </a:p>
      </dsp:txBody>
      <dsp:txXfrm>
        <a:off x="284332" y="2025290"/>
        <a:ext cx="1368085" cy="1368085"/>
      </dsp:txXfrm>
    </dsp:sp>
    <dsp:sp modelId="{C019D5D2-940E-2443-B97D-3447199BC06C}">
      <dsp:nvSpPr>
        <dsp:cNvPr id="0" name=""/>
        <dsp:cNvSpPr/>
      </dsp:nvSpPr>
      <dsp:spPr>
        <a:xfrm>
          <a:off x="1548804" y="1741950"/>
          <a:ext cx="1934765" cy="1934765"/>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477" tIns="29210" rIns="106477" bIns="29210" numCol="1" spcCol="1270" anchor="ctr" anchorCtr="0">
          <a:noAutofit/>
        </a:bodyPr>
        <a:lstStyle/>
        <a:p>
          <a:pPr marL="0" lvl="0" indent="0" algn="ctr" defTabSz="1022350">
            <a:lnSpc>
              <a:spcPct val="90000"/>
            </a:lnSpc>
            <a:spcBef>
              <a:spcPct val="0"/>
            </a:spcBef>
            <a:spcAft>
              <a:spcPct val="35000"/>
            </a:spcAft>
            <a:buNone/>
          </a:pPr>
          <a:r>
            <a:rPr lang="en-US" sz="2300" kern="1200" dirty="0"/>
            <a:t>Edit</a:t>
          </a:r>
        </a:p>
      </dsp:txBody>
      <dsp:txXfrm>
        <a:off x="1832144" y="2025290"/>
        <a:ext cx="1368085" cy="1368085"/>
      </dsp:txXfrm>
    </dsp:sp>
    <dsp:sp modelId="{9BE34EB1-73D7-3440-854A-8640ABAE0A0C}">
      <dsp:nvSpPr>
        <dsp:cNvPr id="0" name=""/>
        <dsp:cNvSpPr/>
      </dsp:nvSpPr>
      <dsp:spPr>
        <a:xfrm>
          <a:off x="3096617" y="1741950"/>
          <a:ext cx="1934765" cy="1934765"/>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477" tIns="29210" rIns="106477" bIns="29210" numCol="1" spcCol="1270" anchor="ctr" anchorCtr="0">
          <a:noAutofit/>
        </a:bodyPr>
        <a:lstStyle/>
        <a:p>
          <a:pPr marL="0" lvl="0" indent="0" algn="ctr" defTabSz="1022350">
            <a:lnSpc>
              <a:spcPct val="90000"/>
            </a:lnSpc>
            <a:spcBef>
              <a:spcPct val="0"/>
            </a:spcBef>
            <a:spcAft>
              <a:spcPct val="35000"/>
            </a:spcAft>
            <a:buNone/>
          </a:pPr>
          <a:r>
            <a:rPr lang="en-US" sz="2300" kern="1200" dirty="0"/>
            <a:t>Add changes</a:t>
          </a:r>
        </a:p>
      </dsp:txBody>
      <dsp:txXfrm>
        <a:off x="3379957" y="2025290"/>
        <a:ext cx="1368085" cy="1368085"/>
      </dsp:txXfrm>
    </dsp:sp>
    <dsp:sp modelId="{FE106EED-32BB-9E45-8A5F-19D0B995DE5D}">
      <dsp:nvSpPr>
        <dsp:cNvPr id="0" name=""/>
        <dsp:cNvSpPr/>
      </dsp:nvSpPr>
      <dsp:spPr>
        <a:xfrm>
          <a:off x="4644429" y="1741950"/>
          <a:ext cx="1934765" cy="1934765"/>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477" tIns="29210" rIns="106477" bIns="29210" numCol="1" spcCol="1270" anchor="ctr" anchorCtr="0">
          <a:noAutofit/>
        </a:bodyPr>
        <a:lstStyle/>
        <a:p>
          <a:pPr marL="0" lvl="0" indent="0" algn="ctr" defTabSz="1022350">
            <a:lnSpc>
              <a:spcPct val="90000"/>
            </a:lnSpc>
            <a:spcBef>
              <a:spcPct val="0"/>
            </a:spcBef>
            <a:spcAft>
              <a:spcPct val="35000"/>
            </a:spcAft>
            <a:buNone/>
          </a:pPr>
          <a:r>
            <a:rPr lang="en-US" sz="2300" kern="1200" dirty="0"/>
            <a:t>Commit changes to branch</a:t>
          </a:r>
        </a:p>
      </dsp:txBody>
      <dsp:txXfrm>
        <a:off x="4927769" y="2025290"/>
        <a:ext cx="1368085" cy="1368085"/>
      </dsp:txXfrm>
    </dsp:sp>
    <dsp:sp modelId="{64D930CC-B690-AE4A-8A5D-0EA10D418658}">
      <dsp:nvSpPr>
        <dsp:cNvPr id="0" name=""/>
        <dsp:cNvSpPr/>
      </dsp:nvSpPr>
      <dsp:spPr>
        <a:xfrm>
          <a:off x="6192242" y="1741950"/>
          <a:ext cx="1934765" cy="1934765"/>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477" tIns="29210" rIns="106477" bIns="29210" numCol="1" spcCol="1270" anchor="ctr" anchorCtr="0">
          <a:noAutofit/>
        </a:bodyPr>
        <a:lstStyle/>
        <a:p>
          <a:pPr marL="0" lvl="0" indent="0" algn="ctr" defTabSz="1022350">
            <a:lnSpc>
              <a:spcPct val="90000"/>
            </a:lnSpc>
            <a:spcBef>
              <a:spcPct val="0"/>
            </a:spcBef>
            <a:spcAft>
              <a:spcPct val="35000"/>
            </a:spcAft>
            <a:buNone/>
          </a:pPr>
          <a:r>
            <a:rPr lang="en-US" sz="2300" kern="1200" dirty="0"/>
            <a:t>Push to</a:t>
          </a:r>
        </a:p>
        <a:p>
          <a:pPr marL="0" lvl="0" indent="0" algn="ctr" defTabSz="1022350">
            <a:lnSpc>
              <a:spcPct val="90000"/>
            </a:lnSpc>
            <a:spcBef>
              <a:spcPct val="0"/>
            </a:spcBef>
            <a:spcAft>
              <a:spcPct val="35000"/>
            </a:spcAft>
            <a:buNone/>
          </a:pPr>
          <a:r>
            <a:rPr lang="en-US" sz="2300" kern="1200" dirty="0"/>
            <a:t>REMOTE</a:t>
          </a:r>
        </a:p>
      </dsp:txBody>
      <dsp:txXfrm>
        <a:off x="6475582" y="2025290"/>
        <a:ext cx="1368085" cy="13680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8047DB-6D5E-7E47-BB76-B67986828284}">
      <dsp:nvSpPr>
        <dsp:cNvPr id="0" name=""/>
        <dsp:cNvSpPr/>
      </dsp:nvSpPr>
      <dsp:spPr>
        <a:xfrm>
          <a:off x="740" y="1299896"/>
          <a:ext cx="1443781" cy="1443781"/>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9456" tIns="21590" rIns="79456" bIns="21590" numCol="1" spcCol="1270" anchor="ctr" anchorCtr="0">
          <a:noAutofit/>
        </a:bodyPr>
        <a:lstStyle/>
        <a:p>
          <a:pPr marL="0" lvl="0" indent="0" algn="ctr" defTabSz="755650">
            <a:lnSpc>
              <a:spcPct val="90000"/>
            </a:lnSpc>
            <a:spcBef>
              <a:spcPct val="0"/>
            </a:spcBef>
            <a:spcAft>
              <a:spcPct val="35000"/>
            </a:spcAft>
            <a:buNone/>
          </a:pPr>
          <a:r>
            <a:rPr lang="en-US" sz="1700" kern="1200" dirty="0"/>
            <a:t>Pull to LOCAL</a:t>
          </a:r>
        </a:p>
      </dsp:txBody>
      <dsp:txXfrm>
        <a:off x="212177" y="1511333"/>
        <a:ext cx="1020907" cy="1020907"/>
      </dsp:txXfrm>
    </dsp:sp>
    <dsp:sp modelId="{C019D5D2-940E-2443-B97D-3447199BC06C}">
      <dsp:nvSpPr>
        <dsp:cNvPr id="0" name=""/>
        <dsp:cNvSpPr/>
      </dsp:nvSpPr>
      <dsp:spPr>
        <a:xfrm>
          <a:off x="1155765" y="1299896"/>
          <a:ext cx="1443781" cy="1443781"/>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9456" tIns="21590" rIns="79456" bIns="21590" numCol="1" spcCol="1270" anchor="ctr" anchorCtr="0">
          <a:noAutofit/>
        </a:bodyPr>
        <a:lstStyle/>
        <a:p>
          <a:pPr marL="0" lvl="0" indent="0" algn="ctr" defTabSz="755650">
            <a:lnSpc>
              <a:spcPct val="90000"/>
            </a:lnSpc>
            <a:spcBef>
              <a:spcPct val="0"/>
            </a:spcBef>
            <a:spcAft>
              <a:spcPct val="35000"/>
            </a:spcAft>
            <a:buNone/>
          </a:pPr>
          <a:r>
            <a:rPr lang="en-US" sz="1700" kern="1200" dirty="0"/>
            <a:t>Edit</a:t>
          </a:r>
        </a:p>
      </dsp:txBody>
      <dsp:txXfrm>
        <a:off x="1367202" y="1511333"/>
        <a:ext cx="1020907" cy="1020907"/>
      </dsp:txXfrm>
    </dsp:sp>
    <dsp:sp modelId="{9BE34EB1-73D7-3440-854A-8640ABAE0A0C}">
      <dsp:nvSpPr>
        <dsp:cNvPr id="0" name=""/>
        <dsp:cNvSpPr/>
      </dsp:nvSpPr>
      <dsp:spPr>
        <a:xfrm>
          <a:off x="2310790" y="1299896"/>
          <a:ext cx="1443781" cy="1443781"/>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9456" tIns="21590" rIns="79456" bIns="21590" numCol="1" spcCol="1270" anchor="ctr" anchorCtr="0">
          <a:noAutofit/>
        </a:bodyPr>
        <a:lstStyle/>
        <a:p>
          <a:pPr marL="0" lvl="0" indent="0" algn="ctr" defTabSz="755650">
            <a:lnSpc>
              <a:spcPct val="90000"/>
            </a:lnSpc>
            <a:spcBef>
              <a:spcPct val="0"/>
            </a:spcBef>
            <a:spcAft>
              <a:spcPct val="35000"/>
            </a:spcAft>
            <a:buNone/>
          </a:pPr>
          <a:r>
            <a:rPr lang="en-US" sz="1700" kern="1200" dirty="0"/>
            <a:t>Add changes</a:t>
          </a:r>
        </a:p>
      </dsp:txBody>
      <dsp:txXfrm>
        <a:off x="2522227" y="1511333"/>
        <a:ext cx="1020907" cy="1020907"/>
      </dsp:txXfrm>
    </dsp:sp>
    <dsp:sp modelId="{FE106EED-32BB-9E45-8A5F-19D0B995DE5D}">
      <dsp:nvSpPr>
        <dsp:cNvPr id="0" name=""/>
        <dsp:cNvSpPr/>
      </dsp:nvSpPr>
      <dsp:spPr>
        <a:xfrm>
          <a:off x="3465815" y="1299896"/>
          <a:ext cx="1443781" cy="1443781"/>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9456" tIns="21590" rIns="79456" bIns="21590" numCol="1" spcCol="1270" anchor="ctr" anchorCtr="0">
          <a:noAutofit/>
        </a:bodyPr>
        <a:lstStyle/>
        <a:p>
          <a:pPr marL="0" lvl="0" indent="0" algn="ctr" defTabSz="755650">
            <a:lnSpc>
              <a:spcPct val="90000"/>
            </a:lnSpc>
            <a:spcBef>
              <a:spcPct val="0"/>
            </a:spcBef>
            <a:spcAft>
              <a:spcPct val="35000"/>
            </a:spcAft>
            <a:buNone/>
          </a:pPr>
          <a:r>
            <a:rPr lang="en-US" sz="1700" kern="1200" dirty="0"/>
            <a:t>Commit changes to branch</a:t>
          </a:r>
        </a:p>
      </dsp:txBody>
      <dsp:txXfrm>
        <a:off x="3677252" y="1511333"/>
        <a:ext cx="1020907" cy="1020907"/>
      </dsp:txXfrm>
    </dsp:sp>
    <dsp:sp modelId="{64D930CC-B690-AE4A-8A5D-0EA10D418658}">
      <dsp:nvSpPr>
        <dsp:cNvPr id="0" name=""/>
        <dsp:cNvSpPr/>
      </dsp:nvSpPr>
      <dsp:spPr>
        <a:xfrm>
          <a:off x="4620840" y="1299896"/>
          <a:ext cx="1443781" cy="1443781"/>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9456" tIns="21590" rIns="79456" bIns="21590" numCol="1" spcCol="1270" anchor="ctr" anchorCtr="0">
          <a:noAutofit/>
        </a:bodyPr>
        <a:lstStyle/>
        <a:p>
          <a:pPr marL="0" lvl="0" indent="0" algn="ctr" defTabSz="755650">
            <a:lnSpc>
              <a:spcPct val="90000"/>
            </a:lnSpc>
            <a:spcBef>
              <a:spcPct val="0"/>
            </a:spcBef>
            <a:spcAft>
              <a:spcPct val="35000"/>
            </a:spcAft>
            <a:buNone/>
          </a:pPr>
          <a:r>
            <a:rPr lang="en-US" sz="1700" kern="1200" dirty="0"/>
            <a:t>Push to</a:t>
          </a:r>
        </a:p>
        <a:p>
          <a:pPr marL="0" lvl="0" indent="0" algn="ctr" defTabSz="755650">
            <a:lnSpc>
              <a:spcPct val="90000"/>
            </a:lnSpc>
            <a:spcBef>
              <a:spcPct val="0"/>
            </a:spcBef>
            <a:spcAft>
              <a:spcPct val="35000"/>
            </a:spcAft>
            <a:buNone/>
          </a:pPr>
          <a:r>
            <a:rPr lang="en-US" sz="1700" kern="1200" dirty="0"/>
            <a:t>REMOTE</a:t>
          </a:r>
        </a:p>
      </dsp:txBody>
      <dsp:txXfrm>
        <a:off x="4832277" y="1511333"/>
        <a:ext cx="1020907" cy="102090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20C886-1896-864B-AF40-31E233D9D40D}" type="datetimeFigureOut">
              <a:rPr lang="en-US" smtClean="0"/>
              <a:t>5/22/24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04EDAF-8F7A-2546-921D-730C3CCD5C3B}" type="slidenum">
              <a:rPr lang="en-US" smtClean="0"/>
              <a:t>‹#›</a:t>
            </a:fld>
            <a:endParaRPr lang="en-US"/>
          </a:p>
        </p:txBody>
      </p:sp>
    </p:spTree>
    <p:extLst>
      <p:ext uri="{BB962C8B-B14F-4D97-AF65-F5344CB8AC3E}">
        <p14:creationId xmlns:p14="http://schemas.microsoft.com/office/powerpoint/2010/main" val="960710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40C28"/>
                </a:solidFill>
                <a:effectLst/>
                <a:latin typeface="Google Sans"/>
              </a:rPr>
              <a:t>In sequential computing, operations are performed in order one at a time - </a:t>
            </a:r>
            <a:r>
              <a:rPr lang="en-US" dirty="0">
                <a:solidFill>
                  <a:srgbClr val="180D36"/>
                </a:solidFill>
                <a:highlight>
                  <a:srgbClr val="FFFFFF"/>
                </a:highlight>
                <a:latin typeface="Poppins" pitchFamily="2" charset="77"/>
              </a:rPr>
              <a:t>S</a:t>
            </a:r>
            <a:r>
              <a:rPr lang="en-US" b="0" i="0" dirty="0">
                <a:solidFill>
                  <a:srgbClr val="180D36"/>
                </a:solidFill>
                <a:effectLst/>
                <a:highlight>
                  <a:srgbClr val="FFFFFF"/>
                </a:highlight>
                <a:latin typeface="Poppins" pitchFamily="2" charset="77"/>
              </a:rPr>
              <a:t>olves problems principally by dividing the workload into tasks, and then executing them in sequence on one processor—serial computing.</a:t>
            </a:r>
          </a:p>
          <a:p>
            <a:pPr marL="0" indent="0" algn="l">
              <a:buNone/>
            </a:pPr>
            <a:endParaRPr lang="en-US" b="0" i="0" dirty="0">
              <a:solidFill>
                <a:srgbClr val="040C28"/>
              </a:solidFill>
              <a:effectLst/>
              <a:latin typeface="Google Sans"/>
            </a:endParaRPr>
          </a:p>
          <a:p>
            <a:pPr marL="0" indent="0" algn="l">
              <a:buNone/>
            </a:pPr>
            <a:r>
              <a:rPr lang="en-US" b="0" i="0" dirty="0">
                <a:solidFill>
                  <a:srgbClr val="040C28"/>
                </a:solidFill>
                <a:effectLst/>
                <a:latin typeface="Google Sans"/>
              </a:rPr>
              <a:t>In parallel computing, the program is broken into smaller steps, some of which are performed at the same time</a:t>
            </a:r>
            <a:r>
              <a:rPr lang="en-US" b="0" i="0" dirty="0">
                <a:solidFill>
                  <a:srgbClr val="202124"/>
                </a:solidFill>
                <a:effectLst/>
                <a:highlight>
                  <a:srgbClr val="FFFFFF"/>
                </a:highlight>
                <a:latin typeface="Google Sans"/>
              </a:rPr>
              <a:t>.</a:t>
            </a:r>
            <a:endParaRPr lang="en-US" dirty="0">
              <a:solidFill>
                <a:srgbClr val="180D36"/>
              </a:solidFill>
              <a:highlight>
                <a:srgbClr val="FFFFFF"/>
              </a:highlight>
              <a:latin typeface="Poppins" pitchFamily="2" charset="77"/>
            </a:endParaRPr>
          </a:p>
          <a:p>
            <a:pPr marL="0" indent="0" algn="l">
              <a:buNone/>
            </a:pPr>
            <a:endParaRPr lang="en-US" dirty="0">
              <a:solidFill>
                <a:srgbClr val="180D36"/>
              </a:solidFill>
              <a:highlight>
                <a:srgbClr val="FFFFFF"/>
              </a:highlight>
              <a:latin typeface="Poppins" pitchFamily="2" charset="77"/>
            </a:endParaRPr>
          </a:p>
          <a:p>
            <a:pPr marL="0" indent="0" algn="l">
              <a:buNone/>
            </a:pPr>
            <a:endParaRPr lang="en-US" b="0" i="0" dirty="0">
              <a:solidFill>
                <a:srgbClr val="180D36"/>
              </a:solidFill>
              <a:effectLst/>
              <a:highlight>
                <a:srgbClr val="FFFFFF"/>
              </a:highlight>
              <a:latin typeface="Poppins" pitchFamily="2" charset="77"/>
            </a:endParaRPr>
          </a:p>
          <a:p>
            <a:pPr marL="0" indent="0" algn="l">
              <a:buNone/>
            </a:pPr>
            <a:r>
              <a:rPr lang="en-US" b="0" i="0" dirty="0">
                <a:solidFill>
                  <a:srgbClr val="180D36"/>
                </a:solidFill>
                <a:effectLst/>
                <a:highlight>
                  <a:srgbClr val="FFFFFF"/>
                </a:highlight>
                <a:latin typeface="Poppins" pitchFamily="2" charset="77"/>
              </a:rPr>
              <a:t>HPC:</a:t>
            </a:r>
          </a:p>
          <a:p>
            <a:pPr marL="0" indent="0" algn="l">
              <a:buNone/>
            </a:pPr>
            <a:endParaRPr lang="en-US" b="0" i="0" dirty="0">
              <a:solidFill>
                <a:srgbClr val="180D36"/>
              </a:solidFill>
              <a:effectLst/>
              <a:highlight>
                <a:srgbClr val="FFFFFF"/>
              </a:highlight>
              <a:latin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80D36"/>
                </a:solidFill>
                <a:effectLst/>
                <a:highlight>
                  <a:srgbClr val="FFFFFF"/>
                </a:highlight>
                <a:latin typeface="Poppins" pitchFamily="2" charset="77"/>
              </a:rPr>
              <a:t>Computing clusters (multiple high-speed computer servers, called nodes,  networked together. Just one HPC cluster may include over 100,000 nodes.)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80D36"/>
                </a:solidFill>
                <a:effectLst/>
                <a:highlight>
                  <a:srgbClr val="FFFFFF"/>
                </a:highlight>
                <a:latin typeface="Poppins" pitchFamily="2" charset="77"/>
              </a:rPr>
              <a:t>parallel computing (</a:t>
            </a:r>
            <a:r>
              <a:rPr lang="en-US" b="0" i="0" dirty="0">
                <a:solidFill>
                  <a:srgbClr val="231820"/>
                </a:solidFill>
                <a:effectLst/>
                <a:highlight>
                  <a:srgbClr val="FFFFFF"/>
                </a:highlight>
              </a:rPr>
              <a:t>multiple computers breaking down individual tasks to work together simultaneously)</a:t>
            </a:r>
            <a:endParaRPr lang="en-US" b="0" i="0" dirty="0">
              <a:solidFill>
                <a:srgbClr val="180D36"/>
              </a:solidFill>
              <a:effectLst/>
              <a:highlight>
                <a:srgbClr val="FFFFFF"/>
              </a:highlight>
              <a:latin typeface="Poppins" pitchFamily="2" charset="77"/>
            </a:endParaRPr>
          </a:p>
          <a:p>
            <a:pPr marL="0" indent="0" algn="l">
              <a:buNone/>
            </a:pPr>
            <a:r>
              <a:rPr lang="en-US" b="0" i="0" dirty="0">
                <a:solidFill>
                  <a:srgbClr val="180D36"/>
                </a:solidFill>
                <a:effectLst/>
                <a:highlight>
                  <a:srgbClr val="FFFFFF"/>
                </a:highlight>
                <a:latin typeface="Poppins" pitchFamily="2" charset="77"/>
              </a:rPr>
              <a:t>high-performance resources and components.</a:t>
            </a:r>
          </a:p>
          <a:p>
            <a:pPr marL="0" indent="0" algn="l">
              <a:buNone/>
            </a:pPr>
            <a:endParaRPr lang="en-US" b="0" i="0" dirty="0">
              <a:solidFill>
                <a:srgbClr val="180D36"/>
              </a:solidFill>
              <a:effectLst/>
              <a:highlight>
                <a:srgbClr val="FFFFFF"/>
              </a:highlight>
              <a:latin typeface="Poppins" pitchFamily="2" charset="77"/>
            </a:endParaRPr>
          </a:p>
          <a:p>
            <a:pPr marL="0" indent="0" algn="l">
              <a:buNone/>
            </a:pPr>
            <a:endParaRPr lang="en-US" b="0" i="0" dirty="0">
              <a:solidFill>
                <a:srgbClr val="180D36"/>
              </a:solidFill>
              <a:effectLst/>
              <a:highlight>
                <a:srgbClr val="FFFFFF"/>
              </a:highlight>
              <a:latin typeface="Poppins" pitchFamily="2" charset="77"/>
            </a:endParaRPr>
          </a:p>
          <a:p>
            <a:pPr marL="0" indent="0">
              <a:buNone/>
            </a:pPr>
            <a:endParaRPr lang="en-US" b="0" i="0" dirty="0">
              <a:solidFill>
                <a:srgbClr val="333333"/>
              </a:solidFill>
              <a:effectLst/>
              <a:highlight>
                <a:srgbClr val="FFFFFF"/>
              </a:highlight>
            </a:endParaRPr>
          </a:p>
          <a:p>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3</a:t>
            </a:fld>
            <a:endParaRPr lang="en-US"/>
          </a:p>
        </p:txBody>
      </p:sp>
    </p:spTree>
    <p:extLst>
      <p:ext uri="{BB962C8B-B14F-4D97-AF65-F5344CB8AC3E}">
        <p14:creationId xmlns:p14="http://schemas.microsoft.com/office/powerpoint/2010/main" val="299594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Expanse is a user portal for the San Diego Supercomputer Center </a:t>
            </a:r>
          </a:p>
          <a:p>
            <a:endParaRPr lang="en-US" dirty="0"/>
          </a:p>
          <a:p>
            <a:pPr algn="l">
              <a:buFont typeface="Arial" panose="020B0604020202020204" pitchFamily="34" charset="0"/>
              <a:buChar char="•"/>
            </a:pPr>
            <a:r>
              <a:rPr lang="en-US" b="0" i="0" dirty="0">
                <a:solidFill>
                  <a:srgbClr val="181E00"/>
                </a:solidFill>
                <a:effectLst/>
                <a:highlight>
                  <a:srgbClr val="FFFFFF"/>
                </a:highlight>
                <a:latin typeface="Google Sans"/>
              </a:rPr>
              <a:t>Command line: Use the hostname </a:t>
            </a:r>
            <a:r>
              <a:rPr lang="en-US" b="0" i="0" dirty="0" err="1">
                <a:solidFill>
                  <a:srgbClr val="181E00"/>
                </a:solidFill>
                <a:effectLst/>
                <a:highlight>
                  <a:srgbClr val="FFFFFF"/>
                </a:highlight>
                <a:latin typeface="Google Sans"/>
              </a:rPr>
              <a:t>login.expanse.sdsc.edu</a:t>
            </a:r>
            <a:endParaRPr lang="en-US" b="0" i="0" dirty="0">
              <a:solidFill>
                <a:srgbClr val="181E00"/>
              </a:solidFill>
              <a:effectLst/>
              <a:highlight>
                <a:srgbClr val="FFFFFF"/>
              </a:highlight>
              <a:latin typeface="Google Sans"/>
            </a:endParaRPr>
          </a:p>
          <a:p>
            <a:pPr algn="l">
              <a:buFont typeface="Arial" panose="020B0604020202020204" pitchFamily="34" charset="0"/>
              <a:buChar char="•"/>
            </a:pPr>
            <a:r>
              <a:rPr lang="en-US" b="0" i="0" dirty="0">
                <a:solidFill>
                  <a:srgbClr val="181E00"/>
                </a:solidFill>
                <a:effectLst/>
                <a:highlight>
                  <a:srgbClr val="FFFFFF"/>
                </a:highlight>
                <a:latin typeface="Google Sans"/>
              </a:rPr>
              <a:t>Web-based access: Use the Expanse User Portal</a:t>
            </a:r>
          </a:p>
          <a:p>
            <a:pPr algn="l">
              <a:buFont typeface="Arial" panose="020B0604020202020204" pitchFamily="34" charset="0"/>
              <a:buChar char="•"/>
            </a:pPr>
            <a:r>
              <a:rPr lang="en-US" b="0" i="0" dirty="0">
                <a:solidFill>
                  <a:srgbClr val="181E00"/>
                </a:solidFill>
                <a:effectLst/>
                <a:highlight>
                  <a:srgbClr val="FFFFFF"/>
                </a:highlight>
                <a:latin typeface="Google Sans"/>
              </a:rPr>
              <a:t>Two-factor authentication: Use Google Authenticator </a:t>
            </a:r>
          </a:p>
          <a:p>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4</a:t>
            </a:fld>
            <a:endParaRPr lang="en-US"/>
          </a:p>
        </p:txBody>
      </p:sp>
    </p:spTree>
    <p:extLst>
      <p:ext uri="{BB962C8B-B14F-4D97-AF65-F5344CB8AC3E}">
        <p14:creationId xmlns:p14="http://schemas.microsoft.com/office/powerpoint/2010/main" val="2983469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highlight>
                  <a:srgbClr val="FFFFFF"/>
                </a:highlight>
                <a:latin typeface="Google Sans"/>
              </a:rPr>
              <a:t>a shell is </a:t>
            </a:r>
            <a:r>
              <a:rPr lang="en-US" b="0" i="0" dirty="0">
                <a:solidFill>
                  <a:srgbClr val="040C28"/>
                </a:solidFill>
                <a:effectLst/>
                <a:latin typeface="Google Sans"/>
              </a:rPr>
              <a:t>a command-line interpreter that processes commands</a:t>
            </a:r>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7</a:t>
            </a:fld>
            <a:endParaRPr lang="en-US"/>
          </a:p>
        </p:txBody>
      </p:sp>
    </p:spTree>
    <p:extLst>
      <p:ext uri="{BB962C8B-B14F-4D97-AF65-F5344CB8AC3E}">
        <p14:creationId xmlns:p14="http://schemas.microsoft.com/office/powerpoint/2010/main" val="1329164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40C28"/>
                </a:solidFill>
                <a:effectLst/>
                <a:latin typeface="Google Sans"/>
              </a:rPr>
              <a:t>"Compute" nodes are for actually running the program</a:t>
            </a:r>
            <a:r>
              <a:rPr lang="en-US" b="0" i="0" dirty="0">
                <a:solidFill>
                  <a:srgbClr val="202124"/>
                </a:solidFill>
                <a:effectLst/>
                <a:highlight>
                  <a:srgbClr val="FFFFFF"/>
                </a:highlight>
                <a:latin typeface="Google Sans"/>
              </a:rPr>
              <a:t>. Any process that uses a significant amount of compute or memory resources must be run on a compute node.</a:t>
            </a:r>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8</a:t>
            </a:fld>
            <a:endParaRPr lang="en-US"/>
          </a:p>
        </p:txBody>
      </p:sp>
    </p:spTree>
    <p:extLst>
      <p:ext uri="{BB962C8B-B14F-4D97-AF65-F5344CB8AC3E}">
        <p14:creationId xmlns:p14="http://schemas.microsoft.com/office/powerpoint/2010/main" val="178555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1" u="sng" dirty="0">
                <a:solidFill>
                  <a:srgbClr val="333333"/>
                </a:solidFill>
                <a:effectLst/>
                <a:highlight>
                  <a:srgbClr val="FFFFFF"/>
                </a:highlight>
              </a:rPr>
              <a:t>SDSC Expanse </a:t>
            </a:r>
            <a:r>
              <a:rPr lang="en-US" b="0" i="1" u="sng" dirty="0" err="1">
                <a:solidFill>
                  <a:srgbClr val="333333"/>
                </a:solidFill>
                <a:effectLst/>
                <a:highlight>
                  <a:srgbClr val="FFFFFF"/>
                </a:highlight>
              </a:rPr>
              <a:t>Lustre</a:t>
            </a:r>
            <a:r>
              <a:rPr lang="en-US" b="0" i="1" u="sng" dirty="0">
                <a:solidFill>
                  <a:srgbClr val="333333"/>
                </a:solidFill>
                <a:effectLst/>
                <a:highlight>
                  <a:srgbClr val="FFFFFF"/>
                </a:highlight>
              </a:rPr>
              <a:t> file system --&gt; Projects &amp; Scratch File Systems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highlight>
                  <a:srgbClr val="FFFFFF"/>
                </a:highlight>
              </a:rPr>
              <a:t>NOT</a:t>
            </a:r>
            <a:r>
              <a:rPr lang="en-US" b="0" i="0" dirty="0">
                <a:solidFill>
                  <a:srgbClr val="333333"/>
                </a:solidFill>
                <a:effectLst/>
                <a:highlight>
                  <a:srgbClr val="FFFFFF"/>
                </a:highlight>
              </a:rPr>
              <a:t> an archival file system and </a:t>
            </a:r>
            <a:r>
              <a:rPr lang="en-US" b="1" i="0" dirty="0">
                <a:solidFill>
                  <a:srgbClr val="333333"/>
                </a:solidFill>
                <a:effectLst/>
                <a:highlight>
                  <a:srgbClr val="FFFFFF"/>
                </a:highlight>
              </a:rPr>
              <a:t>IS NOT</a:t>
            </a:r>
            <a:r>
              <a:rPr lang="en-US" b="0" i="0" dirty="0">
                <a:solidFill>
                  <a:srgbClr val="333333"/>
                </a:solidFill>
                <a:effectLst/>
                <a:highlight>
                  <a:srgbClr val="FFFFFF"/>
                </a:highlight>
              </a:rPr>
              <a:t> backed up</a:t>
            </a:r>
          </a:p>
          <a:p>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10</a:t>
            </a:fld>
            <a:endParaRPr lang="en-US"/>
          </a:p>
        </p:txBody>
      </p:sp>
    </p:spTree>
    <p:extLst>
      <p:ext uri="{BB962C8B-B14F-4D97-AF65-F5344CB8AC3E}">
        <p14:creationId xmlns:p14="http://schemas.microsoft.com/office/powerpoint/2010/main" val="1674320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None/>
            </a:pPr>
            <a:r>
              <a:rPr lang="en-US" sz="1200" dirty="0">
                <a:solidFill>
                  <a:srgbClr val="333333"/>
                </a:solidFill>
                <a:highlight>
                  <a:srgbClr val="FFFFFF"/>
                </a:highlight>
              </a:rPr>
              <a:t>** S</a:t>
            </a:r>
            <a:r>
              <a:rPr lang="en-US" sz="1200" b="0" i="0" dirty="0">
                <a:solidFill>
                  <a:srgbClr val="333333"/>
                </a:solidFill>
                <a:effectLst/>
                <a:highlight>
                  <a:srgbClr val="FFFFFF"/>
                </a:highlight>
              </a:rPr>
              <a:t>hared-node jobs (more than one job on a single node)</a:t>
            </a:r>
          </a:p>
          <a:p>
            <a:pPr marL="0" indent="0" algn="l">
              <a:buNone/>
            </a:pPr>
            <a:endParaRPr lang="en-US" sz="1200" b="0" i="0" dirty="0">
              <a:solidFill>
                <a:srgbClr val="333333"/>
              </a:solidFill>
              <a:effectLst/>
              <a:highlight>
                <a:srgbClr val="FFFFFF"/>
              </a:highlight>
            </a:endParaRPr>
          </a:p>
          <a:p>
            <a:pPr marL="285750" indent="-285750">
              <a:buFont typeface="Arial" panose="020B0604020202020204" pitchFamily="34" charset="0"/>
              <a:buChar char="•"/>
            </a:pPr>
            <a:r>
              <a:rPr lang="en-US" sz="1200" b="0" i="0" dirty="0">
                <a:solidFill>
                  <a:srgbClr val="333333"/>
                </a:solidFill>
                <a:effectLst/>
                <a:highlight>
                  <a:srgbClr val="FFFFFF"/>
                </a:highlight>
              </a:rPr>
              <a:t>improves job throughput</a:t>
            </a:r>
          </a:p>
          <a:p>
            <a:pPr marL="285750" indent="-285750">
              <a:buFont typeface="Arial" panose="020B0604020202020204" pitchFamily="34" charset="0"/>
              <a:buChar char="•"/>
            </a:pPr>
            <a:r>
              <a:rPr lang="en-US" sz="1200" b="0" i="0" dirty="0">
                <a:solidFill>
                  <a:srgbClr val="333333"/>
                </a:solidFill>
                <a:effectLst/>
                <a:highlight>
                  <a:srgbClr val="FFFFFF"/>
                </a:highlight>
              </a:rPr>
              <a:t>provides higher overall system utilization, and </a:t>
            </a:r>
          </a:p>
          <a:p>
            <a:pPr marL="285750" indent="-285750">
              <a:buFont typeface="Arial" panose="020B0604020202020204" pitchFamily="34" charset="0"/>
              <a:buChar char="•"/>
            </a:pPr>
            <a:r>
              <a:rPr lang="en-US" sz="1200" b="0" i="0" dirty="0">
                <a:solidFill>
                  <a:srgbClr val="333333"/>
                </a:solidFill>
                <a:effectLst/>
                <a:highlight>
                  <a:srgbClr val="FFFFFF"/>
                </a:highlight>
              </a:rPr>
              <a:t>allows more users to run on </a:t>
            </a:r>
            <a:r>
              <a:rPr lang="en-US" sz="1200" b="0" i="1" dirty="0">
                <a:solidFill>
                  <a:srgbClr val="333333"/>
                </a:solidFill>
                <a:effectLst/>
                <a:highlight>
                  <a:srgbClr val="FFFFFF"/>
                </a:highlight>
              </a:rPr>
              <a:t>Expanse</a:t>
            </a:r>
            <a:r>
              <a:rPr lang="en-US" sz="1200" dirty="0">
                <a:solidFill>
                  <a:srgbClr val="333333"/>
                </a:solidFill>
                <a:highlight>
                  <a:srgbClr val="FFFFFF"/>
                </a:highlight>
              </a:rPr>
              <a:t> </a:t>
            </a:r>
          </a:p>
          <a:p>
            <a:pPr marL="285750" indent="-285750">
              <a:buFont typeface="Arial" panose="020B0604020202020204" pitchFamily="34" charset="0"/>
              <a:buChar char="•"/>
            </a:pPr>
            <a:r>
              <a:rPr lang="en-US" sz="1200" dirty="0">
                <a:solidFill>
                  <a:srgbClr val="333333"/>
                </a:solidFill>
                <a:highlight>
                  <a:srgbClr val="FFFFFF"/>
                </a:highlight>
              </a:rPr>
              <a:t>shorter job-request wait time</a:t>
            </a:r>
            <a:endParaRPr lang="en-US" sz="1200" b="0" i="0" dirty="0">
              <a:solidFill>
                <a:srgbClr val="333333"/>
              </a:solidFill>
              <a:effectLst/>
              <a:highlight>
                <a:srgbClr val="FFFFFF"/>
              </a:highlight>
            </a:endParaRPr>
          </a:p>
          <a:p>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13</a:t>
            </a:fld>
            <a:endParaRPr lang="en-US"/>
          </a:p>
        </p:txBody>
      </p:sp>
    </p:spTree>
    <p:extLst>
      <p:ext uri="{BB962C8B-B14F-4D97-AF65-F5344CB8AC3E}">
        <p14:creationId xmlns:p14="http://schemas.microsoft.com/office/powerpoint/2010/main" val="2397141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note: every HPC has a different language or method for submitting job-requests for parallel-node computation depending on the job manager software that is employed by the HPC cluster. </a:t>
            </a:r>
          </a:p>
          <a:p>
            <a:endParaRPr lang="en-US" dirty="0"/>
          </a:p>
          <a:p>
            <a:pPr marL="228600" indent="-228600">
              <a:buAutoNum type="arabicPeriod"/>
            </a:pPr>
            <a:r>
              <a:rPr lang="en-US" dirty="0"/>
              <a:t>SLURM Workload Manager</a:t>
            </a:r>
          </a:p>
          <a:p>
            <a:pPr marL="228600" indent="-228600">
              <a:buAutoNum type="arabicPeriod"/>
            </a:pPr>
            <a:r>
              <a:rPr lang="en-US" dirty="0"/>
              <a:t>Portable Batch System (PBS) Works</a:t>
            </a:r>
          </a:p>
          <a:p>
            <a:pPr marL="228600" indent="-228600">
              <a:buAutoNum type="arabicPeriod"/>
            </a:pPr>
            <a:r>
              <a:rPr lang="en-US" b="0" i="0" dirty="0">
                <a:solidFill>
                  <a:srgbClr val="4D5156"/>
                </a:solidFill>
                <a:effectLst/>
                <a:highlight>
                  <a:srgbClr val="FFFFFF"/>
                </a:highlight>
                <a:latin typeface="Roboto" panose="020F0502020204030204" pitchFamily="34" charset="0"/>
              </a:rPr>
              <a:t>Adaptive Computing</a:t>
            </a:r>
          </a:p>
          <a:p>
            <a:pPr marL="228600" indent="-228600">
              <a:buAutoNum type="arabicPeriod"/>
            </a:pPr>
            <a:r>
              <a:rPr lang="en-US" b="0" i="0" dirty="0">
                <a:solidFill>
                  <a:srgbClr val="4D5156"/>
                </a:solidFill>
                <a:effectLst/>
                <a:highlight>
                  <a:srgbClr val="FFFFFF"/>
                </a:highlight>
                <a:latin typeface="Roboto" panose="020F0502020204030204" pitchFamily="34" charset="0"/>
              </a:rPr>
              <a:t>UNIVA Grid Engine</a:t>
            </a:r>
          </a:p>
          <a:p>
            <a:pPr marL="228600" indent="-228600">
              <a:buAutoNum type="arabicPeriod"/>
            </a:pPr>
            <a:r>
              <a:rPr lang="en-US" b="0" i="0" dirty="0">
                <a:solidFill>
                  <a:srgbClr val="4D5156"/>
                </a:solidFill>
                <a:effectLst/>
                <a:highlight>
                  <a:srgbClr val="FFFFFF"/>
                </a:highlight>
                <a:latin typeface="Roboto" panose="020F0502020204030204" pitchFamily="34" charset="0"/>
              </a:rPr>
              <a:t>Open Grid Scheduler</a:t>
            </a:r>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14</a:t>
            </a:fld>
            <a:endParaRPr lang="en-US"/>
          </a:p>
        </p:txBody>
      </p:sp>
    </p:spTree>
    <p:extLst>
      <p:ext uri="{BB962C8B-B14F-4D97-AF65-F5344CB8AC3E}">
        <p14:creationId xmlns:p14="http://schemas.microsoft.com/office/powerpoint/2010/main" val="1580363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b="1" i="0" dirty="0">
                <a:solidFill>
                  <a:srgbClr val="1F2328"/>
                </a:solidFill>
                <a:effectLst/>
                <a:highlight>
                  <a:srgbClr val="FFFFFF"/>
                </a:highlight>
                <a:latin typeface="-apple-system"/>
              </a:rPr>
              <a:t>Issues</a:t>
            </a:r>
            <a:r>
              <a:rPr lang="en-US" b="0" i="0" dirty="0">
                <a:solidFill>
                  <a:srgbClr val="1F2328"/>
                </a:solidFill>
                <a:effectLst/>
                <a:highlight>
                  <a:srgbClr val="FFFFFF"/>
                </a:highlight>
                <a:latin typeface="-apple-system"/>
              </a:rPr>
              <a:t> can be used to keep track of bugs, enhancements, or other requests (also read-only access)</a:t>
            </a:r>
          </a:p>
          <a:p>
            <a:pPr lvl="1"/>
            <a:r>
              <a:rPr lang="en-US" b="1" dirty="0">
                <a:solidFill>
                  <a:srgbClr val="1F2328"/>
                </a:solidFill>
                <a:highlight>
                  <a:srgbClr val="FFFFFF"/>
                </a:highlight>
                <a:latin typeface="-apple-system"/>
              </a:rPr>
              <a:t>Actions</a:t>
            </a:r>
            <a:r>
              <a:rPr lang="en-US" dirty="0">
                <a:solidFill>
                  <a:srgbClr val="1F2328"/>
                </a:solidFill>
                <a:highlight>
                  <a:srgbClr val="FFFFFF"/>
                </a:highlight>
                <a:latin typeface="-apple-system"/>
              </a:rPr>
              <a:t> provides a </a:t>
            </a:r>
            <a:r>
              <a:rPr lang="en-US" b="0" i="0" dirty="0">
                <a:solidFill>
                  <a:srgbClr val="1F2328"/>
                </a:solidFill>
                <a:effectLst/>
                <a:highlight>
                  <a:srgbClr val="FFFFFF"/>
                </a:highlight>
                <a:latin typeface="-apple-system"/>
              </a:rPr>
              <a:t>delivery platform to automate your build, test, and deployment pipeline.</a:t>
            </a:r>
          </a:p>
          <a:p>
            <a:pPr lvl="1"/>
            <a:r>
              <a:rPr lang="en-US" b="1" dirty="0">
                <a:solidFill>
                  <a:srgbClr val="1F2328"/>
                </a:solidFill>
                <a:highlight>
                  <a:srgbClr val="FFFFFF"/>
                </a:highlight>
                <a:latin typeface="-apple-system"/>
              </a:rPr>
              <a:t>Projects</a:t>
            </a:r>
            <a:r>
              <a:rPr lang="en-US" dirty="0">
                <a:solidFill>
                  <a:srgbClr val="1F2328"/>
                </a:solidFill>
                <a:highlight>
                  <a:srgbClr val="FFFFFF"/>
                </a:highlight>
                <a:latin typeface="-apple-system"/>
              </a:rPr>
              <a:t> </a:t>
            </a:r>
            <a:r>
              <a:rPr lang="en-US" b="0" i="0" dirty="0">
                <a:solidFill>
                  <a:srgbClr val="1F2328"/>
                </a:solidFill>
                <a:effectLst/>
                <a:highlight>
                  <a:srgbClr val="FFFFFF"/>
                </a:highlight>
                <a:latin typeface="-apple-system"/>
              </a:rPr>
              <a:t>tables give you a live canvas to filter, sort, and group issues and pull requests </a:t>
            </a:r>
          </a:p>
          <a:p>
            <a:pPr lvl="1"/>
            <a:r>
              <a:rPr lang="en-US" b="1" i="0" dirty="0">
                <a:solidFill>
                  <a:srgbClr val="1F2328"/>
                </a:solidFill>
                <a:effectLst/>
                <a:highlight>
                  <a:srgbClr val="FFFFFF"/>
                </a:highlight>
                <a:latin typeface="-apple-system"/>
              </a:rPr>
              <a:t>Wikis</a:t>
            </a:r>
            <a:r>
              <a:rPr lang="en-US" b="0" i="0" dirty="0">
                <a:solidFill>
                  <a:srgbClr val="1F2328"/>
                </a:solidFill>
                <a:effectLst/>
                <a:highlight>
                  <a:srgbClr val="FFFFFF"/>
                </a:highlight>
                <a:latin typeface="-apple-system"/>
              </a:rPr>
              <a:t> provide a place in your repository to lay out the roadmap of your project, show the current status, and document software better, together.</a:t>
            </a:r>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22</a:t>
            </a:fld>
            <a:endParaRPr lang="en-US"/>
          </a:p>
        </p:txBody>
      </p:sp>
    </p:spTree>
    <p:extLst>
      <p:ext uri="{BB962C8B-B14F-4D97-AF65-F5344CB8AC3E}">
        <p14:creationId xmlns:p14="http://schemas.microsoft.com/office/powerpoint/2010/main" val="215327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gn="l"/>
            <a:r>
              <a:rPr lang="en-US" b="0" i="0" dirty="0" err="1">
                <a:solidFill>
                  <a:srgbClr val="202124"/>
                </a:solidFill>
                <a:effectLst/>
                <a:highlight>
                  <a:srgbClr val="FFFFFF"/>
                </a:highlight>
                <a:latin typeface="Google Sans"/>
              </a:rPr>
              <a:t>netrc</a:t>
            </a:r>
            <a:r>
              <a:rPr lang="en-US" b="0" i="0" dirty="0">
                <a:solidFill>
                  <a:srgbClr val="202124"/>
                </a:solidFill>
                <a:effectLst/>
                <a:highlight>
                  <a:srgbClr val="FFFFFF"/>
                </a:highlight>
                <a:latin typeface="Google Sans"/>
              </a:rPr>
              <a:t> is a hidden file in a user's home directory and must be owned either by the user executing the command or by the root user.</a:t>
            </a:r>
          </a:p>
          <a:p>
            <a:pPr lvl="1" algn="l"/>
            <a:endParaRPr lang="en-US" b="0" i="0" dirty="0">
              <a:solidFill>
                <a:srgbClr val="202124"/>
              </a:solidFill>
              <a:effectLst/>
              <a:highlight>
                <a:srgbClr val="FFFFFF"/>
              </a:highlight>
              <a:latin typeface="Google Sans"/>
            </a:endParaRPr>
          </a:p>
          <a:p>
            <a:pPr lvl="1" algn="l"/>
            <a:r>
              <a:rPr lang="en-US" b="0" i="0" dirty="0">
                <a:solidFill>
                  <a:srgbClr val="202124"/>
                </a:solidFill>
                <a:effectLst/>
                <a:highlight>
                  <a:srgbClr val="FFFFFF"/>
                </a:highlight>
                <a:latin typeface="Google Sans"/>
              </a:rPr>
              <a:t>a shell is </a:t>
            </a:r>
            <a:r>
              <a:rPr lang="en-US" b="0" i="0" dirty="0">
                <a:solidFill>
                  <a:srgbClr val="040C28"/>
                </a:solidFill>
                <a:effectLst/>
                <a:latin typeface="Google Sans"/>
              </a:rPr>
              <a:t>a command-line interpreter that processes commands</a:t>
            </a:r>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23</a:t>
            </a:fld>
            <a:endParaRPr lang="en-US"/>
          </a:p>
        </p:txBody>
      </p:sp>
    </p:spTree>
    <p:extLst>
      <p:ext uri="{BB962C8B-B14F-4D97-AF65-F5344CB8AC3E}">
        <p14:creationId xmlns:p14="http://schemas.microsoft.com/office/powerpoint/2010/main" val="3626769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ctr"/>
            <a:r>
              <a:rPr lang="en-US" b="0" i="0" dirty="0">
                <a:solidFill>
                  <a:srgbClr val="181E00"/>
                </a:solidFill>
                <a:effectLst/>
                <a:highlight>
                  <a:srgbClr val="FFFFFF"/>
                </a:highlight>
                <a:latin typeface="Google Sans"/>
              </a:rPr>
              <a:t>Windows uses its own operating system, while macOS uses Linux. </a:t>
            </a:r>
          </a:p>
          <a:p>
            <a:pPr algn="l" fontAlgn="ctr"/>
            <a:r>
              <a:rPr lang="en-US" b="0" i="0" dirty="0">
                <a:solidFill>
                  <a:srgbClr val="181E00"/>
                </a:solidFill>
                <a:effectLst/>
                <a:highlight>
                  <a:srgbClr val="FFFFFF"/>
                </a:highlight>
                <a:latin typeface="Google Sans"/>
              </a:rPr>
              <a:t>Windows is a graphical user interface (GUI) based operating system developed by Microsoft. </a:t>
            </a:r>
          </a:p>
          <a:p>
            <a:pPr algn="l" fontAlgn="ctr"/>
            <a:r>
              <a:rPr lang="en-US" b="0" i="0" dirty="0">
                <a:solidFill>
                  <a:srgbClr val="181E00"/>
                </a:solidFill>
                <a:effectLst/>
                <a:highlight>
                  <a:srgbClr val="FFFFFF"/>
                </a:highlight>
                <a:latin typeface="Google Sans"/>
              </a:rPr>
              <a:t>macOS is based on Unix, along with Ubuntu Linux. </a:t>
            </a:r>
          </a:p>
          <a:p>
            <a:pPr algn="l" fontAlgn="ctr"/>
            <a:r>
              <a:rPr lang="en-US" b="0" i="0" dirty="0">
                <a:solidFill>
                  <a:srgbClr val="181E00"/>
                </a:solidFill>
                <a:effectLst/>
                <a:highlight>
                  <a:srgbClr val="FFFFFF"/>
                </a:highlight>
                <a:latin typeface="Google Sans"/>
              </a:rPr>
              <a:t>Windows 10 is written by Microsoft and runs on their kernel, the Windows NT kernel. </a:t>
            </a:r>
          </a:p>
          <a:p>
            <a:pPr algn="l" fontAlgn="ctr"/>
            <a:r>
              <a:rPr lang="en-US" b="0" i="0" dirty="0">
                <a:solidFill>
                  <a:srgbClr val="181E00"/>
                </a:solidFill>
                <a:effectLst/>
                <a:highlight>
                  <a:srgbClr val="FFFFFF"/>
                </a:highlight>
                <a:latin typeface="Google Sans"/>
              </a:rPr>
              <a:t>Linux is written in C, with many userland apps written in Python. </a:t>
            </a:r>
          </a:p>
          <a:p>
            <a:pPr algn="l"/>
            <a:br>
              <a:rPr lang="en-US" b="0" i="0" dirty="0">
                <a:solidFill>
                  <a:srgbClr val="181E00"/>
                </a:solidFill>
                <a:effectLst/>
                <a:highlight>
                  <a:srgbClr val="FFFFFF"/>
                </a:highlight>
                <a:latin typeface="Google Sans"/>
              </a:rPr>
            </a:br>
            <a:endParaRPr lang="en-US" b="0" i="0" dirty="0">
              <a:solidFill>
                <a:srgbClr val="181E00"/>
              </a:solidFill>
              <a:effectLst/>
              <a:highlight>
                <a:srgbClr val="FFFFFF"/>
              </a:highlight>
              <a:latin typeface="Google Sans"/>
            </a:endParaRPr>
          </a:p>
          <a:p>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25</a:t>
            </a:fld>
            <a:endParaRPr lang="en-US"/>
          </a:p>
        </p:txBody>
      </p:sp>
    </p:spTree>
    <p:extLst>
      <p:ext uri="{BB962C8B-B14F-4D97-AF65-F5344CB8AC3E}">
        <p14:creationId xmlns:p14="http://schemas.microsoft.com/office/powerpoint/2010/main" val="3387829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ctr"/>
            <a:r>
              <a:rPr lang="en-US" b="0" i="0" dirty="0">
                <a:solidFill>
                  <a:srgbClr val="181E00"/>
                </a:solidFill>
                <a:effectLst/>
                <a:highlight>
                  <a:srgbClr val="FFFFFF"/>
                </a:highlight>
                <a:latin typeface="Google Sans"/>
              </a:rPr>
              <a:t>Windows uses its own operating system, while macOS uses Linux. </a:t>
            </a:r>
          </a:p>
          <a:p>
            <a:pPr algn="l" fontAlgn="ctr"/>
            <a:r>
              <a:rPr lang="en-US" b="0" i="0" dirty="0">
                <a:solidFill>
                  <a:srgbClr val="181E00"/>
                </a:solidFill>
                <a:effectLst/>
                <a:highlight>
                  <a:srgbClr val="FFFFFF"/>
                </a:highlight>
                <a:latin typeface="Google Sans"/>
              </a:rPr>
              <a:t>Windows is a graphical user interface (GUI) based operating system developed by Microsoft. </a:t>
            </a:r>
          </a:p>
          <a:p>
            <a:pPr algn="l" fontAlgn="ctr"/>
            <a:r>
              <a:rPr lang="en-US" b="0" i="0" dirty="0">
                <a:solidFill>
                  <a:srgbClr val="181E00"/>
                </a:solidFill>
                <a:effectLst/>
                <a:highlight>
                  <a:srgbClr val="FFFFFF"/>
                </a:highlight>
                <a:latin typeface="Google Sans"/>
              </a:rPr>
              <a:t>macOS is based on Unix, along with Ubuntu Linux. </a:t>
            </a:r>
          </a:p>
          <a:p>
            <a:pPr algn="l" fontAlgn="ctr"/>
            <a:r>
              <a:rPr lang="en-US" b="0" i="0" dirty="0">
                <a:solidFill>
                  <a:srgbClr val="181E00"/>
                </a:solidFill>
                <a:effectLst/>
                <a:highlight>
                  <a:srgbClr val="FFFFFF"/>
                </a:highlight>
                <a:latin typeface="Google Sans"/>
              </a:rPr>
              <a:t>Windows 10 is written by Microsoft and runs on their kernel, the Windows NT kernel. </a:t>
            </a:r>
          </a:p>
          <a:p>
            <a:pPr algn="l" fontAlgn="ctr"/>
            <a:r>
              <a:rPr lang="en-US" b="0" i="0" dirty="0">
                <a:solidFill>
                  <a:srgbClr val="181E00"/>
                </a:solidFill>
                <a:effectLst/>
                <a:highlight>
                  <a:srgbClr val="FFFFFF"/>
                </a:highlight>
                <a:latin typeface="Google Sans"/>
              </a:rPr>
              <a:t>Linux is written in C, with many userland apps written in Python. </a:t>
            </a:r>
          </a:p>
          <a:p>
            <a:pPr algn="l"/>
            <a:br>
              <a:rPr lang="en-US" b="0" i="0" dirty="0">
                <a:solidFill>
                  <a:srgbClr val="181E00"/>
                </a:solidFill>
                <a:effectLst/>
                <a:highlight>
                  <a:srgbClr val="FFFFFF"/>
                </a:highlight>
                <a:latin typeface="Google Sans"/>
              </a:rPr>
            </a:br>
            <a:endParaRPr lang="en-US" b="0" i="0" dirty="0">
              <a:solidFill>
                <a:srgbClr val="181E00"/>
              </a:solidFill>
              <a:effectLst/>
              <a:highlight>
                <a:srgbClr val="FFFFFF"/>
              </a:highlight>
              <a:latin typeface="Google Sans"/>
            </a:endParaRPr>
          </a:p>
          <a:p>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26</a:t>
            </a:fld>
            <a:endParaRPr lang="en-US"/>
          </a:p>
        </p:txBody>
      </p:sp>
    </p:spTree>
    <p:extLst>
      <p:ext uri="{BB962C8B-B14F-4D97-AF65-F5344CB8AC3E}">
        <p14:creationId xmlns:p14="http://schemas.microsoft.com/office/powerpoint/2010/main" val="36198669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algn="l" rtl="0" fontAlgn="ctr">
              <a:spcBef>
                <a:spcPts val="0"/>
              </a:spcBef>
              <a:spcAft>
                <a:spcPts val="0"/>
              </a:spcAft>
              <a:buFont typeface="+mj-lt"/>
              <a:buNone/>
            </a:pPr>
            <a:r>
              <a:rPr lang="en-US" sz="1800" b="0" i="0" u="none" strike="noStrike" dirty="0">
                <a:solidFill>
                  <a:srgbClr val="212121"/>
                </a:solidFill>
                <a:effectLst/>
                <a:latin typeface="Calibri" panose="020F0502020204030204" pitchFamily="34" charset="0"/>
              </a:rPr>
              <a:t>git merge --squash &lt;local directory&gt;</a:t>
            </a:r>
          </a:p>
          <a:p>
            <a:pPr marL="342900" algn="l" rtl="0" fontAlgn="ctr">
              <a:spcBef>
                <a:spcPts val="0"/>
              </a:spcBef>
              <a:spcAft>
                <a:spcPts val="0"/>
              </a:spcAft>
              <a:buFont typeface="+mj-lt"/>
              <a:buNone/>
            </a:pPr>
            <a:endParaRPr lang="en-US" sz="1800" b="0" i="0" u="none" strike="noStrike" dirty="0">
              <a:solidFill>
                <a:srgbClr val="212121"/>
              </a:solidFill>
              <a:effectLst/>
              <a:latin typeface="Calibri" panose="020F0502020204030204" pitchFamily="34" charset="0"/>
            </a:endParaRPr>
          </a:p>
          <a:p>
            <a:pPr marL="342900" algn="l" rtl="0" fontAlgn="ctr">
              <a:spcBef>
                <a:spcPts val="0"/>
              </a:spcBef>
              <a:spcAft>
                <a:spcPts val="0"/>
              </a:spcAft>
              <a:buFont typeface="+mj-lt"/>
              <a:buNone/>
            </a:pPr>
            <a:r>
              <a:rPr lang="en-US" sz="1800" b="0" i="0" u="none" strike="noStrike" dirty="0">
                <a:solidFill>
                  <a:srgbClr val="212121"/>
                </a:solidFill>
                <a:effectLst/>
                <a:latin typeface="Calibri" panose="020F0502020204030204" pitchFamily="34" charset="0"/>
              </a:rPr>
              <a:t>Alternative to git add, assuming you’ve checked out to the main directory</a:t>
            </a:r>
          </a:p>
          <a:p>
            <a:pPr marL="342900" algn="l" rtl="0" fontAlgn="ctr">
              <a:spcBef>
                <a:spcPts val="0"/>
              </a:spcBef>
              <a:spcAft>
                <a:spcPts val="0"/>
              </a:spcAft>
              <a:buFont typeface="+mj-lt"/>
              <a:buNone/>
            </a:pPr>
            <a:endParaRPr lang="en-US" sz="1800" b="0" i="0" u="none" strike="noStrike" dirty="0">
              <a:solidFill>
                <a:srgbClr val="212121"/>
              </a:solidFill>
              <a:effectLst/>
              <a:latin typeface="Calibri" panose="020F0502020204030204" pitchFamily="34" charset="0"/>
            </a:endParaRPr>
          </a:p>
          <a:p>
            <a:r>
              <a:rPr lang="en-US" sz="1800" b="0" i="0" dirty="0">
                <a:solidFill>
                  <a:srgbClr val="1F2328"/>
                </a:solidFill>
                <a:effectLst/>
                <a:highlight>
                  <a:srgbClr val="FFFFFF"/>
                </a:highlight>
                <a:latin typeface="Mona Sans"/>
              </a:rPr>
              <a:t>Git add</a:t>
            </a:r>
          </a:p>
          <a:p>
            <a:endParaRPr lang="en-US" sz="1800" b="0" i="0" dirty="0">
              <a:solidFill>
                <a:srgbClr val="1F2328"/>
              </a:solidFill>
              <a:effectLst/>
              <a:highlight>
                <a:srgbClr val="FFFFFF"/>
              </a:highlight>
              <a:latin typeface="Mona Sans"/>
            </a:endParaRPr>
          </a:p>
          <a:p>
            <a:r>
              <a:rPr lang="en-US" sz="1800" b="0" i="0" dirty="0">
                <a:solidFill>
                  <a:srgbClr val="1F2328"/>
                </a:solidFill>
                <a:effectLst/>
                <a:highlight>
                  <a:srgbClr val="FFFFFF"/>
                </a:highlight>
                <a:latin typeface="Mona Sans"/>
              </a:rPr>
              <a:t>selects that file, and moves it to the staging area, marking it for inclusion in the next commit. You can select all files, a directory, specific files, or even specific parts of a file for staging and commit.</a:t>
            </a:r>
            <a:endParaRPr lang="en-US" sz="1800" dirty="0"/>
          </a:p>
          <a:p>
            <a:pPr marL="342900" algn="l" rtl="0" fontAlgn="ctr">
              <a:spcBef>
                <a:spcPts val="0"/>
              </a:spcBef>
              <a:spcAft>
                <a:spcPts val="0"/>
              </a:spcAft>
              <a:buFont typeface="+mj-lt"/>
              <a:buNone/>
            </a:pPr>
            <a:endParaRPr lang="en-US" sz="1800" b="0" i="0" u="none" strike="noStrike" dirty="0">
              <a:solidFill>
                <a:srgbClr val="212121"/>
              </a:solidFill>
              <a:effectLst/>
              <a:latin typeface="Calibri" panose="020F0502020204030204" pitchFamily="34" charset="0"/>
            </a:endParaRPr>
          </a:p>
          <a:p>
            <a:pPr marL="342900" algn="l" rtl="0" fontAlgn="ctr">
              <a:spcBef>
                <a:spcPts val="0"/>
              </a:spcBef>
              <a:spcAft>
                <a:spcPts val="0"/>
              </a:spcAft>
              <a:buFont typeface="+mj-lt"/>
              <a:buNone/>
            </a:pPr>
            <a:endParaRPr lang="en-US" sz="1800" b="0" i="0" u="none" strike="noStrike" dirty="0">
              <a:solidFill>
                <a:srgbClr val="212121"/>
              </a:solidFill>
              <a:effectLst/>
              <a:latin typeface="Calibri" panose="020F0502020204030204" pitchFamily="34" charset="0"/>
            </a:endParaRPr>
          </a:p>
          <a:p>
            <a:pPr marL="342900" algn="l" rtl="0" fontAlgn="ctr">
              <a:spcBef>
                <a:spcPts val="0"/>
              </a:spcBef>
              <a:spcAft>
                <a:spcPts val="0"/>
              </a:spcAft>
              <a:buFont typeface="+mj-lt"/>
              <a:buNone/>
            </a:pPr>
            <a:endParaRPr lang="en-US" sz="1800" b="0" i="0" u="none" strike="noStrike" dirty="0">
              <a:solidFill>
                <a:srgbClr val="212121"/>
              </a:solidFill>
              <a:effectLst/>
              <a:latin typeface="Calibri" panose="020F0502020204030204" pitchFamily="34" charset="0"/>
            </a:endParaRPr>
          </a:p>
          <a:p>
            <a:pPr algn="l" fontAlgn="ctr"/>
            <a:endParaRPr lang="en-US" b="0" i="0" dirty="0">
              <a:solidFill>
                <a:srgbClr val="181E00"/>
              </a:solidFill>
              <a:effectLst/>
              <a:highlight>
                <a:srgbClr val="FFFFFF"/>
              </a:highlight>
              <a:latin typeface="Google Sans"/>
            </a:endParaRPr>
          </a:p>
          <a:p>
            <a:pPr algn="l" fontAlgn="ctr"/>
            <a:endParaRPr lang="en-US" b="0" i="0" dirty="0">
              <a:solidFill>
                <a:srgbClr val="181E00"/>
              </a:solidFill>
              <a:effectLst/>
              <a:highlight>
                <a:srgbClr val="FFFFFF"/>
              </a:highlight>
              <a:latin typeface="Google Sans"/>
            </a:endParaRPr>
          </a:p>
          <a:p>
            <a:pPr algn="l"/>
            <a:br>
              <a:rPr lang="en-US" b="0" i="0" dirty="0">
                <a:solidFill>
                  <a:srgbClr val="181E00"/>
                </a:solidFill>
                <a:effectLst/>
                <a:highlight>
                  <a:srgbClr val="FFFFFF"/>
                </a:highlight>
                <a:latin typeface="Google Sans"/>
              </a:rPr>
            </a:br>
            <a:endParaRPr lang="en-US" b="0" i="0" dirty="0">
              <a:solidFill>
                <a:srgbClr val="181E00"/>
              </a:solidFill>
              <a:effectLst/>
              <a:highlight>
                <a:srgbClr val="FFFFFF"/>
              </a:highlight>
              <a:latin typeface="Google Sans"/>
            </a:endParaRPr>
          </a:p>
          <a:p>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27</a:t>
            </a:fld>
            <a:endParaRPr lang="en-US"/>
          </a:p>
        </p:txBody>
      </p:sp>
    </p:spTree>
    <p:extLst>
      <p:ext uri="{BB962C8B-B14F-4D97-AF65-F5344CB8AC3E}">
        <p14:creationId xmlns:p14="http://schemas.microsoft.com/office/powerpoint/2010/main" val="860293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28</a:t>
            </a:fld>
            <a:endParaRPr lang="en-US"/>
          </a:p>
        </p:txBody>
      </p:sp>
    </p:spTree>
    <p:extLst>
      <p:ext uri="{BB962C8B-B14F-4D97-AF65-F5344CB8AC3E}">
        <p14:creationId xmlns:p14="http://schemas.microsoft.com/office/powerpoint/2010/main" val="35832641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highlight>
                  <a:srgbClr val="FFFFFF"/>
                </a:highlight>
                <a:latin typeface="Google Sans"/>
              </a:rPr>
              <a:t>Forking creates an independent copy of a project, branching allows for parallel development within the same repository, and cloning downloads a repository to your local machine for local development. </a:t>
            </a:r>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29</a:t>
            </a:fld>
            <a:endParaRPr lang="en-US"/>
          </a:p>
        </p:txBody>
      </p:sp>
    </p:spTree>
    <p:extLst>
      <p:ext uri="{BB962C8B-B14F-4D97-AF65-F5344CB8AC3E}">
        <p14:creationId xmlns:p14="http://schemas.microsoft.com/office/powerpoint/2010/main" val="3086571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highlight>
                  <a:srgbClr val="FFFFFF"/>
                </a:highlight>
                <a:latin typeface="Google Sans"/>
              </a:rPr>
              <a:t>branching allows for parallel development within the same repository</a:t>
            </a:r>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30</a:t>
            </a:fld>
            <a:endParaRPr lang="en-US"/>
          </a:p>
        </p:txBody>
      </p:sp>
    </p:spTree>
    <p:extLst>
      <p:ext uri="{BB962C8B-B14F-4D97-AF65-F5344CB8AC3E}">
        <p14:creationId xmlns:p14="http://schemas.microsoft.com/office/powerpoint/2010/main" val="3500585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ctr"/>
            <a:r>
              <a:rPr lang="en-US" b="0" i="0" dirty="0">
                <a:solidFill>
                  <a:srgbClr val="202124"/>
                </a:solidFill>
                <a:effectLst/>
                <a:highlight>
                  <a:srgbClr val="FFFFFF"/>
                </a:highlight>
                <a:latin typeface="Google Sans"/>
              </a:rPr>
              <a:t>The two commands are somewhat interchangeable. </a:t>
            </a:r>
            <a:r>
              <a:rPr lang="en-US" b="0" i="0" dirty="0">
                <a:solidFill>
                  <a:srgbClr val="040C28"/>
                </a:solidFill>
                <a:effectLst/>
                <a:latin typeface="Google Sans"/>
              </a:rPr>
              <a:t>git switch is recommended for branch operations due to improved safety checks, while git checkout is a more robust and versatile tool for file and commit operations</a:t>
            </a:r>
          </a:p>
          <a:p>
            <a:pPr algn="l" fontAlgn="ctr"/>
            <a:endParaRPr lang="en-US" b="0" i="0" dirty="0">
              <a:solidFill>
                <a:srgbClr val="040C28"/>
              </a:solidFill>
              <a:effectLst/>
              <a:highlight>
                <a:srgbClr val="FFFFFF"/>
              </a:highlight>
              <a:latin typeface="Google Sans"/>
            </a:endParaRPr>
          </a:p>
          <a:p>
            <a:pPr algn="l" fontAlgn="ctr"/>
            <a:r>
              <a:rPr lang="en-US" b="0" i="0" dirty="0">
                <a:solidFill>
                  <a:srgbClr val="040C28"/>
                </a:solidFill>
                <a:effectLst/>
                <a:highlight>
                  <a:srgbClr val="FFFFFF"/>
                </a:highlight>
                <a:latin typeface="Google Sans"/>
              </a:rPr>
              <a:t>Git checkout switches to the branch you want to merge into</a:t>
            </a:r>
            <a:br>
              <a:rPr lang="en-US" b="0" i="0" dirty="0">
                <a:solidFill>
                  <a:srgbClr val="181E00"/>
                </a:solidFill>
                <a:effectLst/>
                <a:highlight>
                  <a:srgbClr val="FFFFFF"/>
                </a:highlight>
                <a:latin typeface="Google Sans"/>
              </a:rPr>
            </a:br>
            <a:endParaRPr lang="en-US" b="0" i="0" dirty="0">
              <a:solidFill>
                <a:srgbClr val="181E00"/>
              </a:solidFill>
              <a:effectLst/>
              <a:highlight>
                <a:srgbClr val="FFFFFF"/>
              </a:highlight>
              <a:latin typeface="Google Sans"/>
            </a:endParaRPr>
          </a:p>
          <a:p>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32</a:t>
            </a:fld>
            <a:endParaRPr lang="en-US"/>
          </a:p>
        </p:txBody>
      </p:sp>
    </p:spTree>
    <p:extLst>
      <p:ext uri="{BB962C8B-B14F-4D97-AF65-F5344CB8AC3E}">
        <p14:creationId xmlns:p14="http://schemas.microsoft.com/office/powerpoint/2010/main" val="24288471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0" i="0" dirty="0">
                <a:solidFill>
                  <a:srgbClr val="181E00"/>
                </a:solidFill>
                <a:effectLst/>
                <a:highlight>
                  <a:srgbClr val="FFFFFF"/>
                </a:highlight>
                <a:latin typeface="Google Sans"/>
              </a:rPr>
            </a:br>
            <a:endParaRPr lang="en-US" b="0" i="0" dirty="0">
              <a:solidFill>
                <a:srgbClr val="181E00"/>
              </a:solidFill>
              <a:effectLst/>
              <a:highlight>
                <a:srgbClr val="FFFFFF"/>
              </a:highlight>
              <a:latin typeface="Google Sans"/>
            </a:endParaRPr>
          </a:p>
          <a:p>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33</a:t>
            </a:fld>
            <a:endParaRPr lang="en-US"/>
          </a:p>
        </p:txBody>
      </p:sp>
    </p:spTree>
    <p:extLst>
      <p:ext uri="{BB962C8B-B14F-4D97-AF65-F5344CB8AC3E}">
        <p14:creationId xmlns:p14="http://schemas.microsoft.com/office/powerpoint/2010/main" val="22495577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ctr"/>
            <a:r>
              <a:rPr lang="en-US" b="0" i="0" dirty="0">
                <a:solidFill>
                  <a:srgbClr val="181E00"/>
                </a:solidFill>
                <a:effectLst/>
                <a:highlight>
                  <a:srgbClr val="FFFFFF"/>
                </a:highlight>
                <a:latin typeface="Google Sans"/>
              </a:rPr>
              <a:t>Windows uses its own operating system, while macOS uses Linux. </a:t>
            </a:r>
          </a:p>
          <a:p>
            <a:pPr algn="l" fontAlgn="ctr"/>
            <a:r>
              <a:rPr lang="en-US" b="0" i="0" dirty="0">
                <a:solidFill>
                  <a:srgbClr val="181E00"/>
                </a:solidFill>
                <a:effectLst/>
                <a:highlight>
                  <a:srgbClr val="FFFFFF"/>
                </a:highlight>
                <a:latin typeface="Google Sans"/>
              </a:rPr>
              <a:t>Windows is a graphical user interface (GUI) based operating system developed by Microsoft. </a:t>
            </a:r>
          </a:p>
          <a:p>
            <a:pPr algn="l" fontAlgn="ctr"/>
            <a:r>
              <a:rPr lang="en-US" b="0" i="0" dirty="0">
                <a:solidFill>
                  <a:srgbClr val="181E00"/>
                </a:solidFill>
                <a:effectLst/>
                <a:highlight>
                  <a:srgbClr val="FFFFFF"/>
                </a:highlight>
                <a:latin typeface="Google Sans"/>
              </a:rPr>
              <a:t>macOS is based on Unix, along with Ubuntu Linux. </a:t>
            </a:r>
          </a:p>
          <a:p>
            <a:pPr algn="l" fontAlgn="ctr"/>
            <a:r>
              <a:rPr lang="en-US" b="0" i="0" dirty="0">
                <a:solidFill>
                  <a:srgbClr val="181E00"/>
                </a:solidFill>
                <a:effectLst/>
                <a:highlight>
                  <a:srgbClr val="FFFFFF"/>
                </a:highlight>
                <a:latin typeface="Google Sans"/>
              </a:rPr>
              <a:t>Windows 10 is written by Microsoft and runs on their kernel, the Windows NT kernel. </a:t>
            </a:r>
          </a:p>
          <a:p>
            <a:pPr algn="l" fontAlgn="ctr"/>
            <a:r>
              <a:rPr lang="en-US" b="0" i="0" dirty="0">
                <a:solidFill>
                  <a:srgbClr val="181E00"/>
                </a:solidFill>
                <a:effectLst/>
                <a:highlight>
                  <a:srgbClr val="FFFFFF"/>
                </a:highlight>
                <a:latin typeface="Google Sans"/>
              </a:rPr>
              <a:t>Linux is written in C, with many userland apps written in Python. </a:t>
            </a:r>
          </a:p>
          <a:p>
            <a:pPr algn="l"/>
            <a:br>
              <a:rPr lang="en-US" b="0" i="0" dirty="0">
                <a:solidFill>
                  <a:srgbClr val="181E00"/>
                </a:solidFill>
                <a:effectLst/>
                <a:highlight>
                  <a:srgbClr val="FFFFFF"/>
                </a:highlight>
                <a:latin typeface="Google Sans"/>
              </a:rPr>
            </a:br>
            <a:endParaRPr lang="en-US" b="0" i="0" dirty="0">
              <a:solidFill>
                <a:srgbClr val="181E00"/>
              </a:solidFill>
              <a:effectLst/>
              <a:highlight>
                <a:srgbClr val="FFFFFF"/>
              </a:highlight>
              <a:latin typeface="Google Sans"/>
            </a:endParaRPr>
          </a:p>
          <a:p>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34</a:t>
            </a:fld>
            <a:endParaRPr lang="en-US"/>
          </a:p>
        </p:txBody>
      </p:sp>
    </p:spTree>
    <p:extLst>
      <p:ext uri="{BB962C8B-B14F-4D97-AF65-F5344CB8AC3E}">
        <p14:creationId xmlns:p14="http://schemas.microsoft.com/office/powerpoint/2010/main" val="36831973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Extra Task?</a:t>
            </a:r>
          </a:p>
          <a:p>
            <a:pPr marL="514350" indent="-514350">
              <a:buFont typeface="Arial" panose="020B0604020202020204" pitchFamily="34" charset="0"/>
              <a:buAutoNum type="arabicPeriod"/>
            </a:pPr>
            <a:r>
              <a:rPr lang="en-US" dirty="0"/>
              <a:t>Create a branch for each collaborator – each team member makes a plot (</a:t>
            </a:r>
            <a:r>
              <a:rPr lang="en-US" dirty="0" err="1"/>
              <a:t>x,y</a:t>
            </a:r>
            <a:r>
              <a:rPr lang="en-US" dirty="0"/>
              <a:t>) and corresponding figure in their branch, then pushes </a:t>
            </a:r>
          </a:p>
          <a:p>
            <a:pPr marL="514350" indent="-514350">
              <a:buFont typeface="Arial" panose="020B0604020202020204" pitchFamily="34" charset="0"/>
              <a:buAutoNum type="arabicPeriod"/>
            </a:pPr>
            <a:r>
              <a:rPr lang="en-US" dirty="0"/>
              <a:t>Resolve the merge</a:t>
            </a:r>
          </a:p>
          <a:p>
            <a:endParaRPr lang="en-US" dirty="0"/>
          </a:p>
        </p:txBody>
      </p:sp>
      <p:sp>
        <p:nvSpPr>
          <p:cNvPr id="4" name="Slide Number Placeholder 3"/>
          <p:cNvSpPr>
            <a:spLocks noGrp="1"/>
          </p:cNvSpPr>
          <p:nvPr>
            <p:ph type="sldNum" sz="quarter" idx="5"/>
          </p:nvPr>
        </p:nvSpPr>
        <p:spPr/>
        <p:txBody>
          <a:bodyPr/>
          <a:lstStyle/>
          <a:p>
            <a:fld id="{CB04EDAF-8F7A-2546-921D-730C3CCD5C3B}" type="slidenum">
              <a:rPr lang="en-US" smtClean="0"/>
              <a:t>40</a:t>
            </a:fld>
            <a:endParaRPr lang="en-US"/>
          </a:p>
        </p:txBody>
      </p:sp>
    </p:spTree>
    <p:extLst>
      <p:ext uri="{BB962C8B-B14F-4D97-AF65-F5344CB8AC3E}">
        <p14:creationId xmlns:p14="http://schemas.microsoft.com/office/powerpoint/2010/main" val="700791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FE672-821E-3A7E-81B9-CE403827B1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C1866F-D448-B9A8-9EDA-AB353C1C89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FF3C4D-D1FB-C57B-5375-5833F1C70F56}"/>
              </a:ext>
            </a:extLst>
          </p:cNvPr>
          <p:cNvSpPr>
            <a:spLocks noGrp="1"/>
          </p:cNvSpPr>
          <p:nvPr>
            <p:ph type="dt" sz="half" idx="10"/>
          </p:nvPr>
        </p:nvSpPr>
        <p:spPr/>
        <p:txBody>
          <a:bodyPr/>
          <a:lstStyle/>
          <a:p>
            <a:fld id="{2AFFA5A5-218C-DD41-88C6-F1F7EAEF5964}" type="datetimeFigureOut">
              <a:rPr lang="en-US" smtClean="0"/>
              <a:t>5/22/24</a:t>
            </a:fld>
            <a:endParaRPr lang="en-US"/>
          </a:p>
        </p:txBody>
      </p:sp>
      <p:sp>
        <p:nvSpPr>
          <p:cNvPr id="5" name="Footer Placeholder 4">
            <a:extLst>
              <a:ext uri="{FF2B5EF4-FFF2-40B4-BE49-F238E27FC236}">
                <a16:creationId xmlns:a16="http://schemas.microsoft.com/office/drawing/2014/main" id="{0C60588C-8FF4-2D77-19D8-943330E360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007308-CABD-703E-5F47-E79DC42EAC8E}"/>
              </a:ext>
            </a:extLst>
          </p:cNvPr>
          <p:cNvSpPr>
            <a:spLocks noGrp="1"/>
          </p:cNvSpPr>
          <p:nvPr>
            <p:ph type="sldNum" sz="quarter" idx="12"/>
          </p:nvPr>
        </p:nvSpPr>
        <p:spPr/>
        <p:txBody>
          <a:bodyPr/>
          <a:lstStyle/>
          <a:p>
            <a:fld id="{A0D541E7-1293-CA4A-B8DE-A0F63BD0AD6B}" type="slidenum">
              <a:rPr lang="en-US" smtClean="0"/>
              <a:t>‹#›</a:t>
            </a:fld>
            <a:endParaRPr lang="en-US"/>
          </a:p>
        </p:txBody>
      </p:sp>
    </p:spTree>
    <p:extLst>
      <p:ext uri="{BB962C8B-B14F-4D97-AF65-F5344CB8AC3E}">
        <p14:creationId xmlns:p14="http://schemas.microsoft.com/office/powerpoint/2010/main" val="2298238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A7D5E-6657-B6DA-986F-21160DC9D8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66DA16-DBFB-13A9-13DC-D7DC821A6B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9BD6F2-94A4-B92D-CDF8-219369857496}"/>
              </a:ext>
            </a:extLst>
          </p:cNvPr>
          <p:cNvSpPr>
            <a:spLocks noGrp="1"/>
          </p:cNvSpPr>
          <p:nvPr>
            <p:ph type="dt" sz="half" idx="10"/>
          </p:nvPr>
        </p:nvSpPr>
        <p:spPr/>
        <p:txBody>
          <a:bodyPr/>
          <a:lstStyle/>
          <a:p>
            <a:fld id="{2AFFA5A5-218C-DD41-88C6-F1F7EAEF5964}" type="datetimeFigureOut">
              <a:rPr lang="en-US" smtClean="0"/>
              <a:t>5/22/24</a:t>
            </a:fld>
            <a:endParaRPr lang="en-US"/>
          </a:p>
        </p:txBody>
      </p:sp>
      <p:sp>
        <p:nvSpPr>
          <p:cNvPr id="5" name="Footer Placeholder 4">
            <a:extLst>
              <a:ext uri="{FF2B5EF4-FFF2-40B4-BE49-F238E27FC236}">
                <a16:creationId xmlns:a16="http://schemas.microsoft.com/office/drawing/2014/main" id="{044286C7-C4E8-25D1-5F39-E254C50E29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79747C-54AB-51F2-78CA-5E1F0C44F212}"/>
              </a:ext>
            </a:extLst>
          </p:cNvPr>
          <p:cNvSpPr>
            <a:spLocks noGrp="1"/>
          </p:cNvSpPr>
          <p:nvPr>
            <p:ph type="sldNum" sz="quarter" idx="12"/>
          </p:nvPr>
        </p:nvSpPr>
        <p:spPr/>
        <p:txBody>
          <a:bodyPr/>
          <a:lstStyle/>
          <a:p>
            <a:fld id="{A0D541E7-1293-CA4A-B8DE-A0F63BD0AD6B}" type="slidenum">
              <a:rPr lang="en-US" smtClean="0"/>
              <a:t>‹#›</a:t>
            </a:fld>
            <a:endParaRPr lang="en-US"/>
          </a:p>
        </p:txBody>
      </p:sp>
    </p:spTree>
    <p:extLst>
      <p:ext uri="{BB962C8B-B14F-4D97-AF65-F5344CB8AC3E}">
        <p14:creationId xmlns:p14="http://schemas.microsoft.com/office/powerpoint/2010/main" val="2953721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ADDF5-AE98-F5C0-7189-B45CAE32D0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444BE7-379A-660E-D7A9-023B3D6CC7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09372E-BDEE-0CE7-2243-85C4E8911C67}"/>
              </a:ext>
            </a:extLst>
          </p:cNvPr>
          <p:cNvSpPr>
            <a:spLocks noGrp="1"/>
          </p:cNvSpPr>
          <p:nvPr>
            <p:ph type="dt" sz="half" idx="10"/>
          </p:nvPr>
        </p:nvSpPr>
        <p:spPr/>
        <p:txBody>
          <a:bodyPr/>
          <a:lstStyle/>
          <a:p>
            <a:fld id="{2AFFA5A5-218C-DD41-88C6-F1F7EAEF5964}" type="datetimeFigureOut">
              <a:rPr lang="en-US" smtClean="0"/>
              <a:t>5/22/24</a:t>
            </a:fld>
            <a:endParaRPr lang="en-US"/>
          </a:p>
        </p:txBody>
      </p:sp>
      <p:sp>
        <p:nvSpPr>
          <p:cNvPr id="5" name="Footer Placeholder 4">
            <a:extLst>
              <a:ext uri="{FF2B5EF4-FFF2-40B4-BE49-F238E27FC236}">
                <a16:creationId xmlns:a16="http://schemas.microsoft.com/office/drawing/2014/main" id="{8D9D834C-46A2-92C2-2795-CFBAD58BB2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669586-3B2B-7DBB-B827-CD6342FEE52F}"/>
              </a:ext>
            </a:extLst>
          </p:cNvPr>
          <p:cNvSpPr>
            <a:spLocks noGrp="1"/>
          </p:cNvSpPr>
          <p:nvPr>
            <p:ph type="sldNum" sz="quarter" idx="12"/>
          </p:nvPr>
        </p:nvSpPr>
        <p:spPr/>
        <p:txBody>
          <a:bodyPr/>
          <a:lstStyle/>
          <a:p>
            <a:fld id="{A0D541E7-1293-CA4A-B8DE-A0F63BD0AD6B}" type="slidenum">
              <a:rPr lang="en-US" smtClean="0"/>
              <a:t>‹#›</a:t>
            </a:fld>
            <a:endParaRPr lang="en-US"/>
          </a:p>
        </p:txBody>
      </p:sp>
    </p:spTree>
    <p:extLst>
      <p:ext uri="{BB962C8B-B14F-4D97-AF65-F5344CB8AC3E}">
        <p14:creationId xmlns:p14="http://schemas.microsoft.com/office/powerpoint/2010/main" val="1137705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7CDA-AFB5-B5C3-7386-261006D005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44778D-2932-42B2-CCFC-96AE8A7051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FB77B8-14FF-8648-9F37-A570C51B40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D3DC59-4C4F-31C5-F564-D5D331335ED4}"/>
              </a:ext>
            </a:extLst>
          </p:cNvPr>
          <p:cNvSpPr>
            <a:spLocks noGrp="1"/>
          </p:cNvSpPr>
          <p:nvPr>
            <p:ph type="dt" sz="half" idx="10"/>
          </p:nvPr>
        </p:nvSpPr>
        <p:spPr/>
        <p:txBody>
          <a:bodyPr/>
          <a:lstStyle/>
          <a:p>
            <a:fld id="{2AFFA5A5-218C-DD41-88C6-F1F7EAEF5964}" type="datetimeFigureOut">
              <a:rPr lang="en-US" smtClean="0"/>
              <a:t>5/22/24</a:t>
            </a:fld>
            <a:endParaRPr lang="en-US"/>
          </a:p>
        </p:txBody>
      </p:sp>
      <p:sp>
        <p:nvSpPr>
          <p:cNvPr id="6" name="Footer Placeholder 5">
            <a:extLst>
              <a:ext uri="{FF2B5EF4-FFF2-40B4-BE49-F238E27FC236}">
                <a16:creationId xmlns:a16="http://schemas.microsoft.com/office/drawing/2014/main" id="{95BEE656-60C3-BD07-C2E4-2650C53EDA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D2F2FC-051F-B230-2FFD-B58F47628452}"/>
              </a:ext>
            </a:extLst>
          </p:cNvPr>
          <p:cNvSpPr>
            <a:spLocks noGrp="1"/>
          </p:cNvSpPr>
          <p:nvPr>
            <p:ph type="sldNum" sz="quarter" idx="12"/>
          </p:nvPr>
        </p:nvSpPr>
        <p:spPr/>
        <p:txBody>
          <a:bodyPr/>
          <a:lstStyle/>
          <a:p>
            <a:fld id="{A0D541E7-1293-CA4A-B8DE-A0F63BD0AD6B}" type="slidenum">
              <a:rPr lang="en-US" smtClean="0"/>
              <a:t>‹#›</a:t>
            </a:fld>
            <a:endParaRPr lang="en-US"/>
          </a:p>
        </p:txBody>
      </p:sp>
    </p:spTree>
    <p:extLst>
      <p:ext uri="{BB962C8B-B14F-4D97-AF65-F5344CB8AC3E}">
        <p14:creationId xmlns:p14="http://schemas.microsoft.com/office/powerpoint/2010/main" val="2567787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71A83-AE53-EC2C-BDDA-25F84FCE46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3AC6E5-3263-77F4-0A64-D3EA270181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401132-871D-FA3D-282B-CE703A8908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B61358-A45D-9CB6-6206-6221518210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655E4F-81D9-A659-D7BC-805842A1AC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B0785F-0701-CB2E-396B-43D4D074BE79}"/>
              </a:ext>
            </a:extLst>
          </p:cNvPr>
          <p:cNvSpPr>
            <a:spLocks noGrp="1"/>
          </p:cNvSpPr>
          <p:nvPr>
            <p:ph type="dt" sz="half" idx="10"/>
          </p:nvPr>
        </p:nvSpPr>
        <p:spPr/>
        <p:txBody>
          <a:bodyPr/>
          <a:lstStyle/>
          <a:p>
            <a:fld id="{2AFFA5A5-218C-DD41-88C6-F1F7EAEF5964}" type="datetimeFigureOut">
              <a:rPr lang="en-US" smtClean="0"/>
              <a:t>5/22/24</a:t>
            </a:fld>
            <a:endParaRPr lang="en-US"/>
          </a:p>
        </p:txBody>
      </p:sp>
      <p:sp>
        <p:nvSpPr>
          <p:cNvPr id="8" name="Footer Placeholder 7">
            <a:extLst>
              <a:ext uri="{FF2B5EF4-FFF2-40B4-BE49-F238E27FC236}">
                <a16:creationId xmlns:a16="http://schemas.microsoft.com/office/drawing/2014/main" id="{F6481A22-825F-CC4E-91F3-A212AE53B3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3D36688-F1AB-E42B-EE42-95F54AD7F6D1}"/>
              </a:ext>
            </a:extLst>
          </p:cNvPr>
          <p:cNvSpPr>
            <a:spLocks noGrp="1"/>
          </p:cNvSpPr>
          <p:nvPr>
            <p:ph type="sldNum" sz="quarter" idx="12"/>
          </p:nvPr>
        </p:nvSpPr>
        <p:spPr/>
        <p:txBody>
          <a:bodyPr/>
          <a:lstStyle/>
          <a:p>
            <a:fld id="{A0D541E7-1293-CA4A-B8DE-A0F63BD0AD6B}" type="slidenum">
              <a:rPr lang="en-US" smtClean="0"/>
              <a:t>‹#›</a:t>
            </a:fld>
            <a:endParaRPr lang="en-US"/>
          </a:p>
        </p:txBody>
      </p:sp>
    </p:spTree>
    <p:extLst>
      <p:ext uri="{BB962C8B-B14F-4D97-AF65-F5344CB8AC3E}">
        <p14:creationId xmlns:p14="http://schemas.microsoft.com/office/powerpoint/2010/main" val="3505624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46882-D8A3-2BA3-FE39-D70F716B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D6777B-F85A-5044-B64D-72EC9E04E18F}"/>
              </a:ext>
            </a:extLst>
          </p:cNvPr>
          <p:cNvSpPr>
            <a:spLocks noGrp="1"/>
          </p:cNvSpPr>
          <p:nvPr>
            <p:ph type="dt" sz="half" idx="10"/>
          </p:nvPr>
        </p:nvSpPr>
        <p:spPr/>
        <p:txBody>
          <a:bodyPr/>
          <a:lstStyle/>
          <a:p>
            <a:fld id="{2AFFA5A5-218C-DD41-88C6-F1F7EAEF5964}" type="datetimeFigureOut">
              <a:rPr lang="en-US" smtClean="0"/>
              <a:t>5/22/24</a:t>
            </a:fld>
            <a:endParaRPr lang="en-US"/>
          </a:p>
        </p:txBody>
      </p:sp>
      <p:sp>
        <p:nvSpPr>
          <p:cNvPr id="4" name="Footer Placeholder 3">
            <a:extLst>
              <a:ext uri="{FF2B5EF4-FFF2-40B4-BE49-F238E27FC236}">
                <a16:creationId xmlns:a16="http://schemas.microsoft.com/office/drawing/2014/main" id="{4BCDF48F-1C2A-5C79-B751-A90EEA2473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F721E7-1D70-4BB5-6EB5-DF3EF6450373}"/>
              </a:ext>
            </a:extLst>
          </p:cNvPr>
          <p:cNvSpPr>
            <a:spLocks noGrp="1"/>
          </p:cNvSpPr>
          <p:nvPr>
            <p:ph type="sldNum" sz="quarter" idx="12"/>
          </p:nvPr>
        </p:nvSpPr>
        <p:spPr/>
        <p:txBody>
          <a:bodyPr/>
          <a:lstStyle/>
          <a:p>
            <a:fld id="{A0D541E7-1293-CA4A-B8DE-A0F63BD0AD6B}" type="slidenum">
              <a:rPr lang="en-US" smtClean="0"/>
              <a:t>‹#›</a:t>
            </a:fld>
            <a:endParaRPr lang="en-US"/>
          </a:p>
        </p:txBody>
      </p:sp>
    </p:spTree>
    <p:extLst>
      <p:ext uri="{BB962C8B-B14F-4D97-AF65-F5344CB8AC3E}">
        <p14:creationId xmlns:p14="http://schemas.microsoft.com/office/powerpoint/2010/main" val="81547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E674E1-B8D1-839A-72E8-F7FE30ADAAA5}"/>
              </a:ext>
            </a:extLst>
          </p:cNvPr>
          <p:cNvSpPr>
            <a:spLocks noGrp="1"/>
          </p:cNvSpPr>
          <p:nvPr>
            <p:ph type="dt" sz="half" idx="10"/>
          </p:nvPr>
        </p:nvSpPr>
        <p:spPr/>
        <p:txBody>
          <a:bodyPr/>
          <a:lstStyle/>
          <a:p>
            <a:fld id="{2AFFA5A5-218C-DD41-88C6-F1F7EAEF5964}" type="datetimeFigureOut">
              <a:rPr lang="en-US" smtClean="0"/>
              <a:t>5/22/24</a:t>
            </a:fld>
            <a:endParaRPr lang="en-US"/>
          </a:p>
        </p:txBody>
      </p:sp>
      <p:sp>
        <p:nvSpPr>
          <p:cNvPr id="3" name="Footer Placeholder 2">
            <a:extLst>
              <a:ext uri="{FF2B5EF4-FFF2-40B4-BE49-F238E27FC236}">
                <a16:creationId xmlns:a16="http://schemas.microsoft.com/office/drawing/2014/main" id="{5ABAAC96-8D9D-EBE6-B595-CF1081D0B0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CBE0BC-BD64-00F4-CEA4-5138830E04E6}"/>
              </a:ext>
            </a:extLst>
          </p:cNvPr>
          <p:cNvSpPr>
            <a:spLocks noGrp="1"/>
          </p:cNvSpPr>
          <p:nvPr>
            <p:ph type="sldNum" sz="quarter" idx="12"/>
          </p:nvPr>
        </p:nvSpPr>
        <p:spPr/>
        <p:txBody>
          <a:bodyPr/>
          <a:lstStyle/>
          <a:p>
            <a:fld id="{A0D541E7-1293-CA4A-B8DE-A0F63BD0AD6B}" type="slidenum">
              <a:rPr lang="en-US" smtClean="0"/>
              <a:t>‹#›</a:t>
            </a:fld>
            <a:endParaRPr lang="en-US"/>
          </a:p>
        </p:txBody>
      </p:sp>
    </p:spTree>
    <p:extLst>
      <p:ext uri="{BB962C8B-B14F-4D97-AF65-F5344CB8AC3E}">
        <p14:creationId xmlns:p14="http://schemas.microsoft.com/office/powerpoint/2010/main" val="2783156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5DDD4-DDA4-C19E-8B58-B42B8EECA8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039455-2DE1-911C-C958-A5FDB3DEDD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4B3272-EBAE-17C9-7DD3-F08A137CA1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6E41E0-DA4D-C275-86DD-07D013166326}"/>
              </a:ext>
            </a:extLst>
          </p:cNvPr>
          <p:cNvSpPr>
            <a:spLocks noGrp="1"/>
          </p:cNvSpPr>
          <p:nvPr>
            <p:ph type="dt" sz="half" idx="10"/>
          </p:nvPr>
        </p:nvSpPr>
        <p:spPr/>
        <p:txBody>
          <a:bodyPr/>
          <a:lstStyle/>
          <a:p>
            <a:fld id="{2AFFA5A5-218C-DD41-88C6-F1F7EAEF5964}" type="datetimeFigureOut">
              <a:rPr lang="en-US" smtClean="0"/>
              <a:t>5/22/24</a:t>
            </a:fld>
            <a:endParaRPr lang="en-US"/>
          </a:p>
        </p:txBody>
      </p:sp>
      <p:sp>
        <p:nvSpPr>
          <p:cNvPr id="6" name="Footer Placeholder 5">
            <a:extLst>
              <a:ext uri="{FF2B5EF4-FFF2-40B4-BE49-F238E27FC236}">
                <a16:creationId xmlns:a16="http://schemas.microsoft.com/office/drawing/2014/main" id="{A1D057E4-E980-37E4-D7D5-3F73E05438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960F3D-DEC1-3538-4083-6E296C264AA3}"/>
              </a:ext>
            </a:extLst>
          </p:cNvPr>
          <p:cNvSpPr>
            <a:spLocks noGrp="1"/>
          </p:cNvSpPr>
          <p:nvPr>
            <p:ph type="sldNum" sz="quarter" idx="12"/>
          </p:nvPr>
        </p:nvSpPr>
        <p:spPr/>
        <p:txBody>
          <a:bodyPr/>
          <a:lstStyle/>
          <a:p>
            <a:fld id="{A0D541E7-1293-CA4A-B8DE-A0F63BD0AD6B}" type="slidenum">
              <a:rPr lang="en-US" smtClean="0"/>
              <a:t>‹#›</a:t>
            </a:fld>
            <a:endParaRPr lang="en-US"/>
          </a:p>
        </p:txBody>
      </p:sp>
    </p:spTree>
    <p:extLst>
      <p:ext uri="{BB962C8B-B14F-4D97-AF65-F5344CB8AC3E}">
        <p14:creationId xmlns:p14="http://schemas.microsoft.com/office/powerpoint/2010/main" val="1513384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EEE6E-B6C0-F93F-7FE1-E5AAF989C7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188A7B-7B90-EAB2-E30D-B0950D740E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D85289-C195-5710-5B71-D9146D91B1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1844EE-9A9B-DBBC-3E16-7B124F92BF8F}"/>
              </a:ext>
            </a:extLst>
          </p:cNvPr>
          <p:cNvSpPr>
            <a:spLocks noGrp="1"/>
          </p:cNvSpPr>
          <p:nvPr>
            <p:ph type="dt" sz="half" idx="10"/>
          </p:nvPr>
        </p:nvSpPr>
        <p:spPr/>
        <p:txBody>
          <a:bodyPr/>
          <a:lstStyle/>
          <a:p>
            <a:fld id="{2AFFA5A5-218C-DD41-88C6-F1F7EAEF5964}" type="datetimeFigureOut">
              <a:rPr lang="en-US" smtClean="0"/>
              <a:t>5/22/24</a:t>
            </a:fld>
            <a:endParaRPr lang="en-US"/>
          </a:p>
        </p:txBody>
      </p:sp>
      <p:sp>
        <p:nvSpPr>
          <p:cNvPr id="6" name="Footer Placeholder 5">
            <a:extLst>
              <a:ext uri="{FF2B5EF4-FFF2-40B4-BE49-F238E27FC236}">
                <a16:creationId xmlns:a16="http://schemas.microsoft.com/office/drawing/2014/main" id="{DDC15F2B-DF2C-A7F0-3069-4434676E0D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FDE09-88F3-9D3F-B7FF-B5AFA8026956}"/>
              </a:ext>
            </a:extLst>
          </p:cNvPr>
          <p:cNvSpPr>
            <a:spLocks noGrp="1"/>
          </p:cNvSpPr>
          <p:nvPr>
            <p:ph type="sldNum" sz="quarter" idx="12"/>
          </p:nvPr>
        </p:nvSpPr>
        <p:spPr/>
        <p:txBody>
          <a:bodyPr/>
          <a:lstStyle/>
          <a:p>
            <a:fld id="{A0D541E7-1293-CA4A-B8DE-A0F63BD0AD6B}" type="slidenum">
              <a:rPr lang="en-US" smtClean="0"/>
              <a:t>‹#›</a:t>
            </a:fld>
            <a:endParaRPr lang="en-US"/>
          </a:p>
        </p:txBody>
      </p:sp>
    </p:spTree>
    <p:extLst>
      <p:ext uri="{BB962C8B-B14F-4D97-AF65-F5344CB8AC3E}">
        <p14:creationId xmlns:p14="http://schemas.microsoft.com/office/powerpoint/2010/main" val="72852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32205-3E43-E742-B3FE-2FE17CF08C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58562A-51EF-B62B-657C-1676054F23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22753-FF13-2935-3690-D1CB9C2089AD}"/>
              </a:ext>
            </a:extLst>
          </p:cNvPr>
          <p:cNvSpPr>
            <a:spLocks noGrp="1"/>
          </p:cNvSpPr>
          <p:nvPr>
            <p:ph type="dt" sz="half" idx="10"/>
          </p:nvPr>
        </p:nvSpPr>
        <p:spPr/>
        <p:txBody>
          <a:bodyPr/>
          <a:lstStyle/>
          <a:p>
            <a:fld id="{2AFFA5A5-218C-DD41-88C6-F1F7EAEF5964}" type="datetimeFigureOut">
              <a:rPr lang="en-US" smtClean="0"/>
              <a:t>5/22/24</a:t>
            </a:fld>
            <a:endParaRPr lang="en-US"/>
          </a:p>
        </p:txBody>
      </p:sp>
      <p:sp>
        <p:nvSpPr>
          <p:cNvPr id="5" name="Footer Placeholder 4">
            <a:extLst>
              <a:ext uri="{FF2B5EF4-FFF2-40B4-BE49-F238E27FC236}">
                <a16:creationId xmlns:a16="http://schemas.microsoft.com/office/drawing/2014/main" id="{EACEC48E-A733-3E0C-79CB-2D06A7E3ED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A4FE8A-9ECF-F308-718E-C1D8CC683161}"/>
              </a:ext>
            </a:extLst>
          </p:cNvPr>
          <p:cNvSpPr>
            <a:spLocks noGrp="1"/>
          </p:cNvSpPr>
          <p:nvPr>
            <p:ph type="sldNum" sz="quarter" idx="12"/>
          </p:nvPr>
        </p:nvSpPr>
        <p:spPr/>
        <p:txBody>
          <a:bodyPr/>
          <a:lstStyle/>
          <a:p>
            <a:fld id="{A0D541E7-1293-CA4A-B8DE-A0F63BD0AD6B}" type="slidenum">
              <a:rPr lang="en-US" smtClean="0"/>
              <a:t>‹#›</a:t>
            </a:fld>
            <a:endParaRPr lang="en-US"/>
          </a:p>
        </p:txBody>
      </p:sp>
    </p:spTree>
    <p:extLst>
      <p:ext uri="{BB962C8B-B14F-4D97-AF65-F5344CB8AC3E}">
        <p14:creationId xmlns:p14="http://schemas.microsoft.com/office/powerpoint/2010/main" val="2413892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876CAB-A049-4A8A-C262-132D5EC554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6D78-71D9-F357-6E95-43B69BCB57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AE26FF-5038-E006-71DD-10A60E46AD99}"/>
              </a:ext>
            </a:extLst>
          </p:cNvPr>
          <p:cNvSpPr>
            <a:spLocks noGrp="1"/>
          </p:cNvSpPr>
          <p:nvPr>
            <p:ph type="dt" sz="half" idx="10"/>
          </p:nvPr>
        </p:nvSpPr>
        <p:spPr/>
        <p:txBody>
          <a:bodyPr/>
          <a:lstStyle/>
          <a:p>
            <a:fld id="{2AFFA5A5-218C-DD41-88C6-F1F7EAEF5964}" type="datetimeFigureOut">
              <a:rPr lang="en-US" smtClean="0"/>
              <a:t>5/22/24</a:t>
            </a:fld>
            <a:endParaRPr lang="en-US"/>
          </a:p>
        </p:txBody>
      </p:sp>
      <p:sp>
        <p:nvSpPr>
          <p:cNvPr id="5" name="Footer Placeholder 4">
            <a:extLst>
              <a:ext uri="{FF2B5EF4-FFF2-40B4-BE49-F238E27FC236}">
                <a16:creationId xmlns:a16="http://schemas.microsoft.com/office/drawing/2014/main" id="{B6ADB224-FF35-BCF6-1340-C1ABB0EC2B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56879A-55F7-C5F6-8BF0-0C907EED3C08}"/>
              </a:ext>
            </a:extLst>
          </p:cNvPr>
          <p:cNvSpPr>
            <a:spLocks noGrp="1"/>
          </p:cNvSpPr>
          <p:nvPr>
            <p:ph type="sldNum" sz="quarter" idx="12"/>
          </p:nvPr>
        </p:nvSpPr>
        <p:spPr/>
        <p:txBody>
          <a:bodyPr/>
          <a:lstStyle/>
          <a:p>
            <a:fld id="{A0D541E7-1293-CA4A-B8DE-A0F63BD0AD6B}" type="slidenum">
              <a:rPr lang="en-US" smtClean="0"/>
              <a:t>‹#›</a:t>
            </a:fld>
            <a:endParaRPr lang="en-US"/>
          </a:p>
        </p:txBody>
      </p:sp>
    </p:spTree>
    <p:extLst>
      <p:ext uri="{BB962C8B-B14F-4D97-AF65-F5344CB8AC3E}">
        <p14:creationId xmlns:p14="http://schemas.microsoft.com/office/powerpoint/2010/main" val="289797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955CA5-B013-958F-C4F0-CB8B05CCEE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80A4EA-9A6E-8B22-E2BB-5F529432AE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08617F-9348-5C8D-2345-9F63FB5FAC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FFA5A5-218C-DD41-88C6-F1F7EAEF5964}" type="datetimeFigureOut">
              <a:rPr lang="en-US" smtClean="0"/>
              <a:t>5/22/24</a:t>
            </a:fld>
            <a:endParaRPr lang="en-US"/>
          </a:p>
        </p:txBody>
      </p:sp>
      <p:sp>
        <p:nvSpPr>
          <p:cNvPr id="5" name="Footer Placeholder 4">
            <a:extLst>
              <a:ext uri="{FF2B5EF4-FFF2-40B4-BE49-F238E27FC236}">
                <a16:creationId xmlns:a16="http://schemas.microsoft.com/office/drawing/2014/main" id="{AFF60EA4-925E-98C3-D97E-8C9768FFD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E8142B3-F122-D7D4-EF79-15FFF81FB6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D541E7-1293-CA4A-B8DE-A0F63BD0AD6B}" type="slidenum">
              <a:rPr lang="en-US" smtClean="0"/>
              <a:t>‹#›</a:t>
            </a:fld>
            <a:endParaRPr lang="en-US"/>
          </a:p>
        </p:txBody>
      </p:sp>
    </p:spTree>
    <p:extLst>
      <p:ext uri="{BB962C8B-B14F-4D97-AF65-F5344CB8AC3E}">
        <p14:creationId xmlns:p14="http://schemas.microsoft.com/office/powerpoint/2010/main" val="408418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s://access-ci.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hyperlink" Target="https://www.sdsc.edu/services/hpc/expanse/index.html" TargetMode="External"/><Relationship Id="rId2" Type="http://schemas.openxmlformats.org/officeDocument/2006/relationships/hyperlink" Target="https://www.sdsc.edu/support/user_guides/expanse.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1B_20716DAD.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nam12.safelinks.protection.outlook.com/?url=http%3A%2F%2F19.1.1.217%2F&amp;data=05%7C01%7Ckeb3424%40uncw.edu%7C209557a523504f14578a08dbdc8e6ac6%7C2213678197534c75af2868a078871ebf%7C0%7C0%7C638346276461769588%7CUnknown%7CTWFpbGZsb3d8eyJWIjoiMC4wLjAwMDAiLCJQIjoiV2luMzIiLCJBTiI6Ik1haWwiLCJXVCI6Mn0%3D%7C3000%7C%7C%7C&amp;sdata=ADlwbjTP28pIlJgWqYFlutt0u4hmgVVIHuH%2BWXZ%2BeFM%3D&amp;reserved=0"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9.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cs.github.com/en" TargetMode="External"/><Relationship Id="rId2" Type="http://schemas.openxmlformats.org/officeDocument/2006/relationships/hyperlink" Target="https://github.com/" TargetMode="External"/><Relationship Id="rId1" Type="http://schemas.openxmlformats.org/officeDocument/2006/relationships/slideLayout" Target="../slideLayouts/slideLayout2.xml"/><Relationship Id="rId4" Type="http://schemas.openxmlformats.org/officeDocument/2006/relationships/hyperlink" Target="https://github.com/sdsc-hpc-training-org/basic_skills"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git-scm.com/docs/git-add"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github.com/git-guides/git-add"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varonis.com/blog/git-branching"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0.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hyperlink" Target="https://phoenixnap.com/kb/git-branching-strategy" TargetMode="External"/><Relationship Id="rId7" Type="http://schemas.openxmlformats.org/officeDocument/2006/relationships/diagramData" Target="../diagrams/data3.xml"/><Relationship Id="rId2" Type="http://schemas.openxmlformats.org/officeDocument/2006/relationships/hyperlink" Target="https://www.geeksforgeeks.org/branching-strategies-in-git/" TargetMode="External"/><Relationship Id="rId1" Type="http://schemas.openxmlformats.org/officeDocument/2006/relationships/slideLayout" Target="../slideLayouts/slideLayout2.xml"/><Relationship Id="rId6" Type="http://schemas.openxmlformats.org/officeDocument/2006/relationships/image" Target="../media/image10.png"/><Relationship Id="rId11" Type="http://schemas.microsoft.com/office/2007/relationships/diagramDrawing" Target="../diagrams/drawing3.xml"/><Relationship Id="rId5" Type="http://schemas.openxmlformats.org/officeDocument/2006/relationships/image" Target="../media/image14.png"/><Relationship Id="rId10" Type="http://schemas.openxmlformats.org/officeDocument/2006/relationships/diagramColors" Target="../diagrams/colors3.xml"/><Relationship Id="rId4" Type="http://schemas.openxmlformats.org/officeDocument/2006/relationships/image" Target="../media/image13.png"/><Relationship Id="rId9" Type="http://schemas.openxmlformats.org/officeDocument/2006/relationships/diagramQuickStyle" Target="../diagrams/quickStyle3.xml"/></Relationships>
</file>

<file path=ppt/slides/_rels/slide36.xml.rels><?xml version="1.0" encoding="UTF-8" standalone="yes"?>
<Relationships xmlns="http://schemas.openxmlformats.org/package/2006/relationships"><Relationship Id="rId2" Type="http://schemas.openxmlformats.org/officeDocument/2006/relationships/hyperlink" Target="https://git-scm.com/docs"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E225E-8302-1355-BA89-90265AA74C4A}"/>
              </a:ext>
            </a:extLst>
          </p:cNvPr>
          <p:cNvSpPr>
            <a:spLocks noGrp="1"/>
          </p:cNvSpPr>
          <p:nvPr>
            <p:ph type="title"/>
          </p:nvPr>
        </p:nvSpPr>
        <p:spPr/>
        <p:txBody>
          <a:bodyPr/>
          <a:lstStyle/>
          <a:p>
            <a:r>
              <a:rPr lang="en-US" dirty="0"/>
              <a:t>BEFORE SESSION</a:t>
            </a:r>
          </a:p>
        </p:txBody>
      </p:sp>
      <p:sp>
        <p:nvSpPr>
          <p:cNvPr id="3" name="Content Placeholder 2">
            <a:extLst>
              <a:ext uri="{FF2B5EF4-FFF2-40B4-BE49-F238E27FC236}">
                <a16:creationId xmlns:a16="http://schemas.microsoft.com/office/drawing/2014/main" id="{2CDB9147-6956-CC19-C343-3290B960ED74}"/>
              </a:ext>
            </a:extLst>
          </p:cNvPr>
          <p:cNvSpPr>
            <a:spLocks noGrp="1"/>
          </p:cNvSpPr>
          <p:nvPr>
            <p:ph idx="1"/>
          </p:nvPr>
        </p:nvSpPr>
        <p:spPr/>
        <p:txBody>
          <a:bodyPr>
            <a:normAutofit/>
          </a:bodyPr>
          <a:lstStyle/>
          <a:p>
            <a:r>
              <a:rPr lang="en-US" sz="4400" dirty="0"/>
              <a:t>Make sure all students </a:t>
            </a:r>
          </a:p>
          <a:p>
            <a:pPr lvl="1"/>
            <a:r>
              <a:rPr lang="en-US" sz="4000" dirty="0"/>
              <a:t>Have ACCESS account (pass + username)</a:t>
            </a:r>
          </a:p>
          <a:p>
            <a:pPr lvl="1"/>
            <a:r>
              <a:rPr lang="en-US" sz="4000" dirty="0"/>
              <a:t>Have a GitHub account</a:t>
            </a:r>
          </a:p>
          <a:p>
            <a:pPr lvl="1"/>
            <a:r>
              <a:rPr lang="en-US" sz="4000" dirty="0"/>
              <a:t>Using their own computers have PuTTY</a:t>
            </a:r>
          </a:p>
          <a:p>
            <a:pPr marL="457200" lvl="1" indent="0">
              <a:buNone/>
            </a:pPr>
            <a:endParaRPr lang="en-US" sz="4000" dirty="0"/>
          </a:p>
        </p:txBody>
      </p:sp>
    </p:spTree>
    <p:extLst>
      <p:ext uri="{BB962C8B-B14F-4D97-AF65-F5344CB8AC3E}">
        <p14:creationId xmlns:p14="http://schemas.microsoft.com/office/powerpoint/2010/main" val="2937275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3F90A-E856-99A0-54F0-833DD6F4583C}"/>
              </a:ext>
            </a:extLst>
          </p:cNvPr>
          <p:cNvSpPr>
            <a:spLocks noGrp="1"/>
          </p:cNvSpPr>
          <p:nvPr>
            <p:ph type="ctrTitle"/>
          </p:nvPr>
        </p:nvSpPr>
        <p:spPr/>
        <p:txBody>
          <a:bodyPr>
            <a:normAutofit fontScale="90000"/>
          </a:bodyPr>
          <a:lstStyle/>
          <a:p>
            <a:r>
              <a:rPr lang="en-US" dirty="0"/>
              <a:t>Introduction to </a:t>
            </a:r>
            <a:br>
              <a:rPr lang="en-US" dirty="0"/>
            </a:br>
            <a:r>
              <a:rPr lang="en-US" dirty="0"/>
              <a:t>High Performance Computing </a:t>
            </a:r>
            <a:br>
              <a:rPr lang="en-US" dirty="0"/>
            </a:br>
            <a:r>
              <a:rPr lang="en-US" dirty="0"/>
              <a:t>&amp; EXPANSE</a:t>
            </a:r>
          </a:p>
        </p:txBody>
      </p:sp>
      <p:sp>
        <p:nvSpPr>
          <p:cNvPr id="3" name="Subtitle 2">
            <a:extLst>
              <a:ext uri="{FF2B5EF4-FFF2-40B4-BE49-F238E27FC236}">
                <a16:creationId xmlns:a16="http://schemas.microsoft.com/office/drawing/2014/main" id="{BABEADC1-6530-0AFF-08F5-81E3E6D3EEAD}"/>
              </a:ext>
            </a:extLst>
          </p:cNvPr>
          <p:cNvSpPr>
            <a:spLocks noGrp="1"/>
          </p:cNvSpPr>
          <p:nvPr>
            <p:ph type="subTitle" idx="1"/>
          </p:nvPr>
        </p:nvSpPr>
        <p:spPr>
          <a:xfrm>
            <a:off x="1524000" y="4383916"/>
            <a:ext cx="9144000" cy="1655762"/>
          </a:xfrm>
        </p:spPr>
        <p:txBody>
          <a:bodyPr/>
          <a:lstStyle/>
          <a:p>
            <a:r>
              <a:rPr lang="en-US" dirty="0"/>
              <a:t>Katy Boot &amp; Qianqian Liu</a:t>
            </a:r>
          </a:p>
          <a:p>
            <a:r>
              <a:rPr lang="en-US" dirty="0"/>
              <a:t>Cyberinfrastructure Training 2024</a:t>
            </a:r>
          </a:p>
        </p:txBody>
      </p:sp>
    </p:spTree>
    <p:extLst>
      <p:ext uri="{BB962C8B-B14F-4D97-AF65-F5344CB8AC3E}">
        <p14:creationId xmlns:p14="http://schemas.microsoft.com/office/powerpoint/2010/main" val="1934682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0A539-A1A6-835B-E491-85777A39FE3E}"/>
              </a:ext>
            </a:extLst>
          </p:cNvPr>
          <p:cNvSpPr>
            <a:spLocks noGrp="1"/>
          </p:cNvSpPr>
          <p:nvPr>
            <p:ph type="title"/>
          </p:nvPr>
        </p:nvSpPr>
        <p:spPr>
          <a:xfrm>
            <a:off x="796046" y="0"/>
            <a:ext cx="10815536" cy="1325563"/>
          </a:xfrm>
        </p:spPr>
        <p:txBody>
          <a:bodyPr>
            <a:normAutofit/>
          </a:bodyPr>
          <a:lstStyle/>
          <a:p>
            <a:r>
              <a:rPr lang="en-US" dirty="0"/>
              <a:t>What is High Performance Computing (HPC)?</a:t>
            </a:r>
          </a:p>
        </p:txBody>
      </p:sp>
      <p:sp>
        <p:nvSpPr>
          <p:cNvPr id="3" name="Content Placeholder 2">
            <a:extLst>
              <a:ext uri="{FF2B5EF4-FFF2-40B4-BE49-F238E27FC236}">
                <a16:creationId xmlns:a16="http://schemas.microsoft.com/office/drawing/2014/main" id="{BB743D7B-D66B-5E56-0553-A5F512F7B3C2}"/>
              </a:ext>
            </a:extLst>
          </p:cNvPr>
          <p:cNvSpPr>
            <a:spLocks noGrp="1"/>
          </p:cNvSpPr>
          <p:nvPr>
            <p:ph idx="1"/>
          </p:nvPr>
        </p:nvSpPr>
        <p:spPr>
          <a:xfrm>
            <a:off x="600075" y="2157413"/>
            <a:ext cx="9380503" cy="4335462"/>
          </a:xfrm>
        </p:spPr>
        <p:txBody>
          <a:bodyPr>
            <a:normAutofit/>
          </a:bodyPr>
          <a:lstStyle/>
          <a:p>
            <a:endParaRPr lang="en-US" b="0" i="0" dirty="0">
              <a:solidFill>
                <a:srgbClr val="231820"/>
              </a:solidFill>
              <a:effectLst/>
              <a:highlight>
                <a:srgbClr val="FFFFFF"/>
              </a:highlight>
              <a:latin typeface="Google Sans"/>
            </a:endParaRPr>
          </a:p>
          <a:p>
            <a:endParaRPr lang="en-US" dirty="0"/>
          </a:p>
        </p:txBody>
      </p:sp>
      <p:pic>
        <p:nvPicPr>
          <p:cNvPr id="3076" name="Picture 4" descr="Parallel vs sequential programming. | Download Scientific Diagram">
            <a:extLst>
              <a:ext uri="{FF2B5EF4-FFF2-40B4-BE49-F238E27FC236}">
                <a16:creationId xmlns:a16="http://schemas.microsoft.com/office/drawing/2014/main" id="{E89B4D09-0F6D-55D0-778E-071DE364FA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7998"/>
          <a:stretch/>
        </p:blipFill>
        <p:spPr bwMode="auto">
          <a:xfrm>
            <a:off x="3201969" y="1105694"/>
            <a:ext cx="6003689" cy="21034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74508580-0999-BD20-73B9-38924EBFF6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4107" y="3134551"/>
            <a:ext cx="5464367" cy="32786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Parallel vs sequential programming. | Download Scientific Diagram">
            <a:extLst>
              <a:ext uri="{FF2B5EF4-FFF2-40B4-BE49-F238E27FC236}">
                <a16:creationId xmlns:a16="http://schemas.microsoft.com/office/drawing/2014/main" id="{03CD914A-4F2E-F392-CB49-349D65E2CC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4380"/>
          <a:stretch/>
        </p:blipFill>
        <p:spPr bwMode="auto">
          <a:xfrm>
            <a:off x="200125" y="3381159"/>
            <a:ext cx="6003689" cy="2785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511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0A539-A1A6-835B-E491-85777A39FE3E}"/>
              </a:ext>
            </a:extLst>
          </p:cNvPr>
          <p:cNvSpPr>
            <a:spLocks noGrp="1"/>
          </p:cNvSpPr>
          <p:nvPr>
            <p:ph type="title"/>
          </p:nvPr>
        </p:nvSpPr>
        <p:spPr>
          <a:xfrm>
            <a:off x="838200" y="365125"/>
            <a:ext cx="6662738" cy="1325563"/>
          </a:xfrm>
        </p:spPr>
        <p:txBody>
          <a:bodyPr>
            <a:normAutofit/>
          </a:bodyPr>
          <a:lstStyle/>
          <a:p>
            <a:r>
              <a:rPr lang="en-US" dirty="0"/>
              <a:t>What is Expanse HPC?</a:t>
            </a:r>
          </a:p>
        </p:txBody>
      </p:sp>
      <p:sp>
        <p:nvSpPr>
          <p:cNvPr id="3" name="Content Placeholder 2">
            <a:extLst>
              <a:ext uri="{FF2B5EF4-FFF2-40B4-BE49-F238E27FC236}">
                <a16:creationId xmlns:a16="http://schemas.microsoft.com/office/drawing/2014/main" id="{BB743D7B-D66B-5E56-0553-A5F512F7B3C2}"/>
              </a:ext>
            </a:extLst>
          </p:cNvPr>
          <p:cNvSpPr>
            <a:spLocks noGrp="1"/>
          </p:cNvSpPr>
          <p:nvPr>
            <p:ph idx="1"/>
          </p:nvPr>
        </p:nvSpPr>
        <p:spPr>
          <a:xfrm>
            <a:off x="600076" y="1690688"/>
            <a:ext cx="6131464" cy="4802187"/>
          </a:xfrm>
        </p:spPr>
        <p:txBody>
          <a:bodyPr>
            <a:normAutofit/>
          </a:bodyPr>
          <a:lstStyle/>
          <a:p>
            <a:pPr marL="0" indent="0">
              <a:buNone/>
            </a:pPr>
            <a:r>
              <a:rPr lang="en-US" b="0" i="0" u="sng" dirty="0">
                <a:solidFill>
                  <a:srgbClr val="333333"/>
                </a:solidFill>
                <a:effectLst/>
                <a:highlight>
                  <a:srgbClr val="FFFFFF"/>
                </a:highlight>
                <a:hlinkClick r:id="rId3" tooltip="https://access-ci.org/"/>
              </a:rPr>
              <a:t>Advanced Cyberinfrastructure Coordination Ecosystem: Services and Support</a:t>
            </a:r>
            <a:r>
              <a:rPr lang="en-US" b="0" i="0" dirty="0">
                <a:solidFill>
                  <a:srgbClr val="333333"/>
                </a:solidFill>
                <a:effectLst/>
                <a:highlight>
                  <a:srgbClr val="FFFFFF"/>
                </a:highlight>
              </a:rPr>
              <a:t> (ACCESS)</a:t>
            </a:r>
          </a:p>
          <a:p>
            <a:pPr marL="0" indent="0">
              <a:buNone/>
            </a:pPr>
            <a:endParaRPr lang="en-US" b="0" i="0" dirty="0">
              <a:solidFill>
                <a:srgbClr val="333333"/>
              </a:solidFill>
              <a:effectLst/>
              <a:highlight>
                <a:srgbClr val="FFFFFF"/>
              </a:highlight>
            </a:endParaRPr>
          </a:p>
          <a:p>
            <a:pPr marL="0" indent="0">
              <a:buNone/>
            </a:pPr>
            <a:r>
              <a:rPr lang="en-US" dirty="0">
                <a:solidFill>
                  <a:srgbClr val="333333"/>
                </a:solidFill>
                <a:highlight>
                  <a:srgbClr val="FFFFFF"/>
                </a:highlight>
              </a:rPr>
              <a:t>NSF-funded San Diego Supercomputer Center (SDSC) </a:t>
            </a:r>
            <a:endParaRPr lang="en-US" b="0" i="0" dirty="0">
              <a:solidFill>
                <a:srgbClr val="333333"/>
              </a:solidFill>
              <a:effectLst/>
              <a:highlight>
                <a:srgbClr val="FFFFFF"/>
              </a:highlight>
            </a:endParaRPr>
          </a:p>
          <a:p>
            <a:pPr marL="0" indent="0">
              <a:buNone/>
            </a:pPr>
            <a:endParaRPr lang="en-US" b="0" i="0" dirty="0">
              <a:solidFill>
                <a:srgbClr val="333333"/>
              </a:solidFill>
              <a:effectLst/>
              <a:highlight>
                <a:srgbClr val="FFFFFF"/>
              </a:highlight>
            </a:endParaRPr>
          </a:p>
          <a:p>
            <a:pPr marL="0" indent="0">
              <a:buNone/>
            </a:pPr>
            <a:r>
              <a:rPr lang="en-US" b="1" dirty="0">
                <a:solidFill>
                  <a:srgbClr val="231820"/>
                </a:solidFill>
                <a:highlight>
                  <a:srgbClr val="FFFFFF"/>
                </a:highlight>
              </a:rPr>
              <a:t>***P</a:t>
            </a:r>
            <a:r>
              <a:rPr lang="en-US" b="1" i="0" dirty="0">
                <a:solidFill>
                  <a:srgbClr val="231820"/>
                </a:solidFill>
                <a:effectLst/>
                <a:highlight>
                  <a:srgbClr val="FFFFFF"/>
                </a:highlight>
              </a:rPr>
              <a:t>rocess data and perform complex calculations at high(er) speeds***</a:t>
            </a:r>
          </a:p>
          <a:p>
            <a:endParaRPr lang="en-US" b="0" i="0" dirty="0">
              <a:solidFill>
                <a:srgbClr val="231820"/>
              </a:solidFill>
              <a:effectLst/>
              <a:highlight>
                <a:srgbClr val="FFFFFF"/>
              </a:highlight>
              <a:latin typeface="Google Sans"/>
            </a:endParaRPr>
          </a:p>
          <a:p>
            <a:endParaRPr lang="en-US" dirty="0"/>
          </a:p>
        </p:txBody>
      </p:sp>
      <p:pic>
        <p:nvPicPr>
          <p:cNvPr id="4" name="Picture 2">
            <a:extLst>
              <a:ext uri="{FF2B5EF4-FFF2-40B4-BE49-F238E27FC236}">
                <a16:creationId xmlns:a16="http://schemas.microsoft.com/office/drawing/2014/main" id="{89CBD0EC-C2E4-EEBB-35CB-AA88B1D880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3799" y="460274"/>
            <a:ext cx="3810000" cy="2540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Sequential vs. parallel processing of the data stream. | Download  Scientific Diagram">
            <a:extLst>
              <a:ext uri="{FF2B5EF4-FFF2-40B4-BE49-F238E27FC236}">
                <a16:creationId xmlns:a16="http://schemas.microsoft.com/office/drawing/2014/main" id="{015B3845-FFEC-E857-DCAF-673592713C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8583" y="3857727"/>
            <a:ext cx="5427629" cy="2467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5867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1960B-3DDE-4F87-6E33-44AC40E66C21}"/>
              </a:ext>
            </a:extLst>
          </p:cNvPr>
          <p:cNvSpPr>
            <a:spLocks noGrp="1"/>
          </p:cNvSpPr>
          <p:nvPr>
            <p:ph type="title"/>
          </p:nvPr>
        </p:nvSpPr>
        <p:spPr>
          <a:xfrm>
            <a:off x="838200" y="348995"/>
            <a:ext cx="10515600" cy="1325563"/>
          </a:xfrm>
        </p:spPr>
        <p:txBody>
          <a:bodyPr/>
          <a:lstStyle/>
          <a:p>
            <a:pPr algn="ctr"/>
            <a:r>
              <a:rPr lang="en-US" dirty="0"/>
              <a:t>Expanse Help</a:t>
            </a:r>
          </a:p>
        </p:txBody>
      </p:sp>
      <p:sp>
        <p:nvSpPr>
          <p:cNvPr id="3" name="Content Placeholder 2">
            <a:extLst>
              <a:ext uri="{FF2B5EF4-FFF2-40B4-BE49-F238E27FC236}">
                <a16:creationId xmlns:a16="http://schemas.microsoft.com/office/drawing/2014/main" id="{02AFD86D-2E06-D494-40B9-417DDDE9530A}"/>
              </a:ext>
            </a:extLst>
          </p:cNvPr>
          <p:cNvSpPr>
            <a:spLocks noGrp="1"/>
          </p:cNvSpPr>
          <p:nvPr>
            <p:ph idx="1"/>
          </p:nvPr>
        </p:nvSpPr>
        <p:spPr/>
        <p:txBody>
          <a:bodyPr>
            <a:normAutofit/>
          </a:bodyPr>
          <a:lstStyle/>
          <a:p>
            <a:pPr marL="0" indent="0" algn="ctr">
              <a:buNone/>
            </a:pPr>
            <a:endParaRPr lang="en-US" dirty="0"/>
          </a:p>
          <a:p>
            <a:pPr marL="0" indent="0" algn="ctr">
              <a:buNone/>
            </a:pPr>
            <a:r>
              <a:rPr lang="en-US" b="1" u="sng" dirty="0"/>
              <a:t>Google: SDSC Expanse User Guide</a:t>
            </a:r>
          </a:p>
          <a:p>
            <a:pPr marL="0" indent="0" algn="ctr">
              <a:buNone/>
            </a:pPr>
            <a:endParaRPr lang="en-US" b="1" u="sng" dirty="0"/>
          </a:p>
          <a:p>
            <a:pPr marL="0" indent="0" algn="ctr">
              <a:buNone/>
            </a:pPr>
            <a:r>
              <a:rPr lang="en-US" dirty="0">
                <a:hlinkClick r:id="rId2"/>
              </a:rPr>
              <a:t>https://www.sdsc.edu/support/user_guides/expanse.html</a:t>
            </a:r>
            <a:endParaRPr lang="en-US" dirty="0"/>
          </a:p>
          <a:p>
            <a:pPr marL="0" indent="0" algn="ctr">
              <a:buNone/>
            </a:pPr>
            <a:r>
              <a:rPr lang="en-US" dirty="0">
                <a:hlinkClick r:id="rId3"/>
              </a:rPr>
              <a:t>https://</a:t>
            </a:r>
            <a:r>
              <a:rPr lang="en-US" dirty="0" err="1">
                <a:hlinkClick r:id="rId3"/>
              </a:rPr>
              <a:t>www.sdsc.edu</a:t>
            </a:r>
            <a:r>
              <a:rPr lang="en-US" dirty="0">
                <a:hlinkClick r:id="rId3"/>
              </a:rPr>
              <a:t>/services/</a:t>
            </a:r>
            <a:r>
              <a:rPr lang="en-US" dirty="0" err="1">
                <a:hlinkClick r:id="rId3"/>
              </a:rPr>
              <a:t>hpc</a:t>
            </a:r>
            <a:r>
              <a:rPr lang="en-US" dirty="0">
                <a:hlinkClick r:id="rId3"/>
              </a:rPr>
              <a:t>/expanse/</a:t>
            </a:r>
            <a:r>
              <a:rPr lang="en-US" dirty="0" err="1">
                <a:hlinkClick r:id="rId3"/>
              </a:rPr>
              <a:t>index.html</a:t>
            </a:r>
            <a:endParaRPr lang="en-US" dirty="0"/>
          </a:p>
          <a:p>
            <a:pPr marL="0" indent="0" algn="ctr">
              <a:buNone/>
            </a:pPr>
            <a:endParaRPr lang="en-US" dirty="0"/>
          </a:p>
          <a:p>
            <a:pPr marL="0" indent="0" algn="ctr">
              <a:buNone/>
            </a:pPr>
            <a:r>
              <a:rPr lang="en-US" dirty="0"/>
              <a:t>** Every HPC system has a user guide!** </a:t>
            </a:r>
          </a:p>
          <a:p>
            <a:pPr marL="0" indent="0" algn="ctr">
              <a:buNone/>
            </a:pPr>
            <a:r>
              <a:rPr lang="en-US" dirty="0"/>
              <a:t>** Also a variety of educational videos &amp; seminars **</a:t>
            </a:r>
          </a:p>
          <a:p>
            <a:pPr marL="514350" indent="-514350">
              <a:buAutoNum type="arabicPeriod"/>
            </a:pPr>
            <a:endParaRPr lang="en-US" dirty="0"/>
          </a:p>
        </p:txBody>
      </p:sp>
    </p:spTree>
    <p:extLst>
      <p:ext uri="{BB962C8B-B14F-4D97-AF65-F5344CB8AC3E}">
        <p14:creationId xmlns:p14="http://schemas.microsoft.com/office/powerpoint/2010/main" val="3798660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1003D0-34EC-079D-C8CA-AC6457CEBD52}"/>
              </a:ext>
            </a:extLst>
          </p:cNvPr>
          <p:cNvSpPr>
            <a:spLocks noGrp="1"/>
          </p:cNvSpPr>
          <p:nvPr>
            <p:ph idx="1"/>
          </p:nvPr>
        </p:nvSpPr>
        <p:spPr>
          <a:xfrm>
            <a:off x="838200" y="1683026"/>
            <a:ext cx="10515600" cy="4931783"/>
          </a:xfrm>
        </p:spPr>
        <p:txBody>
          <a:bodyPr>
            <a:normAutofit/>
          </a:bodyPr>
          <a:lstStyle/>
          <a:p>
            <a:pPr marL="514350" indent="-514350">
              <a:buAutoNum type="arabicPeriod"/>
            </a:pPr>
            <a:r>
              <a:rPr lang="en-US" sz="2400" dirty="0"/>
              <a:t>Open the </a:t>
            </a:r>
            <a:r>
              <a:rPr lang="en-US" sz="2400" b="1" dirty="0"/>
              <a:t>PuTTY</a:t>
            </a:r>
            <a:r>
              <a:rPr lang="en-US" sz="2400" dirty="0"/>
              <a:t> Application</a:t>
            </a:r>
          </a:p>
          <a:p>
            <a:pPr marL="514350" indent="-514350">
              <a:buAutoNum type="arabicPeriod"/>
            </a:pPr>
            <a:r>
              <a:rPr lang="en-US" sz="2400" dirty="0"/>
              <a:t>Input host name	 ---&gt;	</a:t>
            </a:r>
            <a:r>
              <a:rPr lang="en-US" sz="2400" b="1" dirty="0">
                <a:solidFill>
                  <a:srgbClr val="000000"/>
                </a:solidFill>
                <a:effectLst/>
              </a:rPr>
              <a:t>$</a:t>
            </a:r>
            <a:r>
              <a:rPr lang="en-US" sz="2400" b="1" dirty="0" err="1">
                <a:solidFill>
                  <a:srgbClr val="000000"/>
                </a:solidFill>
                <a:effectLst/>
              </a:rPr>
              <a:t>USERNAME@login.expanse.sdsc.edu</a:t>
            </a:r>
            <a:endParaRPr lang="en-US" sz="2400" b="1" dirty="0">
              <a:solidFill>
                <a:srgbClr val="000000"/>
              </a:solidFill>
              <a:effectLst/>
            </a:endParaRPr>
          </a:p>
          <a:p>
            <a:pPr marL="514350" indent="-514350">
              <a:buAutoNum type="arabicPeriod"/>
            </a:pPr>
            <a:r>
              <a:rPr lang="en-US" sz="2400" dirty="0">
                <a:solidFill>
                  <a:srgbClr val="000000"/>
                </a:solidFill>
                <a:effectLst/>
              </a:rPr>
              <a:t>Port --&gt;  </a:t>
            </a:r>
            <a:r>
              <a:rPr lang="en-US" sz="2400" b="1" dirty="0">
                <a:solidFill>
                  <a:srgbClr val="000000"/>
                </a:solidFill>
                <a:effectLst/>
              </a:rPr>
              <a:t>22</a:t>
            </a:r>
            <a:endParaRPr lang="en-US" sz="2400" b="1" dirty="0">
              <a:solidFill>
                <a:srgbClr val="000000"/>
              </a:solidFill>
            </a:endParaRPr>
          </a:p>
          <a:p>
            <a:pPr marL="514350" indent="-514350">
              <a:buAutoNum type="arabicPeriod"/>
            </a:pPr>
            <a:r>
              <a:rPr lang="en-US" sz="2400" dirty="0">
                <a:solidFill>
                  <a:srgbClr val="000000"/>
                </a:solidFill>
                <a:effectLst/>
              </a:rPr>
              <a:t>Select Connection Type --&gt;  </a:t>
            </a:r>
            <a:r>
              <a:rPr lang="en-US" sz="2400" b="1" dirty="0">
                <a:solidFill>
                  <a:srgbClr val="000000"/>
                </a:solidFill>
                <a:effectLst/>
              </a:rPr>
              <a:t>SSH</a:t>
            </a:r>
            <a:endParaRPr lang="en-US" sz="2400" b="1" i="1" dirty="0">
              <a:solidFill>
                <a:srgbClr val="000000"/>
              </a:solidFill>
            </a:endParaRPr>
          </a:p>
          <a:p>
            <a:pPr marL="514350" indent="-514350">
              <a:buAutoNum type="arabicPeriod"/>
            </a:pPr>
            <a:r>
              <a:rPr lang="en-US" sz="2400" i="1" dirty="0">
                <a:solidFill>
                  <a:srgbClr val="000000"/>
                </a:solidFill>
              </a:rPr>
              <a:t>Optional: Enter a name for your connection </a:t>
            </a:r>
            <a:r>
              <a:rPr lang="en-US" sz="2400" b="1" i="1" dirty="0">
                <a:solidFill>
                  <a:srgbClr val="000000"/>
                </a:solidFill>
              </a:rPr>
              <a:t>‘EXPANSE Login’ </a:t>
            </a:r>
            <a:r>
              <a:rPr lang="en-US" sz="2400" i="1" dirty="0">
                <a:solidFill>
                  <a:srgbClr val="000000"/>
                </a:solidFill>
              </a:rPr>
              <a:t>and </a:t>
            </a:r>
            <a:r>
              <a:rPr lang="en-US" sz="2400" b="1" i="1" dirty="0">
                <a:solidFill>
                  <a:srgbClr val="000000"/>
                </a:solidFill>
              </a:rPr>
              <a:t>Save </a:t>
            </a:r>
            <a:r>
              <a:rPr lang="en-US" sz="2400" i="1" dirty="0">
                <a:solidFill>
                  <a:srgbClr val="000000"/>
                </a:solidFill>
              </a:rPr>
              <a:t>for fast login later (‘Load’ the correct saved connection and ‘Open’ to avoid inputting every time)</a:t>
            </a:r>
            <a:endParaRPr lang="en-US" sz="2400" b="1" i="1" dirty="0">
              <a:solidFill>
                <a:srgbClr val="000000"/>
              </a:solidFill>
              <a:effectLst/>
            </a:endParaRPr>
          </a:p>
          <a:p>
            <a:pPr marL="514350" indent="-514350">
              <a:buAutoNum type="arabicPeriod"/>
            </a:pPr>
            <a:r>
              <a:rPr lang="en-US" sz="2400" dirty="0">
                <a:solidFill>
                  <a:srgbClr val="000000"/>
                </a:solidFill>
                <a:effectLst/>
              </a:rPr>
              <a:t>Click </a:t>
            </a:r>
            <a:r>
              <a:rPr lang="en-US" sz="2400" b="1" dirty="0">
                <a:solidFill>
                  <a:srgbClr val="000000"/>
                </a:solidFill>
                <a:effectLst/>
              </a:rPr>
              <a:t>Open </a:t>
            </a:r>
            <a:r>
              <a:rPr lang="en-US" sz="2400" dirty="0">
                <a:solidFill>
                  <a:srgbClr val="000000"/>
                </a:solidFill>
                <a:effectLst/>
              </a:rPr>
              <a:t>--&gt; window should open and request password --&gt; enter ‘</a:t>
            </a:r>
            <a:r>
              <a:rPr lang="en-US" sz="2400" b="1" dirty="0">
                <a:solidFill>
                  <a:srgbClr val="000000"/>
                </a:solidFill>
                <a:effectLst/>
              </a:rPr>
              <a:t>Password</a:t>
            </a:r>
            <a:r>
              <a:rPr lang="en-US" sz="2400" dirty="0">
                <a:solidFill>
                  <a:srgbClr val="000000"/>
                </a:solidFill>
                <a:effectLst/>
              </a:rPr>
              <a:t>’ </a:t>
            </a:r>
          </a:p>
          <a:p>
            <a:pPr marL="514350" indent="-514350">
              <a:buAutoNum type="arabicPeriod"/>
            </a:pPr>
            <a:endParaRPr lang="en-US" sz="2400" dirty="0">
              <a:solidFill>
                <a:srgbClr val="000000"/>
              </a:solidFill>
              <a:effectLst/>
            </a:endParaRPr>
          </a:p>
          <a:p>
            <a:pPr marL="0" indent="0">
              <a:buNone/>
            </a:pPr>
            <a:r>
              <a:rPr lang="en-US" sz="2400" b="1" i="1" dirty="0">
                <a:solidFill>
                  <a:srgbClr val="2D3B45"/>
                </a:solidFill>
                <a:highlight>
                  <a:srgbClr val="FFFFFF"/>
                </a:highlight>
                <a:latin typeface="Lato Extended"/>
              </a:rPr>
              <a:t>		***U</a:t>
            </a:r>
            <a:r>
              <a:rPr lang="en-US" sz="2400" b="1" i="1" dirty="0">
                <a:solidFill>
                  <a:srgbClr val="2D3B45"/>
                </a:solidFill>
                <a:effectLst/>
                <a:highlight>
                  <a:srgbClr val="FFFFFF"/>
                </a:highlight>
                <a:latin typeface="Lato Extended"/>
              </a:rPr>
              <a:t>se the password for your ACCESS account***</a:t>
            </a:r>
            <a:endParaRPr lang="en-US" sz="2400" b="1" i="1" dirty="0">
              <a:solidFill>
                <a:srgbClr val="000000"/>
              </a:solidFill>
              <a:effectLst/>
            </a:endParaRPr>
          </a:p>
          <a:p>
            <a:pPr marL="0" indent="0">
              <a:buNone/>
            </a:pPr>
            <a:endParaRPr lang="en-US" sz="2400" dirty="0"/>
          </a:p>
        </p:txBody>
      </p:sp>
      <p:sp>
        <p:nvSpPr>
          <p:cNvPr id="4" name="Title 1">
            <a:extLst>
              <a:ext uri="{FF2B5EF4-FFF2-40B4-BE49-F238E27FC236}">
                <a16:creationId xmlns:a16="http://schemas.microsoft.com/office/drawing/2014/main" id="{041F1F2B-BB54-F62C-45BB-B6CABD96BE2B}"/>
              </a:ext>
            </a:extLst>
          </p:cNvPr>
          <p:cNvSpPr txBox="1">
            <a:spLocks/>
          </p:cNvSpPr>
          <p:nvPr/>
        </p:nvSpPr>
        <p:spPr>
          <a:xfrm>
            <a:off x="0" y="24951"/>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1. Access EXPANSE (Windows)</a:t>
            </a:r>
          </a:p>
        </p:txBody>
      </p:sp>
    </p:spTree>
    <p:extLst>
      <p:ext uri="{BB962C8B-B14F-4D97-AF65-F5344CB8AC3E}">
        <p14:creationId xmlns:p14="http://schemas.microsoft.com/office/powerpoint/2010/main" val="1966676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1003D0-34EC-079D-C8CA-AC6457CEBD52}"/>
              </a:ext>
            </a:extLst>
          </p:cNvPr>
          <p:cNvSpPr>
            <a:spLocks noGrp="1"/>
          </p:cNvSpPr>
          <p:nvPr>
            <p:ph idx="1"/>
          </p:nvPr>
        </p:nvSpPr>
        <p:spPr>
          <a:xfrm>
            <a:off x="838200" y="1683026"/>
            <a:ext cx="10515600" cy="4493937"/>
          </a:xfrm>
        </p:spPr>
        <p:txBody>
          <a:bodyPr>
            <a:normAutofit/>
          </a:bodyPr>
          <a:lstStyle/>
          <a:p>
            <a:pPr marL="514350" indent="-514350">
              <a:buAutoNum type="arabicPeriod"/>
            </a:pPr>
            <a:r>
              <a:rPr lang="en-US" sz="2400" dirty="0"/>
              <a:t>Open the </a:t>
            </a:r>
            <a:r>
              <a:rPr lang="en-US" sz="2400" b="1" dirty="0"/>
              <a:t>Terminal</a:t>
            </a:r>
            <a:r>
              <a:rPr lang="en-US" sz="2400" dirty="0"/>
              <a:t> Application</a:t>
            </a:r>
          </a:p>
          <a:p>
            <a:pPr marL="514350" indent="-514350">
              <a:buAutoNum type="arabicPeriod"/>
            </a:pPr>
            <a:r>
              <a:rPr lang="en-US" sz="2400" dirty="0"/>
              <a:t>Input host name	 ---&gt;	$ </a:t>
            </a:r>
            <a:r>
              <a:rPr lang="en-US" sz="2400" b="1" dirty="0" err="1"/>
              <a:t>ssh</a:t>
            </a:r>
            <a:r>
              <a:rPr lang="en-US" sz="2400" dirty="0"/>
              <a:t> </a:t>
            </a:r>
            <a:r>
              <a:rPr lang="en-US" sz="2400" b="1" dirty="0">
                <a:solidFill>
                  <a:srgbClr val="000000"/>
                </a:solidFill>
                <a:effectLst/>
              </a:rPr>
              <a:t>$</a:t>
            </a:r>
            <a:r>
              <a:rPr lang="en-US" sz="2400" b="1" dirty="0" err="1">
                <a:solidFill>
                  <a:srgbClr val="000000"/>
                </a:solidFill>
                <a:effectLst/>
              </a:rPr>
              <a:t>USERNAME@login.expanse.sdsc.edu</a:t>
            </a:r>
            <a:endParaRPr lang="en-US" sz="1600" b="1" dirty="0">
              <a:solidFill>
                <a:srgbClr val="000000"/>
              </a:solidFill>
              <a:effectLst/>
            </a:endParaRPr>
          </a:p>
          <a:p>
            <a:pPr marL="514350" indent="-514350">
              <a:buAutoNum type="arabicPeriod"/>
            </a:pPr>
            <a:r>
              <a:rPr lang="en-US" sz="2400" i="1" dirty="0">
                <a:solidFill>
                  <a:srgbClr val="000000"/>
                </a:solidFill>
              </a:rPr>
              <a:t>Optional: Add an </a:t>
            </a:r>
            <a:r>
              <a:rPr lang="en-US" sz="2400" b="1" i="1" dirty="0">
                <a:solidFill>
                  <a:srgbClr val="000000"/>
                </a:solidFill>
              </a:rPr>
              <a:t>alias</a:t>
            </a:r>
            <a:r>
              <a:rPr lang="en-US" sz="2400" i="1" dirty="0">
                <a:solidFill>
                  <a:srgbClr val="000000"/>
                </a:solidFill>
              </a:rPr>
              <a:t> shortcut to your shell (</a:t>
            </a:r>
            <a:r>
              <a:rPr lang="en-US" sz="2400" i="1" dirty="0" err="1">
                <a:solidFill>
                  <a:srgbClr val="000000"/>
                </a:solidFill>
              </a:rPr>
              <a:t>zsh</a:t>
            </a:r>
            <a:r>
              <a:rPr lang="en-US" sz="2400" i="1" dirty="0">
                <a:solidFill>
                  <a:srgbClr val="000000"/>
                </a:solidFill>
              </a:rPr>
              <a:t>/bash)</a:t>
            </a:r>
            <a:endParaRPr lang="en-US" sz="2400" b="1" i="1" dirty="0">
              <a:solidFill>
                <a:srgbClr val="000000"/>
              </a:solidFill>
              <a:effectLst/>
            </a:endParaRPr>
          </a:p>
          <a:p>
            <a:pPr marL="514350" indent="-514350">
              <a:buAutoNum type="arabicPeriod"/>
            </a:pPr>
            <a:r>
              <a:rPr lang="en-US" sz="2400" dirty="0">
                <a:solidFill>
                  <a:srgbClr val="000000"/>
                </a:solidFill>
              </a:rPr>
              <a:t>P</a:t>
            </a:r>
            <a:r>
              <a:rPr lang="en-US" sz="2400" dirty="0">
                <a:solidFill>
                  <a:srgbClr val="000000"/>
                </a:solidFill>
                <a:effectLst/>
              </a:rPr>
              <a:t>assword Request --&gt; enter ‘</a:t>
            </a:r>
            <a:r>
              <a:rPr lang="en-US" sz="2400" b="1" dirty="0">
                <a:solidFill>
                  <a:srgbClr val="000000"/>
                </a:solidFill>
                <a:effectLst/>
              </a:rPr>
              <a:t>Password</a:t>
            </a:r>
            <a:r>
              <a:rPr lang="en-US" sz="2400" dirty="0">
                <a:solidFill>
                  <a:srgbClr val="000000"/>
                </a:solidFill>
                <a:effectLst/>
              </a:rPr>
              <a:t>’ </a:t>
            </a:r>
          </a:p>
          <a:p>
            <a:pPr marL="0" indent="0">
              <a:buNone/>
            </a:pPr>
            <a:r>
              <a:rPr lang="en-US" sz="2400" b="1" i="1" dirty="0">
                <a:solidFill>
                  <a:srgbClr val="2D3B45"/>
                </a:solidFill>
                <a:highlight>
                  <a:srgbClr val="FFFFFF"/>
                </a:highlight>
                <a:latin typeface="Lato Extended"/>
              </a:rPr>
              <a:t>		***U</a:t>
            </a:r>
            <a:r>
              <a:rPr lang="en-US" sz="2400" b="1" i="1" dirty="0">
                <a:solidFill>
                  <a:srgbClr val="2D3B45"/>
                </a:solidFill>
                <a:effectLst/>
                <a:highlight>
                  <a:srgbClr val="FFFFFF"/>
                </a:highlight>
                <a:latin typeface="Lato Extended"/>
              </a:rPr>
              <a:t>se the password of your ACCESS account***</a:t>
            </a:r>
            <a:endParaRPr lang="en-US" sz="2400" b="1" i="1" dirty="0">
              <a:solidFill>
                <a:srgbClr val="000000"/>
              </a:solidFill>
              <a:effectLst/>
            </a:endParaRPr>
          </a:p>
          <a:p>
            <a:pPr marL="0" indent="0">
              <a:buNone/>
            </a:pPr>
            <a:endParaRPr lang="en-US" sz="2400" dirty="0"/>
          </a:p>
        </p:txBody>
      </p:sp>
      <p:sp>
        <p:nvSpPr>
          <p:cNvPr id="4" name="Title 1">
            <a:extLst>
              <a:ext uri="{FF2B5EF4-FFF2-40B4-BE49-F238E27FC236}">
                <a16:creationId xmlns:a16="http://schemas.microsoft.com/office/drawing/2014/main" id="{041F1F2B-BB54-F62C-45BB-B6CABD96BE2B}"/>
              </a:ext>
            </a:extLst>
          </p:cNvPr>
          <p:cNvSpPr txBox="1">
            <a:spLocks/>
          </p:cNvSpPr>
          <p:nvPr/>
        </p:nvSpPr>
        <p:spPr>
          <a:xfrm>
            <a:off x="1" y="18255"/>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1. Access EXPANSE (MacBook Terminal)</a:t>
            </a:r>
          </a:p>
        </p:txBody>
      </p:sp>
    </p:spTree>
    <p:extLst>
      <p:ext uri="{BB962C8B-B14F-4D97-AF65-F5344CB8AC3E}">
        <p14:creationId xmlns:p14="http://schemas.microsoft.com/office/powerpoint/2010/main" val="2749799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26598-E1A2-B5D4-CDA9-6824570EE6FA}"/>
              </a:ext>
            </a:extLst>
          </p:cNvPr>
          <p:cNvSpPr>
            <a:spLocks noGrp="1"/>
          </p:cNvSpPr>
          <p:nvPr>
            <p:ph type="title"/>
          </p:nvPr>
        </p:nvSpPr>
        <p:spPr>
          <a:xfrm>
            <a:off x="838200" y="0"/>
            <a:ext cx="10515600" cy="1325563"/>
          </a:xfrm>
        </p:spPr>
        <p:txBody>
          <a:bodyPr/>
          <a:lstStyle/>
          <a:p>
            <a:pPr algn="ctr"/>
            <a:r>
              <a:rPr lang="en-US" dirty="0"/>
              <a:t>EXPANSE Login Screen</a:t>
            </a:r>
          </a:p>
        </p:txBody>
      </p:sp>
      <p:pic>
        <p:nvPicPr>
          <p:cNvPr id="4" name="Content Placeholder 3" descr="A blue screen with white text&#10;&#10;Description automatically generated">
            <a:extLst>
              <a:ext uri="{FF2B5EF4-FFF2-40B4-BE49-F238E27FC236}">
                <a16:creationId xmlns:a16="http://schemas.microsoft.com/office/drawing/2014/main" id="{6BD17BF9-F9B7-F86E-4428-5960899A011A}"/>
              </a:ext>
            </a:extLst>
          </p:cNvPr>
          <p:cNvPicPr>
            <a:picLocks noGrp="1" noChangeAspect="1"/>
          </p:cNvPicPr>
          <p:nvPr>
            <p:ph idx="1"/>
          </p:nvPr>
        </p:nvPicPr>
        <p:blipFill>
          <a:blip r:embed="rId3"/>
          <a:stretch>
            <a:fillRect/>
          </a:stretch>
        </p:blipFill>
        <p:spPr>
          <a:xfrm>
            <a:off x="3680184" y="1209671"/>
            <a:ext cx="8383215" cy="5604060"/>
          </a:xfrm>
          <a:prstGeom prst="rect">
            <a:avLst/>
          </a:prstGeom>
        </p:spPr>
      </p:pic>
      <p:cxnSp>
        <p:nvCxnSpPr>
          <p:cNvPr id="6" name="Straight Arrow Connector 5">
            <a:extLst>
              <a:ext uri="{FF2B5EF4-FFF2-40B4-BE49-F238E27FC236}">
                <a16:creationId xmlns:a16="http://schemas.microsoft.com/office/drawing/2014/main" id="{D5EE8986-4DA9-59DB-E88D-12A8FE1D7CF4}"/>
              </a:ext>
            </a:extLst>
          </p:cNvPr>
          <p:cNvCxnSpPr>
            <a:cxnSpLocks/>
          </p:cNvCxnSpPr>
          <p:nvPr/>
        </p:nvCxnSpPr>
        <p:spPr>
          <a:xfrm>
            <a:off x="2040835" y="4731026"/>
            <a:ext cx="1493123" cy="12914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C5EA8F69-27ED-AD18-4F55-ECDD59AE0DF3}"/>
              </a:ext>
            </a:extLst>
          </p:cNvPr>
          <p:cNvSpPr txBox="1"/>
          <p:nvPr/>
        </p:nvSpPr>
        <p:spPr>
          <a:xfrm>
            <a:off x="325643" y="4318986"/>
            <a:ext cx="2995179" cy="2585323"/>
          </a:xfrm>
          <a:prstGeom prst="rect">
            <a:avLst/>
          </a:prstGeom>
          <a:noFill/>
        </p:spPr>
        <p:txBody>
          <a:bodyPr wrap="none" rtlCol="0">
            <a:spAutoFit/>
          </a:bodyPr>
          <a:lstStyle/>
          <a:p>
            <a:r>
              <a:rPr lang="en-US" b="1" dirty="0"/>
              <a:t>Command Line</a:t>
            </a:r>
          </a:p>
          <a:p>
            <a:r>
              <a:rPr lang="en-US" b="1" dirty="0"/>
              <a:t>(login node)</a:t>
            </a:r>
          </a:p>
          <a:p>
            <a:endParaRPr lang="en-US" b="1" dirty="0"/>
          </a:p>
          <a:p>
            <a:r>
              <a:rPr lang="en-US" b="0" i="0" dirty="0">
                <a:solidFill>
                  <a:srgbClr val="001E2E"/>
                </a:solidFill>
                <a:effectLst/>
                <a:highlight>
                  <a:srgbClr val="FFFFFF"/>
                </a:highlight>
                <a:latin typeface="Google Sans"/>
              </a:rPr>
              <a:t>Uploading data,</a:t>
            </a:r>
          </a:p>
          <a:p>
            <a:r>
              <a:rPr lang="en-US" b="0" i="0" dirty="0">
                <a:solidFill>
                  <a:srgbClr val="001E2E"/>
                </a:solidFill>
                <a:effectLst/>
                <a:highlight>
                  <a:srgbClr val="FFFFFF"/>
                </a:highlight>
                <a:latin typeface="Google Sans"/>
              </a:rPr>
              <a:t>Managing files, </a:t>
            </a:r>
          </a:p>
          <a:p>
            <a:r>
              <a:rPr lang="en-US" b="0" i="0" dirty="0">
                <a:solidFill>
                  <a:srgbClr val="001E2E"/>
                </a:solidFill>
                <a:effectLst/>
                <a:highlight>
                  <a:srgbClr val="FFFFFF"/>
                </a:highlight>
                <a:latin typeface="Google Sans"/>
              </a:rPr>
              <a:t>Compiling software, </a:t>
            </a:r>
          </a:p>
          <a:p>
            <a:r>
              <a:rPr lang="en-US" b="0" i="0" dirty="0">
                <a:solidFill>
                  <a:srgbClr val="001E2E"/>
                </a:solidFill>
                <a:effectLst/>
                <a:highlight>
                  <a:srgbClr val="FFFFFF"/>
                </a:highlight>
                <a:latin typeface="Google Sans"/>
              </a:rPr>
              <a:t>Editing scripts,</a:t>
            </a:r>
            <a:endParaRPr lang="en-US" dirty="0">
              <a:solidFill>
                <a:srgbClr val="001E2E"/>
              </a:solidFill>
              <a:highlight>
                <a:srgbClr val="FFFFFF"/>
              </a:highlight>
              <a:latin typeface="Google Sans"/>
            </a:endParaRPr>
          </a:p>
          <a:p>
            <a:r>
              <a:rPr lang="en-US" b="0" i="0" dirty="0">
                <a:solidFill>
                  <a:srgbClr val="001E2E"/>
                </a:solidFill>
                <a:effectLst/>
                <a:highlight>
                  <a:srgbClr val="FFFFFF"/>
                </a:highlight>
                <a:latin typeface="Google Sans"/>
              </a:rPr>
              <a:t>Checking on or managing jobs</a:t>
            </a:r>
            <a:endParaRPr lang="en-US" dirty="0"/>
          </a:p>
          <a:p>
            <a:endParaRPr lang="en-US" b="1" dirty="0"/>
          </a:p>
        </p:txBody>
      </p:sp>
      <p:cxnSp>
        <p:nvCxnSpPr>
          <p:cNvPr id="8" name="Straight Arrow Connector 7">
            <a:extLst>
              <a:ext uri="{FF2B5EF4-FFF2-40B4-BE49-F238E27FC236}">
                <a16:creationId xmlns:a16="http://schemas.microsoft.com/office/drawing/2014/main" id="{CC47F665-4B3D-F050-9168-B56BFEA9CB40}"/>
              </a:ext>
            </a:extLst>
          </p:cNvPr>
          <p:cNvCxnSpPr>
            <a:cxnSpLocks/>
          </p:cNvCxnSpPr>
          <p:nvPr/>
        </p:nvCxnSpPr>
        <p:spPr>
          <a:xfrm>
            <a:off x="2800566" y="3600167"/>
            <a:ext cx="749947" cy="8230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3BAE2F6-1284-C813-49E4-9B40AC15BB38}"/>
              </a:ext>
            </a:extLst>
          </p:cNvPr>
          <p:cNvSpPr txBox="1"/>
          <p:nvPr/>
        </p:nvSpPr>
        <p:spPr>
          <a:xfrm>
            <a:off x="1823233" y="2940584"/>
            <a:ext cx="1710725" cy="646331"/>
          </a:xfrm>
          <a:prstGeom prst="rect">
            <a:avLst/>
          </a:prstGeom>
          <a:noFill/>
        </p:spPr>
        <p:txBody>
          <a:bodyPr wrap="square" rtlCol="0">
            <a:spAutoFit/>
          </a:bodyPr>
          <a:lstStyle/>
          <a:p>
            <a:pPr algn="ctr"/>
            <a:r>
              <a:rPr lang="en-US" b="1" dirty="0"/>
              <a:t>Useful Module Suggestions</a:t>
            </a:r>
          </a:p>
        </p:txBody>
      </p:sp>
    </p:spTree>
    <p:extLst>
      <p:ext uri="{BB962C8B-B14F-4D97-AF65-F5344CB8AC3E}">
        <p14:creationId xmlns:p14="http://schemas.microsoft.com/office/powerpoint/2010/main" val="2751767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63EBDE9-AADC-322E-988A-F0E3E3161DD9}"/>
              </a:ext>
            </a:extLst>
          </p:cNvPr>
          <p:cNvSpPr txBox="1"/>
          <p:nvPr/>
        </p:nvSpPr>
        <p:spPr>
          <a:xfrm>
            <a:off x="7659757" y="394464"/>
            <a:ext cx="3273287" cy="646331"/>
          </a:xfrm>
          <a:prstGeom prst="rect">
            <a:avLst/>
          </a:prstGeom>
          <a:noFill/>
        </p:spPr>
        <p:txBody>
          <a:bodyPr wrap="square">
            <a:spAutoFit/>
          </a:bodyPr>
          <a:lstStyle/>
          <a:p>
            <a:pPr marL="285750" indent="-285750">
              <a:buFont typeface="Arial" panose="020B0604020202020204" pitchFamily="34" charset="0"/>
              <a:buChar char="•"/>
            </a:pPr>
            <a:endParaRPr lang="en-US" dirty="0">
              <a:solidFill>
                <a:srgbClr val="333333"/>
              </a:solidFill>
              <a:highlight>
                <a:srgbClr val="FFFFFF"/>
              </a:highlight>
              <a:latin typeface="Source Sans Pro" panose="020B0503030403020204" pitchFamily="34" charset="0"/>
            </a:endParaRPr>
          </a:p>
          <a:p>
            <a:pPr marL="285750" indent="-285750">
              <a:buFont typeface="Arial" panose="020B0604020202020204" pitchFamily="34" charset="0"/>
              <a:buChar char="•"/>
            </a:pPr>
            <a:endParaRPr lang="en-US" dirty="0"/>
          </a:p>
        </p:txBody>
      </p:sp>
      <p:sp>
        <p:nvSpPr>
          <p:cNvPr id="5" name="Content Placeholder 4">
            <a:extLst>
              <a:ext uri="{FF2B5EF4-FFF2-40B4-BE49-F238E27FC236}">
                <a16:creationId xmlns:a16="http://schemas.microsoft.com/office/drawing/2014/main" id="{02640982-EF22-C36C-C32B-DBC773ECAD7E}"/>
              </a:ext>
            </a:extLst>
          </p:cNvPr>
          <p:cNvSpPr>
            <a:spLocks noGrp="1"/>
          </p:cNvSpPr>
          <p:nvPr>
            <p:ph idx="1"/>
          </p:nvPr>
        </p:nvSpPr>
        <p:spPr>
          <a:xfrm>
            <a:off x="295346" y="1343818"/>
            <a:ext cx="5986677" cy="5193169"/>
          </a:xfrm>
        </p:spPr>
        <p:txBody>
          <a:bodyPr>
            <a:normAutofit/>
          </a:bodyPr>
          <a:lstStyle/>
          <a:p>
            <a:pPr marL="514350" indent="-514350">
              <a:buAutoNum type="arabicPeriod"/>
            </a:pPr>
            <a:r>
              <a:rPr lang="en-US" b="1" i="0" dirty="0">
                <a:solidFill>
                  <a:srgbClr val="333333"/>
                </a:solidFill>
                <a:effectLst/>
                <a:highlight>
                  <a:srgbClr val="FFFFFF"/>
                </a:highlight>
                <a:latin typeface="Source Sans Pro" panose="020B0503030403020204" pitchFamily="34" charset="0"/>
              </a:rPr>
              <a:t>HOME</a:t>
            </a:r>
            <a:r>
              <a:rPr lang="en-US" b="0" i="0" dirty="0">
                <a:solidFill>
                  <a:srgbClr val="333333"/>
                </a:solidFill>
                <a:effectLst/>
                <a:highlight>
                  <a:srgbClr val="FFFFFF"/>
                </a:highlight>
                <a:latin typeface="Source Sans Pro" panose="020B0503030403020204" pitchFamily="34" charset="0"/>
              </a:rPr>
              <a:t> directory </a:t>
            </a:r>
            <a:r>
              <a:rPr lang="en-US" sz="2800" b="0" i="0" dirty="0">
                <a:solidFill>
                  <a:srgbClr val="333333"/>
                </a:solidFill>
                <a:effectLst/>
                <a:highlight>
                  <a:srgbClr val="FFFFFF"/>
                </a:highlight>
                <a:latin typeface="Source Sans Pro" panose="020B0503030403020204" pitchFamily="34" charset="0"/>
              </a:rPr>
              <a:t>(/home/$USERNAME/)</a:t>
            </a:r>
          </a:p>
          <a:p>
            <a:pPr marL="514350" indent="-514350">
              <a:buAutoNum type="arabicPeriod"/>
            </a:pPr>
            <a:endParaRPr lang="en-US" b="0" i="0" dirty="0">
              <a:solidFill>
                <a:srgbClr val="333333"/>
              </a:solidFill>
              <a:effectLst/>
              <a:highlight>
                <a:srgbClr val="FFFFFF"/>
              </a:highlight>
              <a:latin typeface="Source Sans Pro" panose="020B0503030403020204" pitchFamily="34" charset="0"/>
            </a:endParaRPr>
          </a:p>
          <a:p>
            <a:pPr marL="285750" indent="-285750">
              <a:buFont typeface="Arial" panose="020B0604020202020204" pitchFamily="34" charset="0"/>
              <a:buChar char="•"/>
            </a:pPr>
            <a:r>
              <a:rPr lang="en-US" b="0" i="0" dirty="0">
                <a:solidFill>
                  <a:srgbClr val="333333"/>
                </a:solidFill>
                <a:effectLst/>
                <a:highlight>
                  <a:srgbClr val="FFFFFF"/>
                </a:highlight>
                <a:latin typeface="Source Sans Pro" panose="020B0503030403020204" pitchFamily="34" charset="0"/>
              </a:rPr>
              <a:t>Automatic location after login</a:t>
            </a:r>
          </a:p>
          <a:p>
            <a:pPr marL="285750" indent="-285750">
              <a:buFont typeface="Arial" panose="020B0604020202020204" pitchFamily="34" charset="0"/>
              <a:buChar char="•"/>
            </a:pPr>
            <a:r>
              <a:rPr lang="en-US" dirty="0">
                <a:solidFill>
                  <a:srgbClr val="333333"/>
                </a:solidFill>
                <a:highlight>
                  <a:srgbClr val="FFFFFF"/>
                </a:highlight>
                <a:latin typeface="Source Sans Pro" panose="020B0503030403020204" pitchFamily="34" charset="0"/>
              </a:rPr>
              <a:t>S</a:t>
            </a:r>
            <a:r>
              <a:rPr lang="en-US" b="0" i="0" dirty="0">
                <a:solidFill>
                  <a:srgbClr val="333333"/>
                </a:solidFill>
                <a:effectLst/>
                <a:highlight>
                  <a:srgbClr val="FFFFFF"/>
                </a:highlight>
                <a:latin typeface="Source Sans Pro" panose="020B0503030403020204" pitchFamily="34" charset="0"/>
              </a:rPr>
              <a:t>hould be used only for source code, environment and module storage. </a:t>
            </a:r>
          </a:p>
          <a:p>
            <a:pPr marL="285750" indent="-285750"/>
            <a:r>
              <a:rPr lang="en-US" b="0" i="0" dirty="0">
                <a:solidFill>
                  <a:srgbClr val="333333"/>
                </a:solidFill>
                <a:effectLst/>
                <a:highlight>
                  <a:srgbClr val="FFFFFF"/>
                </a:highlight>
                <a:latin typeface="Source Sans Pro" panose="020B0503030403020204" pitchFamily="34" charset="0"/>
              </a:rPr>
              <a:t>Limited in space (100GB) </a:t>
            </a:r>
          </a:p>
          <a:p>
            <a:pPr marL="285750" indent="-285750">
              <a:buFont typeface="Arial" panose="020B0604020202020204" pitchFamily="34" charset="0"/>
              <a:buChar char="•"/>
            </a:pPr>
            <a:r>
              <a:rPr lang="en-US" b="0" i="0" dirty="0">
                <a:solidFill>
                  <a:srgbClr val="333333"/>
                </a:solidFill>
                <a:effectLst/>
                <a:highlight>
                  <a:srgbClr val="FFFFFF"/>
                </a:highlight>
                <a:latin typeface="Source Sans Pro" panose="020B0503030403020204" pitchFamily="34" charset="0"/>
              </a:rPr>
              <a:t>Jobs should  </a:t>
            </a:r>
            <a:r>
              <a:rPr lang="en-US" b="1" i="0" dirty="0">
                <a:solidFill>
                  <a:srgbClr val="333333"/>
                </a:solidFill>
                <a:effectLst/>
                <a:highlight>
                  <a:srgbClr val="FFFFFF"/>
                </a:highlight>
                <a:latin typeface="Source Sans Pro" panose="020B0503030403020204" pitchFamily="34" charset="0"/>
              </a:rPr>
              <a:t>NEVER</a:t>
            </a:r>
            <a:r>
              <a:rPr lang="en-US" b="0" i="0" dirty="0">
                <a:solidFill>
                  <a:srgbClr val="333333"/>
                </a:solidFill>
                <a:effectLst/>
                <a:highlight>
                  <a:srgbClr val="FFFFFF"/>
                </a:highlight>
                <a:latin typeface="Source Sans Pro" panose="020B0503030403020204" pitchFamily="34" charset="0"/>
              </a:rPr>
              <a:t> be run from the home file system</a:t>
            </a:r>
            <a:r>
              <a:rPr lang="en-US" dirty="0">
                <a:solidFill>
                  <a:srgbClr val="333333"/>
                </a:solidFill>
                <a:highlight>
                  <a:srgbClr val="FFFFFF"/>
                </a:highlight>
                <a:latin typeface="Source Sans Pro" panose="020B0503030403020204" pitchFamily="34" charset="0"/>
              </a:rPr>
              <a:t>; </a:t>
            </a:r>
            <a:r>
              <a:rPr lang="en-US" b="0" i="0" dirty="0">
                <a:solidFill>
                  <a:srgbClr val="333333"/>
                </a:solidFill>
                <a:effectLst/>
                <a:highlight>
                  <a:srgbClr val="FFFFFF"/>
                </a:highlight>
                <a:latin typeface="Source Sans Pro" panose="020B0503030403020204" pitchFamily="34" charset="0"/>
              </a:rPr>
              <a:t>it is not set up for high performance computing. </a:t>
            </a:r>
            <a:endParaRPr lang="en-US" dirty="0">
              <a:solidFill>
                <a:srgbClr val="333333"/>
              </a:solidFill>
              <a:highlight>
                <a:srgbClr val="FFFFFF"/>
              </a:highlight>
              <a:latin typeface="Source Sans Pro" panose="020B0503030403020204" pitchFamily="34" charset="0"/>
            </a:endParaRPr>
          </a:p>
          <a:p>
            <a:pPr marL="0" indent="0">
              <a:buNone/>
            </a:pPr>
            <a:endParaRPr lang="en-US" dirty="0"/>
          </a:p>
        </p:txBody>
      </p:sp>
      <p:sp>
        <p:nvSpPr>
          <p:cNvPr id="6" name="Title 1">
            <a:extLst>
              <a:ext uri="{FF2B5EF4-FFF2-40B4-BE49-F238E27FC236}">
                <a16:creationId xmlns:a16="http://schemas.microsoft.com/office/drawing/2014/main" id="{F13EAF1E-00DC-40A9-5C7E-B5F886D03D45}"/>
              </a:ext>
            </a:extLst>
          </p:cNvPr>
          <p:cNvSpPr txBox="1">
            <a:spLocks/>
          </p:cNvSpPr>
          <p:nvPr/>
        </p:nvSpPr>
        <p:spPr>
          <a:xfrm>
            <a:off x="1" y="18255"/>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2. EXPANSE Directories -- HOME</a:t>
            </a:r>
          </a:p>
        </p:txBody>
      </p:sp>
      <p:sp>
        <p:nvSpPr>
          <p:cNvPr id="10" name="Content Placeholder 2">
            <a:extLst>
              <a:ext uri="{FF2B5EF4-FFF2-40B4-BE49-F238E27FC236}">
                <a16:creationId xmlns:a16="http://schemas.microsoft.com/office/drawing/2014/main" id="{A223BAFD-1FC2-19B6-F94D-6FC1AD16297D}"/>
              </a:ext>
            </a:extLst>
          </p:cNvPr>
          <p:cNvSpPr txBox="1">
            <a:spLocks/>
          </p:cNvSpPr>
          <p:nvPr/>
        </p:nvSpPr>
        <p:spPr>
          <a:xfrm>
            <a:off x="6785114" y="1417004"/>
            <a:ext cx="489005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a:t>Print Working Directory</a:t>
            </a:r>
          </a:p>
          <a:p>
            <a:pPr marL="0" indent="0">
              <a:buFont typeface="Arial" panose="020B0604020202020204" pitchFamily="34" charset="0"/>
              <a:buNone/>
            </a:pPr>
            <a:r>
              <a:rPr lang="en-US" b="1" dirty="0"/>
              <a:t>$ </a:t>
            </a:r>
            <a:r>
              <a:rPr lang="en-US" b="1" dirty="0" err="1"/>
              <a:t>pwd</a:t>
            </a:r>
            <a:endParaRPr lang="en-US" b="1" dirty="0"/>
          </a:p>
          <a:p>
            <a:pPr marL="0" indent="0">
              <a:buFont typeface="Arial" panose="020B0604020202020204" pitchFamily="34" charset="0"/>
              <a:buNone/>
            </a:pPr>
            <a:endParaRPr lang="en-US" b="1" dirty="0"/>
          </a:p>
          <a:p>
            <a:pPr marL="0" indent="0">
              <a:buFont typeface="Arial" panose="020B0604020202020204" pitchFamily="34" charset="0"/>
              <a:buNone/>
            </a:pPr>
            <a:endParaRPr lang="en-US" b="1" dirty="0"/>
          </a:p>
          <a:p>
            <a:pPr marL="0" indent="0">
              <a:buFont typeface="Arial" panose="020B0604020202020204" pitchFamily="34" charset="0"/>
              <a:buNone/>
            </a:pPr>
            <a:r>
              <a:rPr lang="en-US" b="1" dirty="0"/>
              <a:t>$ ls</a:t>
            </a:r>
          </a:p>
          <a:p>
            <a:pPr marL="0" indent="0">
              <a:buFont typeface="Arial" panose="020B0604020202020204" pitchFamily="34" charset="0"/>
              <a:buNone/>
            </a:pPr>
            <a:endParaRPr lang="en-US" b="1" dirty="0"/>
          </a:p>
          <a:p>
            <a:pPr marL="0" indent="0">
              <a:buFont typeface="Arial" panose="020B0604020202020204" pitchFamily="34" charset="0"/>
              <a:buNone/>
            </a:pPr>
            <a:endParaRPr lang="en-US" i="1" u="sng" dirty="0"/>
          </a:p>
          <a:p>
            <a:pPr marL="0" indent="0">
              <a:buFont typeface="Arial" panose="020B0604020202020204" pitchFamily="34" charset="0"/>
              <a:buNone/>
            </a:pPr>
            <a:endParaRPr lang="en-US" b="1" dirty="0"/>
          </a:p>
        </p:txBody>
      </p:sp>
      <p:pic>
        <p:nvPicPr>
          <p:cNvPr id="11" name="Picture 10" descr="A blue background with white text&#10;&#10;Description automatically generated">
            <a:extLst>
              <a:ext uri="{FF2B5EF4-FFF2-40B4-BE49-F238E27FC236}">
                <a16:creationId xmlns:a16="http://schemas.microsoft.com/office/drawing/2014/main" id="{A139007E-A6E4-1BAA-9A1D-074639FC66BA}"/>
              </a:ext>
            </a:extLst>
          </p:cNvPr>
          <p:cNvPicPr>
            <a:picLocks noChangeAspect="1"/>
          </p:cNvPicPr>
          <p:nvPr/>
        </p:nvPicPr>
        <p:blipFill>
          <a:blip r:embed="rId2"/>
          <a:stretch>
            <a:fillRect/>
          </a:stretch>
        </p:blipFill>
        <p:spPr>
          <a:xfrm>
            <a:off x="7110895" y="2497691"/>
            <a:ext cx="4061181" cy="688635"/>
          </a:xfrm>
          <a:prstGeom prst="rect">
            <a:avLst/>
          </a:prstGeom>
        </p:spPr>
      </p:pic>
      <p:pic>
        <p:nvPicPr>
          <p:cNvPr id="12" name="Picture 11">
            <a:extLst>
              <a:ext uri="{FF2B5EF4-FFF2-40B4-BE49-F238E27FC236}">
                <a16:creationId xmlns:a16="http://schemas.microsoft.com/office/drawing/2014/main" id="{D1B82B48-65FF-FE79-E9F6-EF69FC1D8A70}"/>
              </a:ext>
            </a:extLst>
          </p:cNvPr>
          <p:cNvPicPr>
            <a:picLocks noChangeAspect="1"/>
          </p:cNvPicPr>
          <p:nvPr/>
        </p:nvPicPr>
        <p:blipFill rotWithShape="1">
          <a:blip r:embed="rId3"/>
          <a:srcRect r="56635"/>
          <a:stretch/>
        </p:blipFill>
        <p:spPr>
          <a:xfrm>
            <a:off x="7110895" y="4015991"/>
            <a:ext cx="4785758" cy="1088275"/>
          </a:xfrm>
          <a:prstGeom prst="rect">
            <a:avLst/>
          </a:prstGeom>
        </p:spPr>
      </p:pic>
    </p:spTree>
    <p:extLst>
      <p:ext uri="{BB962C8B-B14F-4D97-AF65-F5344CB8AC3E}">
        <p14:creationId xmlns:p14="http://schemas.microsoft.com/office/powerpoint/2010/main" val="60040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D6A1-1071-0EB2-1B69-508D20DA1AB7}"/>
              </a:ext>
            </a:extLst>
          </p:cNvPr>
          <p:cNvSpPr>
            <a:spLocks noGrp="1"/>
          </p:cNvSpPr>
          <p:nvPr>
            <p:ph type="title"/>
          </p:nvPr>
        </p:nvSpPr>
        <p:spPr>
          <a:xfrm>
            <a:off x="1" y="18255"/>
            <a:ext cx="12192000" cy="1325563"/>
          </a:xfrm>
        </p:spPr>
        <p:txBody>
          <a:bodyPr>
            <a:normAutofit/>
          </a:bodyPr>
          <a:lstStyle/>
          <a:p>
            <a:pPr algn="ctr"/>
            <a:r>
              <a:rPr lang="en-US" dirty="0"/>
              <a:t>2. EXPANSE Directories - PROJECT</a:t>
            </a:r>
          </a:p>
        </p:txBody>
      </p:sp>
      <p:sp>
        <p:nvSpPr>
          <p:cNvPr id="5" name="Content Placeholder 4">
            <a:extLst>
              <a:ext uri="{FF2B5EF4-FFF2-40B4-BE49-F238E27FC236}">
                <a16:creationId xmlns:a16="http://schemas.microsoft.com/office/drawing/2014/main" id="{02640982-EF22-C36C-C32B-DBC773ECAD7E}"/>
              </a:ext>
            </a:extLst>
          </p:cNvPr>
          <p:cNvSpPr>
            <a:spLocks noGrp="1"/>
          </p:cNvSpPr>
          <p:nvPr>
            <p:ph idx="1"/>
          </p:nvPr>
        </p:nvSpPr>
        <p:spPr>
          <a:xfrm>
            <a:off x="838200" y="1417004"/>
            <a:ext cx="10515600" cy="5046531"/>
          </a:xfrm>
        </p:spPr>
        <p:txBody>
          <a:bodyPr>
            <a:normAutofit fontScale="85000" lnSpcReduction="20000"/>
          </a:bodyPr>
          <a:lstStyle/>
          <a:p>
            <a:pPr marL="0" indent="0">
              <a:buNone/>
            </a:pPr>
            <a:r>
              <a:rPr lang="en-US" b="1" i="0" dirty="0">
                <a:solidFill>
                  <a:srgbClr val="333333"/>
                </a:solidFill>
                <a:effectLst/>
                <a:highlight>
                  <a:srgbClr val="FFFFFF"/>
                </a:highlight>
              </a:rPr>
              <a:t>2. PROJECTS</a:t>
            </a:r>
            <a:r>
              <a:rPr lang="en-US" b="0" i="0" dirty="0">
                <a:solidFill>
                  <a:srgbClr val="333333"/>
                </a:solidFill>
                <a:effectLst/>
                <a:highlight>
                  <a:srgbClr val="FFFFFF"/>
                </a:highlight>
              </a:rPr>
              <a:t> directory (/expanse/</a:t>
            </a:r>
            <a:r>
              <a:rPr lang="en-US" b="0" i="0" dirty="0" err="1">
                <a:solidFill>
                  <a:srgbClr val="333333"/>
                </a:solidFill>
                <a:effectLst/>
                <a:highlight>
                  <a:srgbClr val="FFFFFF"/>
                </a:highlight>
              </a:rPr>
              <a:t>lustre</a:t>
            </a:r>
            <a:r>
              <a:rPr lang="en-US" b="0" i="0" dirty="0">
                <a:solidFill>
                  <a:srgbClr val="333333"/>
                </a:solidFill>
                <a:effectLst/>
                <a:highlight>
                  <a:srgbClr val="FFFFFF"/>
                </a:highlight>
              </a:rPr>
              <a:t>/project)</a:t>
            </a:r>
          </a:p>
          <a:p>
            <a:r>
              <a:rPr lang="en-US" i="0" dirty="0">
                <a:solidFill>
                  <a:srgbClr val="333333"/>
                </a:solidFill>
                <a:effectLst/>
                <a:highlight>
                  <a:srgbClr val="FFFFFF"/>
                </a:highlight>
              </a:rPr>
              <a:t>Project space will be purged </a:t>
            </a:r>
            <a:r>
              <a:rPr lang="en-US" b="1" i="0" dirty="0">
                <a:solidFill>
                  <a:srgbClr val="333333"/>
                </a:solidFill>
                <a:effectLst/>
                <a:highlight>
                  <a:srgbClr val="FFFFFF"/>
                </a:highlight>
              </a:rPr>
              <a:t>90 days after allocation expires</a:t>
            </a:r>
            <a:r>
              <a:rPr lang="en-US" i="0" dirty="0">
                <a:solidFill>
                  <a:srgbClr val="333333"/>
                </a:solidFill>
                <a:effectLst/>
                <a:highlight>
                  <a:srgbClr val="FFFFFF"/>
                </a:highlight>
              </a:rPr>
              <a:t>.</a:t>
            </a:r>
          </a:p>
          <a:p>
            <a:r>
              <a:rPr lang="en-US" i="0" dirty="0">
                <a:solidFill>
                  <a:srgbClr val="333333"/>
                </a:solidFill>
                <a:effectLst/>
                <a:highlight>
                  <a:srgbClr val="FFFFFF"/>
                </a:highlight>
              </a:rPr>
              <a:t>Store &amp; access longer-term project data files, code, GitHub Repositories, model &amp; code outputs, etc. </a:t>
            </a:r>
          </a:p>
          <a:p>
            <a:endParaRPr lang="en-US" dirty="0">
              <a:solidFill>
                <a:srgbClr val="333333"/>
              </a:solidFill>
              <a:highlight>
                <a:srgbClr val="FFFFFF"/>
              </a:highlight>
            </a:endParaRPr>
          </a:p>
          <a:p>
            <a:pPr marL="0" indent="0">
              <a:buNone/>
            </a:pPr>
            <a:r>
              <a:rPr lang="en-US" i="1" u="sng" dirty="0"/>
              <a:t>Navigate to ‘Projects’ directory:</a:t>
            </a:r>
          </a:p>
          <a:p>
            <a:pPr marL="0" indent="0">
              <a:buNone/>
            </a:pPr>
            <a:r>
              <a:rPr lang="en-US" b="1" dirty="0">
                <a:highlight>
                  <a:srgbClr val="FFFF00"/>
                </a:highlight>
              </a:rPr>
              <a:t>$ cd /expanse/</a:t>
            </a:r>
            <a:r>
              <a:rPr lang="en-US" b="1" dirty="0" err="1">
                <a:highlight>
                  <a:srgbClr val="FFFF00"/>
                </a:highlight>
              </a:rPr>
              <a:t>lustre</a:t>
            </a:r>
            <a:r>
              <a:rPr lang="en-US" b="1" dirty="0">
                <a:highlight>
                  <a:srgbClr val="FFFF00"/>
                </a:highlight>
              </a:rPr>
              <a:t>/projects/unc107/$USERNAME</a:t>
            </a:r>
          </a:p>
          <a:p>
            <a:pPr marL="0" indent="0">
              <a:buNone/>
            </a:pPr>
            <a:endParaRPr lang="en-US" b="1" dirty="0">
              <a:highlight>
                <a:srgbClr val="FFFF00"/>
              </a:highlight>
            </a:endParaRPr>
          </a:p>
          <a:p>
            <a:pPr marL="0" indent="0">
              <a:buNone/>
            </a:pPr>
            <a:r>
              <a:rPr lang="en-US" i="1" u="sng" dirty="0"/>
              <a:t>Practice checking current directory</a:t>
            </a:r>
          </a:p>
          <a:p>
            <a:pPr marL="0" indent="0">
              <a:buNone/>
            </a:pPr>
            <a:r>
              <a:rPr lang="en-US" b="1" dirty="0"/>
              <a:t>$ </a:t>
            </a:r>
            <a:r>
              <a:rPr lang="en-US" b="1" dirty="0" err="1"/>
              <a:t>pwd</a:t>
            </a:r>
            <a:endParaRPr lang="en-US" b="1" dirty="0"/>
          </a:p>
          <a:p>
            <a:pPr marL="0" indent="0">
              <a:buNone/>
            </a:pPr>
            <a:r>
              <a:rPr lang="en-US" i="1" u="sng" dirty="0"/>
              <a:t>Check contents of directory</a:t>
            </a:r>
          </a:p>
          <a:p>
            <a:pPr marL="0" indent="0">
              <a:buNone/>
            </a:pPr>
            <a:r>
              <a:rPr lang="en-US" b="1" dirty="0"/>
              <a:t>$ ls </a:t>
            </a:r>
          </a:p>
          <a:p>
            <a:pPr marL="0" indent="0">
              <a:buNone/>
            </a:pPr>
            <a:r>
              <a:rPr lang="en-US" b="1" dirty="0"/>
              <a:t>$ ls -la</a:t>
            </a:r>
          </a:p>
          <a:p>
            <a:pPr marL="0" indent="0">
              <a:buNone/>
            </a:pPr>
            <a:endParaRPr lang="en-US" b="1" dirty="0"/>
          </a:p>
          <a:p>
            <a:pPr marL="0" indent="0">
              <a:buNone/>
            </a:pPr>
            <a:endParaRPr lang="en-US" b="1" dirty="0"/>
          </a:p>
          <a:p>
            <a:pPr marL="0" indent="0">
              <a:buNone/>
            </a:pPr>
            <a:endParaRPr lang="en-US" b="1" dirty="0"/>
          </a:p>
          <a:p>
            <a:endParaRPr lang="en-US" i="0" dirty="0">
              <a:solidFill>
                <a:srgbClr val="333333"/>
              </a:solidFill>
              <a:effectLst/>
              <a:highlight>
                <a:srgbClr val="FFFFFF"/>
              </a:highlight>
            </a:endParaRPr>
          </a:p>
          <a:p>
            <a:endParaRPr lang="en-US" i="0" dirty="0">
              <a:solidFill>
                <a:srgbClr val="333333"/>
              </a:solidFill>
              <a:effectLst/>
              <a:highlight>
                <a:srgbClr val="FFFFFF"/>
              </a:highlight>
            </a:endParaRPr>
          </a:p>
          <a:p>
            <a:pPr marL="0" indent="0">
              <a:buNone/>
            </a:pPr>
            <a:endParaRPr lang="en-US" sz="3200" b="1" i="0" dirty="0">
              <a:solidFill>
                <a:srgbClr val="333333"/>
              </a:solidFill>
              <a:effectLst/>
              <a:highlight>
                <a:srgbClr val="FFFFFF"/>
              </a:highlight>
              <a:latin typeface="Source Sans Pro" panose="020B0503030403020204" pitchFamily="34" charset="0"/>
            </a:endParaRPr>
          </a:p>
        </p:txBody>
      </p:sp>
    </p:spTree>
    <p:extLst>
      <p:ext uri="{BB962C8B-B14F-4D97-AF65-F5344CB8AC3E}">
        <p14:creationId xmlns:p14="http://schemas.microsoft.com/office/powerpoint/2010/main" val="544304557"/>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D6A1-1071-0EB2-1B69-508D20DA1AB7}"/>
              </a:ext>
            </a:extLst>
          </p:cNvPr>
          <p:cNvSpPr>
            <a:spLocks noGrp="1"/>
          </p:cNvSpPr>
          <p:nvPr>
            <p:ph type="title"/>
          </p:nvPr>
        </p:nvSpPr>
        <p:spPr>
          <a:xfrm>
            <a:off x="1" y="18255"/>
            <a:ext cx="12192000" cy="1325563"/>
          </a:xfrm>
        </p:spPr>
        <p:txBody>
          <a:bodyPr>
            <a:normAutofit/>
          </a:bodyPr>
          <a:lstStyle/>
          <a:p>
            <a:pPr algn="ctr"/>
            <a:r>
              <a:rPr lang="en-US" dirty="0"/>
              <a:t>2. EXPANSE Directories - SCRATCH</a:t>
            </a:r>
          </a:p>
        </p:txBody>
      </p:sp>
      <p:sp>
        <p:nvSpPr>
          <p:cNvPr id="5" name="Content Placeholder 4">
            <a:extLst>
              <a:ext uri="{FF2B5EF4-FFF2-40B4-BE49-F238E27FC236}">
                <a16:creationId xmlns:a16="http://schemas.microsoft.com/office/drawing/2014/main" id="{02640982-EF22-C36C-C32B-DBC773ECAD7E}"/>
              </a:ext>
            </a:extLst>
          </p:cNvPr>
          <p:cNvSpPr>
            <a:spLocks noGrp="1"/>
          </p:cNvSpPr>
          <p:nvPr>
            <p:ph idx="1"/>
          </p:nvPr>
        </p:nvSpPr>
        <p:spPr>
          <a:xfrm>
            <a:off x="838200" y="1166190"/>
            <a:ext cx="6048983" cy="5297345"/>
          </a:xfrm>
        </p:spPr>
        <p:txBody>
          <a:bodyPr>
            <a:normAutofit fontScale="92500" lnSpcReduction="10000"/>
          </a:bodyPr>
          <a:lstStyle/>
          <a:p>
            <a:pPr marL="0" indent="0">
              <a:buNone/>
            </a:pPr>
            <a:r>
              <a:rPr lang="en-US" b="1" dirty="0">
                <a:solidFill>
                  <a:srgbClr val="333333"/>
                </a:solidFill>
                <a:highlight>
                  <a:srgbClr val="FFFFFF"/>
                </a:highlight>
              </a:rPr>
              <a:t>3. SCRATCH</a:t>
            </a:r>
            <a:r>
              <a:rPr lang="en-US" dirty="0">
                <a:solidFill>
                  <a:srgbClr val="333333"/>
                </a:solidFill>
                <a:highlight>
                  <a:srgbClr val="FFFFFF"/>
                </a:highlight>
              </a:rPr>
              <a:t> directory (</a:t>
            </a:r>
            <a:r>
              <a:rPr lang="en-US" b="0" i="0" dirty="0">
                <a:solidFill>
                  <a:srgbClr val="333333"/>
                </a:solidFill>
                <a:effectLst/>
                <a:highlight>
                  <a:srgbClr val="FFFFFF"/>
                </a:highlight>
              </a:rPr>
              <a:t>/expanse/</a:t>
            </a:r>
            <a:r>
              <a:rPr lang="en-US" b="0" i="0" dirty="0" err="1">
                <a:solidFill>
                  <a:srgbClr val="333333"/>
                </a:solidFill>
                <a:effectLst/>
                <a:highlight>
                  <a:srgbClr val="FFFFFF"/>
                </a:highlight>
              </a:rPr>
              <a:t>lustre</a:t>
            </a:r>
            <a:r>
              <a:rPr lang="en-US" b="0" i="0" dirty="0">
                <a:solidFill>
                  <a:srgbClr val="333333"/>
                </a:solidFill>
                <a:effectLst/>
                <a:highlight>
                  <a:srgbClr val="FFFFFF"/>
                </a:highlight>
              </a:rPr>
              <a:t>/scratch/$USERNAME/</a:t>
            </a:r>
            <a:r>
              <a:rPr lang="en-US" b="0" i="0" dirty="0" err="1">
                <a:solidFill>
                  <a:srgbClr val="333333"/>
                </a:solidFill>
                <a:effectLst/>
                <a:highlight>
                  <a:srgbClr val="FFFFFF"/>
                </a:highlight>
              </a:rPr>
              <a:t>temp_project</a:t>
            </a:r>
            <a:r>
              <a:rPr lang="en-US" b="0" i="0" dirty="0">
                <a:solidFill>
                  <a:srgbClr val="333333"/>
                </a:solidFill>
                <a:effectLst/>
                <a:highlight>
                  <a:srgbClr val="FFFFFF"/>
                </a:highlight>
              </a:rPr>
              <a:t>)</a:t>
            </a:r>
          </a:p>
          <a:p>
            <a:pPr marL="0" indent="0">
              <a:buNone/>
            </a:pPr>
            <a:endParaRPr lang="en-US" b="0" i="0" dirty="0">
              <a:solidFill>
                <a:srgbClr val="333333"/>
              </a:solidFill>
              <a:effectLst/>
              <a:highlight>
                <a:srgbClr val="FFFFFF"/>
              </a:highlight>
            </a:endParaRPr>
          </a:p>
          <a:p>
            <a:r>
              <a:rPr lang="en-US" i="0" dirty="0">
                <a:solidFill>
                  <a:srgbClr val="333333"/>
                </a:solidFill>
                <a:effectLst/>
                <a:highlight>
                  <a:srgbClr val="FFFFFF"/>
                </a:highlight>
              </a:rPr>
              <a:t>Scratch files will be purged </a:t>
            </a:r>
            <a:r>
              <a:rPr lang="en-US" b="1" i="0" dirty="0">
                <a:solidFill>
                  <a:srgbClr val="333333"/>
                </a:solidFill>
                <a:effectLst/>
                <a:highlight>
                  <a:srgbClr val="FFFFFF"/>
                </a:highlight>
              </a:rPr>
              <a:t>90 days from creation date</a:t>
            </a:r>
            <a:r>
              <a:rPr lang="en-US" i="0" dirty="0">
                <a:solidFill>
                  <a:srgbClr val="333333"/>
                </a:solidFill>
                <a:effectLst/>
                <a:highlight>
                  <a:srgbClr val="FFFFFF"/>
                </a:highlight>
              </a:rPr>
              <a:t>.</a:t>
            </a:r>
          </a:p>
          <a:p>
            <a:endParaRPr lang="en-US" i="0" dirty="0">
              <a:solidFill>
                <a:srgbClr val="333333"/>
              </a:solidFill>
              <a:effectLst/>
              <a:highlight>
                <a:srgbClr val="FFFFFF"/>
              </a:highlight>
            </a:endParaRPr>
          </a:p>
          <a:p>
            <a:pPr lvl="1"/>
            <a:r>
              <a:rPr lang="en-US" sz="2800" i="0" dirty="0">
                <a:solidFill>
                  <a:srgbClr val="333333"/>
                </a:solidFill>
                <a:effectLst/>
                <a:highlight>
                  <a:srgbClr val="FFFFFF"/>
                </a:highlight>
              </a:rPr>
              <a:t>Create a shell script to “touch” files and prevent purge</a:t>
            </a:r>
          </a:p>
          <a:p>
            <a:pPr lvl="1"/>
            <a:endParaRPr lang="en-US" sz="2800" i="0" dirty="0">
              <a:solidFill>
                <a:srgbClr val="333333"/>
              </a:solidFill>
              <a:effectLst/>
              <a:highlight>
                <a:srgbClr val="FFFFFF"/>
              </a:highlight>
            </a:endParaRPr>
          </a:p>
          <a:p>
            <a:pPr lvl="1"/>
            <a:r>
              <a:rPr lang="en-US" sz="2800" dirty="0">
                <a:solidFill>
                  <a:srgbClr val="333333"/>
                </a:solidFill>
                <a:highlight>
                  <a:srgbClr val="FFFFFF"/>
                </a:highlight>
              </a:rPr>
              <a:t>Move outputs to ‘Projects’ directory</a:t>
            </a:r>
            <a:endParaRPr lang="en-US" sz="2800" i="0" dirty="0">
              <a:solidFill>
                <a:srgbClr val="333333"/>
              </a:solidFill>
              <a:effectLst/>
              <a:highlight>
                <a:srgbClr val="FFFFFF"/>
              </a:highlight>
            </a:endParaRPr>
          </a:p>
          <a:p>
            <a:pPr lvl="1"/>
            <a:endParaRPr lang="en-US" sz="2800" i="0" dirty="0">
              <a:solidFill>
                <a:srgbClr val="333333"/>
              </a:solidFill>
              <a:effectLst/>
              <a:highlight>
                <a:srgbClr val="FFFFFF"/>
              </a:highlight>
            </a:endParaRPr>
          </a:p>
          <a:p>
            <a:r>
              <a:rPr lang="en-US" dirty="0">
                <a:solidFill>
                  <a:srgbClr val="333333"/>
                </a:solidFill>
                <a:highlight>
                  <a:srgbClr val="FFFFFF"/>
                </a:highlight>
              </a:rPr>
              <a:t>F</a:t>
            </a:r>
            <a:r>
              <a:rPr lang="en-US" b="0" i="0" dirty="0">
                <a:solidFill>
                  <a:srgbClr val="333333"/>
                </a:solidFill>
                <a:effectLst/>
                <a:highlight>
                  <a:srgbClr val="FFFFFF"/>
                </a:highlight>
              </a:rPr>
              <a:t>ile storage limit --&gt; 2 million files per user.</a:t>
            </a:r>
          </a:p>
          <a:p>
            <a:endParaRPr lang="en-US" b="0" i="0" dirty="0">
              <a:solidFill>
                <a:srgbClr val="333333"/>
              </a:solidFill>
              <a:effectLst/>
              <a:highlight>
                <a:srgbClr val="FFFFFF"/>
              </a:highlight>
            </a:endParaRPr>
          </a:p>
          <a:p>
            <a:pPr marL="0" indent="0">
              <a:buNone/>
            </a:pPr>
            <a:endParaRPr lang="en-US" b="0" i="0" dirty="0">
              <a:solidFill>
                <a:srgbClr val="333333"/>
              </a:solidFill>
              <a:effectLst/>
              <a:highlight>
                <a:srgbClr val="FFFFFF"/>
              </a:highlight>
            </a:endParaRPr>
          </a:p>
          <a:p>
            <a:pPr marL="0" indent="0" algn="l">
              <a:buNone/>
            </a:pPr>
            <a:endParaRPr lang="en-US" dirty="0">
              <a:solidFill>
                <a:srgbClr val="333333"/>
              </a:solidFill>
              <a:highlight>
                <a:srgbClr val="FFFFFF"/>
              </a:highlight>
            </a:endParaRPr>
          </a:p>
        </p:txBody>
      </p:sp>
      <p:sp>
        <p:nvSpPr>
          <p:cNvPr id="4" name="TextBox 3">
            <a:extLst>
              <a:ext uri="{FF2B5EF4-FFF2-40B4-BE49-F238E27FC236}">
                <a16:creationId xmlns:a16="http://schemas.microsoft.com/office/drawing/2014/main" id="{EA4FA7D6-0A1F-B023-5020-277C0EDE2207}"/>
              </a:ext>
            </a:extLst>
          </p:cNvPr>
          <p:cNvSpPr txBox="1"/>
          <p:nvPr/>
        </p:nvSpPr>
        <p:spPr>
          <a:xfrm>
            <a:off x="7306283" y="902855"/>
            <a:ext cx="4466617" cy="5632311"/>
          </a:xfrm>
          <a:prstGeom prst="rect">
            <a:avLst/>
          </a:prstGeom>
          <a:noFill/>
        </p:spPr>
        <p:txBody>
          <a:bodyPr wrap="square">
            <a:spAutoFit/>
          </a:bodyPr>
          <a:lstStyle/>
          <a:p>
            <a:pPr marL="0" indent="0" algn="ctr">
              <a:buNone/>
            </a:pPr>
            <a:r>
              <a:rPr lang="en-US" sz="2400" i="1" u="sng" dirty="0"/>
              <a:t>Navigate to ‘Projects’ directory:</a:t>
            </a:r>
          </a:p>
          <a:p>
            <a:pPr marL="0" indent="0" algn="ctr">
              <a:buNone/>
            </a:pPr>
            <a:endParaRPr lang="en-US" sz="2400" i="1" u="sng" dirty="0"/>
          </a:p>
          <a:p>
            <a:pPr marL="0" indent="0" algn="ctr">
              <a:buNone/>
            </a:pPr>
            <a:r>
              <a:rPr lang="en-US" sz="2400" b="1" dirty="0"/>
              <a:t>$ cd /expanse/</a:t>
            </a:r>
            <a:r>
              <a:rPr lang="en-US" sz="2400" b="1" dirty="0" err="1"/>
              <a:t>lustre</a:t>
            </a:r>
            <a:r>
              <a:rPr lang="en-US" sz="2400" b="1" dirty="0"/>
              <a:t>/scratch/$USERNAME</a:t>
            </a:r>
          </a:p>
          <a:p>
            <a:pPr marL="0" indent="0" algn="ctr">
              <a:buNone/>
            </a:pPr>
            <a:endParaRPr lang="en-US" sz="2400" b="1" dirty="0"/>
          </a:p>
          <a:p>
            <a:pPr marL="0" indent="0" algn="ctr">
              <a:buNone/>
            </a:pPr>
            <a:r>
              <a:rPr lang="en-US" sz="2400" i="1" u="sng" dirty="0"/>
              <a:t>Practice checking current directory</a:t>
            </a:r>
          </a:p>
          <a:p>
            <a:pPr marL="0" indent="0" algn="ctr">
              <a:buNone/>
            </a:pPr>
            <a:endParaRPr lang="en-US" sz="2400" i="1" u="sng" dirty="0"/>
          </a:p>
          <a:p>
            <a:pPr marL="0" indent="0" algn="ctr">
              <a:buNone/>
            </a:pPr>
            <a:r>
              <a:rPr lang="en-US" sz="2400" b="1" dirty="0"/>
              <a:t>$ </a:t>
            </a:r>
            <a:r>
              <a:rPr lang="en-US" sz="2400" b="1" dirty="0" err="1"/>
              <a:t>pwd</a:t>
            </a:r>
            <a:endParaRPr lang="en-US" sz="2400" b="1" dirty="0"/>
          </a:p>
          <a:p>
            <a:pPr marL="0" indent="0" algn="ctr">
              <a:buNone/>
            </a:pPr>
            <a:endParaRPr lang="en-US" sz="2400" b="1" dirty="0"/>
          </a:p>
          <a:p>
            <a:pPr marL="0" indent="0" algn="ctr">
              <a:buNone/>
            </a:pPr>
            <a:r>
              <a:rPr lang="en-US" sz="2400" i="1" u="sng" dirty="0"/>
              <a:t>Check contents of directory</a:t>
            </a:r>
          </a:p>
          <a:p>
            <a:pPr marL="0" indent="0" algn="ctr">
              <a:buNone/>
            </a:pPr>
            <a:endParaRPr lang="en-US" sz="2400" i="1" u="sng" dirty="0"/>
          </a:p>
          <a:p>
            <a:pPr marL="0" indent="0" algn="ctr">
              <a:buNone/>
            </a:pPr>
            <a:r>
              <a:rPr lang="en-US" sz="2400" b="1" dirty="0"/>
              <a:t>$ ls </a:t>
            </a:r>
          </a:p>
          <a:p>
            <a:pPr marL="0" indent="0" algn="ctr">
              <a:buNone/>
            </a:pPr>
            <a:r>
              <a:rPr lang="en-US" sz="2400" b="1" dirty="0"/>
              <a:t>$ ls -la</a:t>
            </a:r>
          </a:p>
        </p:txBody>
      </p:sp>
    </p:spTree>
    <p:extLst>
      <p:ext uri="{BB962C8B-B14F-4D97-AF65-F5344CB8AC3E}">
        <p14:creationId xmlns:p14="http://schemas.microsoft.com/office/powerpoint/2010/main" val="1856562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D6A1-1071-0EB2-1B69-508D20DA1AB7}"/>
              </a:ext>
            </a:extLst>
          </p:cNvPr>
          <p:cNvSpPr>
            <a:spLocks noGrp="1"/>
          </p:cNvSpPr>
          <p:nvPr>
            <p:ph type="title"/>
          </p:nvPr>
        </p:nvSpPr>
        <p:spPr>
          <a:xfrm>
            <a:off x="1" y="18255"/>
            <a:ext cx="12192000" cy="1325563"/>
          </a:xfrm>
        </p:spPr>
        <p:txBody>
          <a:bodyPr>
            <a:normAutofit/>
          </a:bodyPr>
          <a:lstStyle/>
          <a:p>
            <a:pPr algn="ctr"/>
            <a:r>
              <a:rPr lang="en-US" dirty="0"/>
              <a:t>2. EXPANSE Directories - SCRATCH</a:t>
            </a:r>
          </a:p>
        </p:txBody>
      </p:sp>
      <p:sp>
        <p:nvSpPr>
          <p:cNvPr id="5" name="Content Placeholder 4">
            <a:extLst>
              <a:ext uri="{FF2B5EF4-FFF2-40B4-BE49-F238E27FC236}">
                <a16:creationId xmlns:a16="http://schemas.microsoft.com/office/drawing/2014/main" id="{02640982-EF22-C36C-C32B-DBC773ECAD7E}"/>
              </a:ext>
            </a:extLst>
          </p:cNvPr>
          <p:cNvSpPr>
            <a:spLocks noGrp="1"/>
          </p:cNvSpPr>
          <p:nvPr>
            <p:ph idx="1"/>
          </p:nvPr>
        </p:nvSpPr>
        <p:spPr>
          <a:xfrm>
            <a:off x="838200" y="1166190"/>
            <a:ext cx="10951723" cy="5297345"/>
          </a:xfrm>
        </p:spPr>
        <p:txBody>
          <a:bodyPr>
            <a:normAutofit/>
          </a:bodyPr>
          <a:lstStyle/>
          <a:p>
            <a:pPr marL="0" indent="0">
              <a:buNone/>
            </a:pPr>
            <a:r>
              <a:rPr lang="en-US" b="1" dirty="0">
                <a:solidFill>
                  <a:srgbClr val="333333"/>
                </a:solidFill>
                <a:highlight>
                  <a:srgbClr val="FFFFFF"/>
                </a:highlight>
              </a:rPr>
              <a:t>3. SCRATCH</a:t>
            </a:r>
            <a:r>
              <a:rPr lang="en-US" dirty="0">
                <a:solidFill>
                  <a:srgbClr val="333333"/>
                </a:solidFill>
                <a:highlight>
                  <a:srgbClr val="FFFFFF"/>
                </a:highlight>
              </a:rPr>
              <a:t> directory (</a:t>
            </a:r>
            <a:r>
              <a:rPr lang="en-US" b="0" i="0" dirty="0">
                <a:solidFill>
                  <a:srgbClr val="333333"/>
                </a:solidFill>
                <a:effectLst/>
                <a:highlight>
                  <a:srgbClr val="FFFFFF"/>
                </a:highlight>
              </a:rPr>
              <a:t>/expanse/</a:t>
            </a:r>
            <a:r>
              <a:rPr lang="en-US" b="0" i="0" dirty="0" err="1">
                <a:solidFill>
                  <a:srgbClr val="333333"/>
                </a:solidFill>
                <a:effectLst/>
                <a:highlight>
                  <a:srgbClr val="FFFFFF"/>
                </a:highlight>
              </a:rPr>
              <a:t>lustre</a:t>
            </a:r>
            <a:r>
              <a:rPr lang="en-US" b="0" i="0" dirty="0">
                <a:solidFill>
                  <a:srgbClr val="333333"/>
                </a:solidFill>
                <a:effectLst/>
                <a:highlight>
                  <a:srgbClr val="FFFFFF"/>
                </a:highlight>
              </a:rPr>
              <a:t>/scratch/$USERNAME/</a:t>
            </a:r>
            <a:r>
              <a:rPr lang="en-US" b="0" i="0" dirty="0" err="1">
                <a:solidFill>
                  <a:srgbClr val="333333"/>
                </a:solidFill>
                <a:effectLst/>
                <a:highlight>
                  <a:srgbClr val="FFFFFF"/>
                </a:highlight>
              </a:rPr>
              <a:t>temp_project</a:t>
            </a:r>
            <a:r>
              <a:rPr lang="en-US" b="0" i="0" dirty="0">
                <a:solidFill>
                  <a:srgbClr val="333333"/>
                </a:solidFill>
                <a:effectLst/>
                <a:highlight>
                  <a:srgbClr val="FFFFFF"/>
                </a:highlight>
              </a:rPr>
              <a:t>)</a:t>
            </a:r>
          </a:p>
          <a:p>
            <a:pPr marL="0" indent="0">
              <a:buNone/>
            </a:pPr>
            <a:endParaRPr lang="en-US" b="0" i="0" dirty="0">
              <a:solidFill>
                <a:srgbClr val="333333"/>
              </a:solidFill>
              <a:effectLst/>
              <a:highlight>
                <a:srgbClr val="FFFFFF"/>
              </a:highlight>
            </a:endParaRPr>
          </a:p>
          <a:p>
            <a:pPr marL="0" indent="0" algn="l">
              <a:buNone/>
            </a:pPr>
            <a:r>
              <a:rPr lang="en-US" b="1" i="1" dirty="0">
                <a:solidFill>
                  <a:srgbClr val="333333"/>
                </a:solidFill>
                <a:effectLst/>
                <a:highlight>
                  <a:srgbClr val="FFFFFF"/>
                </a:highlight>
              </a:rPr>
              <a:t>Use this directory to run jobs </a:t>
            </a:r>
            <a:r>
              <a:rPr lang="en-US" b="0" i="0" dirty="0">
                <a:solidFill>
                  <a:srgbClr val="333333"/>
                </a:solidFill>
                <a:effectLst/>
                <a:highlight>
                  <a:srgbClr val="FFFFFF"/>
                </a:highlight>
              </a:rPr>
              <a:t>- run times can be extended to one week.</a:t>
            </a:r>
          </a:p>
          <a:p>
            <a:pPr marL="0" indent="0" algn="l">
              <a:buNone/>
            </a:pPr>
            <a:endParaRPr lang="en-US" b="0" i="0" dirty="0">
              <a:solidFill>
                <a:srgbClr val="333333"/>
              </a:solidFill>
              <a:effectLst/>
              <a:highlight>
                <a:srgbClr val="FFFFFF"/>
              </a:highlight>
            </a:endParaRPr>
          </a:p>
          <a:p>
            <a:pPr marL="514350" indent="-514350">
              <a:buAutoNum type="arabicPeriod"/>
            </a:pPr>
            <a:r>
              <a:rPr lang="en-US" sz="2800" i="0" dirty="0">
                <a:solidFill>
                  <a:srgbClr val="333333"/>
                </a:solidFill>
                <a:effectLst/>
                <a:highlight>
                  <a:srgbClr val="FFFFFF"/>
                </a:highlight>
              </a:rPr>
              <a:t>Request</a:t>
            </a:r>
            <a:r>
              <a:rPr lang="en-US" sz="2800" b="1" i="0" dirty="0">
                <a:solidFill>
                  <a:srgbClr val="333333"/>
                </a:solidFill>
                <a:effectLst/>
                <a:highlight>
                  <a:srgbClr val="FFFFFF"/>
                </a:highlight>
              </a:rPr>
              <a:t>  interactive compute-node </a:t>
            </a:r>
            <a:r>
              <a:rPr lang="en-US" sz="2800" b="0" i="0" dirty="0">
                <a:solidFill>
                  <a:srgbClr val="333333"/>
                </a:solidFill>
                <a:effectLst/>
                <a:highlight>
                  <a:srgbClr val="FFFFFF"/>
                </a:highlight>
              </a:rPr>
              <a:t>to open and run an application (Python, Matlab, etc.) and test code live (30 mins)</a:t>
            </a:r>
          </a:p>
          <a:p>
            <a:pPr marL="514350" indent="-514350">
              <a:buAutoNum type="arabicPeriod"/>
            </a:pPr>
            <a:endParaRPr lang="en-US" dirty="0">
              <a:solidFill>
                <a:srgbClr val="333333"/>
              </a:solidFill>
              <a:highlight>
                <a:srgbClr val="FFFFFF"/>
              </a:highlight>
            </a:endParaRPr>
          </a:p>
          <a:p>
            <a:pPr marL="514350" indent="-514350">
              <a:buAutoNum type="arabicPeriod"/>
            </a:pPr>
            <a:r>
              <a:rPr lang="en-US" sz="2800" b="0" i="0" dirty="0">
                <a:solidFill>
                  <a:srgbClr val="333333"/>
                </a:solidFill>
                <a:effectLst/>
                <a:highlight>
                  <a:srgbClr val="FFFFFF"/>
                </a:highlight>
              </a:rPr>
              <a:t>Set up a </a:t>
            </a:r>
            <a:r>
              <a:rPr lang="en-US" sz="2800" b="1" i="0" dirty="0">
                <a:solidFill>
                  <a:srgbClr val="333333"/>
                </a:solidFill>
                <a:effectLst/>
                <a:highlight>
                  <a:srgbClr val="FFFFFF"/>
                </a:highlight>
              </a:rPr>
              <a:t>job-request shell script </a:t>
            </a:r>
            <a:r>
              <a:rPr lang="en-US" sz="2800" b="0" i="0" dirty="0">
                <a:solidFill>
                  <a:srgbClr val="333333"/>
                </a:solidFill>
                <a:effectLst/>
                <a:highlight>
                  <a:srgbClr val="FFFFFF"/>
                </a:highlight>
              </a:rPr>
              <a:t>(</a:t>
            </a:r>
            <a:r>
              <a:rPr lang="en-US" sz="2800" b="0" i="0" dirty="0" err="1">
                <a:solidFill>
                  <a:srgbClr val="333333"/>
                </a:solidFill>
                <a:effectLst/>
                <a:highlight>
                  <a:srgbClr val="FFFFFF"/>
                </a:highlight>
              </a:rPr>
              <a:t>ie</a:t>
            </a:r>
            <a:r>
              <a:rPr lang="en-US" sz="2800" b="0" i="0" dirty="0">
                <a:solidFill>
                  <a:srgbClr val="333333"/>
                </a:solidFill>
                <a:effectLst/>
                <a:highlight>
                  <a:srgbClr val="FFFFFF"/>
                </a:highlight>
              </a:rPr>
              <a:t> </a:t>
            </a:r>
            <a:r>
              <a:rPr lang="en-US" sz="2800" b="0" i="0" dirty="0" err="1">
                <a:solidFill>
                  <a:srgbClr val="333333"/>
                </a:solidFill>
                <a:effectLst/>
                <a:highlight>
                  <a:srgbClr val="FFFFFF"/>
                </a:highlight>
              </a:rPr>
              <a:t>run.sh</a:t>
            </a:r>
            <a:r>
              <a:rPr lang="en-US" sz="2800" b="0" i="0" dirty="0">
                <a:solidFill>
                  <a:srgbClr val="333333"/>
                </a:solidFill>
                <a:effectLst/>
                <a:highlight>
                  <a:srgbClr val="FFFFFF"/>
                </a:highlight>
              </a:rPr>
              <a:t>) to run code in sequence for a particular job through </a:t>
            </a:r>
            <a:r>
              <a:rPr lang="en-US" sz="2800" b="1" i="0" dirty="0">
                <a:solidFill>
                  <a:srgbClr val="333333"/>
                </a:solidFill>
                <a:effectLst/>
                <a:highlight>
                  <a:srgbClr val="FFFFFF"/>
                </a:highlight>
              </a:rPr>
              <a:t>SLURM </a:t>
            </a:r>
            <a:r>
              <a:rPr lang="en-US" b="1" dirty="0">
                <a:solidFill>
                  <a:srgbClr val="333333"/>
                </a:solidFill>
                <a:highlight>
                  <a:srgbClr val="FFFFFF"/>
                </a:highlight>
              </a:rPr>
              <a:t>Workload</a:t>
            </a:r>
            <a:r>
              <a:rPr lang="en-US" sz="2800" b="1" i="0" dirty="0">
                <a:solidFill>
                  <a:srgbClr val="333333"/>
                </a:solidFill>
                <a:effectLst/>
                <a:highlight>
                  <a:srgbClr val="FFFFFF"/>
                </a:highlight>
              </a:rPr>
              <a:t> </a:t>
            </a:r>
            <a:r>
              <a:rPr lang="en-US" b="1" dirty="0">
                <a:solidFill>
                  <a:srgbClr val="333333"/>
                </a:solidFill>
                <a:highlight>
                  <a:srgbClr val="FFFFFF"/>
                </a:highlight>
              </a:rPr>
              <a:t>M</a:t>
            </a:r>
            <a:r>
              <a:rPr lang="en-US" sz="2800" b="1" i="0" dirty="0">
                <a:solidFill>
                  <a:srgbClr val="333333"/>
                </a:solidFill>
                <a:effectLst/>
                <a:highlight>
                  <a:srgbClr val="FFFFFF"/>
                </a:highlight>
              </a:rPr>
              <a:t>anager</a:t>
            </a:r>
            <a:endParaRPr lang="en-US" sz="2800" b="0" i="0" dirty="0">
              <a:solidFill>
                <a:srgbClr val="333333"/>
              </a:solidFill>
              <a:effectLst/>
              <a:highlight>
                <a:srgbClr val="FFFFFF"/>
              </a:highlight>
            </a:endParaRPr>
          </a:p>
          <a:p>
            <a:pPr marL="0" indent="0">
              <a:buNone/>
            </a:pPr>
            <a:endParaRPr lang="en-US" b="0" i="0" dirty="0">
              <a:solidFill>
                <a:srgbClr val="333333"/>
              </a:solidFill>
              <a:effectLst/>
              <a:highlight>
                <a:srgbClr val="FFFFFF"/>
              </a:highlight>
            </a:endParaRPr>
          </a:p>
          <a:p>
            <a:pPr marL="0" indent="0" algn="l">
              <a:buNone/>
            </a:pPr>
            <a:endParaRPr lang="en-US" dirty="0">
              <a:solidFill>
                <a:srgbClr val="333333"/>
              </a:solidFill>
              <a:highlight>
                <a:srgbClr val="FFFFFF"/>
              </a:highlight>
            </a:endParaRPr>
          </a:p>
        </p:txBody>
      </p:sp>
    </p:spTree>
    <p:extLst>
      <p:ext uri="{BB962C8B-B14F-4D97-AF65-F5344CB8AC3E}">
        <p14:creationId xmlns:p14="http://schemas.microsoft.com/office/powerpoint/2010/main" val="3195264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2640982-EF22-C36C-C32B-DBC773ECAD7E}"/>
              </a:ext>
            </a:extLst>
          </p:cNvPr>
          <p:cNvSpPr>
            <a:spLocks noGrp="1"/>
          </p:cNvSpPr>
          <p:nvPr>
            <p:ph idx="1"/>
          </p:nvPr>
        </p:nvSpPr>
        <p:spPr>
          <a:xfrm>
            <a:off x="838200" y="2245201"/>
            <a:ext cx="5737698" cy="4218334"/>
          </a:xfrm>
        </p:spPr>
        <p:txBody>
          <a:bodyPr>
            <a:noAutofit/>
          </a:bodyPr>
          <a:lstStyle/>
          <a:p>
            <a:pPr marL="0" indent="0">
              <a:buNone/>
            </a:pPr>
            <a:r>
              <a:rPr lang="en-US" sz="2000" dirty="0">
                <a:solidFill>
                  <a:schemeClr val="accent2">
                    <a:lumMod val="75000"/>
                  </a:schemeClr>
                </a:solidFill>
                <a:effectLst/>
              </a:rPr>
              <a:t>$ </a:t>
            </a:r>
            <a:r>
              <a:rPr lang="en-US" sz="2000" dirty="0" err="1">
                <a:solidFill>
                  <a:schemeClr val="accent2">
                    <a:lumMod val="75000"/>
                  </a:schemeClr>
                </a:solidFill>
                <a:effectLst/>
              </a:rPr>
              <a:t>srun</a:t>
            </a:r>
            <a:r>
              <a:rPr lang="en-US" sz="2000" dirty="0">
                <a:solidFill>
                  <a:schemeClr val="accent2">
                    <a:lumMod val="75000"/>
                  </a:schemeClr>
                </a:solidFill>
                <a:effectLst/>
              </a:rPr>
              <a:t> --partition=debug --</a:t>
            </a:r>
            <a:r>
              <a:rPr lang="en-US" sz="2000" dirty="0" err="1">
                <a:solidFill>
                  <a:schemeClr val="accent2">
                    <a:lumMod val="75000"/>
                  </a:schemeClr>
                </a:solidFill>
                <a:effectLst/>
              </a:rPr>
              <a:t>pty</a:t>
            </a:r>
            <a:r>
              <a:rPr lang="en-US" sz="2000" dirty="0">
                <a:solidFill>
                  <a:schemeClr val="accent2">
                    <a:lumMod val="75000"/>
                  </a:schemeClr>
                </a:solidFill>
                <a:effectLst/>
              </a:rPr>
              <a:t> --account=</a:t>
            </a:r>
            <a:r>
              <a:rPr lang="en-US" sz="2000" dirty="0">
                <a:solidFill>
                  <a:schemeClr val="accent2">
                    <a:lumMod val="75000"/>
                  </a:schemeClr>
                </a:solidFill>
                <a:effectLst/>
                <a:highlight>
                  <a:srgbClr val="C0C0C0"/>
                </a:highlight>
              </a:rPr>
              <a:t>unc108</a:t>
            </a:r>
            <a:r>
              <a:rPr lang="en-US" sz="2000" dirty="0">
                <a:solidFill>
                  <a:schemeClr val="accent2">
                    <a:lumMod val="75000"/>
                  </a:schemeClr>
                </a:solidFill>
                <a:effectLst/>
              </a:rPr>
              <a:t> --nodes=1 --</a:t>
            </a:r>
            <a:r>
              <a:rPr lang="en-US" sz="2000" dirty="0" err="1">
                <a:solidFill>
                  <a:schemeClr val="accent2">
                    <a:lumMod val="75000"/>
                  </a:schemeClr>
                </a:solidFill>
                <a:effectLst/>
              </a:rPr>
              <a:t>ntasks</a:t>
            </a:r>
            <a:r>
              <a:rPr lang="en-US" sz="2000" dirty="0">
                <a:solidFill>
                  <a:schemeClr val="accent2">
                    <a:lumMod val="75000"/>
                  </a:schemeClr>
                </a:solidFill>
                <a:effectLst/>
              </a:rPr>
              <a:t>-per-node=4 --mem=32G -t 00:30:00 --wait=0 --export=ALL /bin/bash</a:t>
            </a:r>
          </a:p>
          <a:p>
            <a:pPr marL="0" indent="0">
              <a:buNone/>
            </a:pPr>
            <a:endParaRPr lang="en-US" sz="2000" i="1" dirty="0"/>
          </a:p>
          <a:p>
            <a:pPr marL="0" marR="0" indent="0">
              <a:spcBef>
                <a:spcPts val="0"/>
              </a:spcBef>
              <a:spcAft>
                <a:spcPts val="0"/>
              </a:spcAft>
              <a:buNone/>
            </a:pPr>
            <a:r>
              <a:rPr lang="en-US" sz="2000" dirty="0">
                <a:solidFill>
                  <a:schemeClr val="accent5">
                    <a:lumMod val="60000"/>
                    <a:lumOff val="40000"/>
                  </a:schemeClr>
                </a:solidFill>
                <a:effectLst/>
              </a:rPr>
              <a:t>$ source ~/.</a:t>
            </a:r>
            <a:r>
              <a:rPr lang="en-US" sz="2000" dirty="0" err="1">
                <a:solidFill>
                  <a:schemeClr val="accent5">
                    <a:lumMod val="60000"/>
                    <a:lumOff val="40000"/>
                  </a:schemeClr>
                </a:solidFill>
                <a:effectLst/>
              </a:rPr>
              <a:t>bashrc</a:t>
            </a:r>
            <a:endParaRPr lang="en-US" sz="2000" dirty="0">
              <a:solidFill>
                <a:schemeClr val="accent5">
                  <a:lumMod val="60000"/>
                  <a:lumOff val="40000"/>
                </a:schemeClr>
              </a:solidFill>
              <a:effectLst/>
            </a:endParaRPr>
          </a:p>
          <a:p>
            <a:pPr marL="0" marR="0" indent="0">
              <a:spcBef>
                <a:spcPts val="0"/>
              </a:spcBef>
              <a:spcAft>
                <a:spcPts val="0"/>
              </a:spcAft>
              <a:buNone/>
            </a:pPr>
            <a:r>
              <a:rPr lang="en-US" sz="2000" dirty="0">
                <a:solidFill>
                  <a:schemeClr val="accent5">
                    <a:lumMod val="60000"/>
                    <a:lumOff val="40000"/>
                  </a:schemeClr>
                </a:solidFill>
                <a:effectLst/>
              </a:rPr>
              <a:t>$ module load </a:t>
            </a:r>
            <a:r>
              <a:rPr lang="en-US" sz="2000" dirty="0" err="1">
                <a:solidFill>
                  <a:schemeClr val="accent5">
                    <a:lumMod val="60000"/>
                    <a:lumOff val="40000"/>
                  </a:schemeClr>
                </a:solidFill>
                <a:effectLst/>
              </a:rPr>
              <a:t>cpu</a:t>
            </a:r>
            <a:r>
              <a:rPr lang="en-US" sz="2000" dirty="0">
                <a:solidFill>
                  <a:schemeClr val="accent5">
                    <a:lumMod val="60000"/>
                    <a:lumOff val="40000"/>
                  </a:schemeClr>
                </a:solidFill>
                <a:effectLst/>
              </a:rPr>
              <a:t>/0.15.4</a:t>
            </a:r>
          </a:p>
          <a:p>
            <a:pPr marL="0" marR="0" indent="0">
              <a:spcBef>
                <a:spcPts val="0"/>
              </a:spcBef>
              <a:spcAft>
                <a:spcPts val="0"/>
              </a:spcAft>
              <a:buNone/>
            </a:pPr>
            <a:r>
              <a:rPr lang="en-US" sz="2000" dirty="0">
                <a:solidFill>
                  <a:schemeClr val="accent5">
                    <a:lumMod val="60000"/>
                    <a:lumOff val="40000"/>
                  </a:schemeClr>
                </a:solidFill>
                <a:effectLst/>
              </a:rPr>
              <a:t>$ module load intel/</a:t>
            </a:r>
            <a:r>
              <a:rPr lang="en-US" sz="2000" dirty="0">
                <a:solidFill>
                  <a:schemeClr val="accent5">
                    <a:lumMod val="60000"/>
                    <a:lumOff val="40000"/>
                  </a:schemeClr>
                </a:solidFill>
                <a:effectLst/>
                <a:hlinkClick r:id="rId3">
                  <a:extLst>
                    <a:ext uri="{A12FA001-AC4F-418D-AE19-62706E023703}">
                      <ahyp:hlinkClr xmlns:ahyp="http://schemas.microsoft.com/office/drawing/2018/hyperlinkcolor" val="tx"/>
                    </a:ext>
                  </a:extLst>
                </a:hlinkClick>
              </a:rPr>
              <a:t>19.1.1.217</a:t>
            </a:r>
            <a:r>
              <a:rPr lang="en-US" sz="2000" dirty="0">
                <a:solidFill>
                  <a:schemeClr val="accent5">
                    <a:lumMod val="60000"/>
                    <a:lumOff val="40000"/>
                  </a:schemeClr>
                </a:solidFill>
                <a:effectLst/>
              </a:rPr>
              <a:t> </a:t>
            </a:r>
          </a:p>
          <a:p>
            <a:pPr marL="0" marR="0" indent="0">
              <a:spcBef>
                <a:spcPts val="0"/>
              </a:spcBef>
              <a:spcAft>
                <a:spcPts val="0"/>
              </a:spcAft>
              <a:buNone/>
            </a:pPr>
            <a:r>
              <a:rPr lang="en-US" sz="2000" dirty="0">
                <a:solidFill>
                  <a:schemeClr val="accent5">
                    <a:lumMod val="60000"/>
                    <a:lumOff val="40000"/>
                  </a:schemeClr>
                </a:solidFill>
                <a:effectLst/>
              </a:rPr>
              <a:t>$ module load intel-</a:t>
            </a:r>
            <a:r>
              <a:rPr lang="en-US" sz="2000" dirty="0" err="1">
                <a:solidFill>
                  <a:schemeClr val="accent5">
                    <a:lumMod val="60000"/>
                    <a:lumOff val="40000"/>
                  </a:schemeClr>
                </a:solidFill>
                <a:effectLst/>
              </a:rPr>
              <a:t>mpi</a:t>
            </a:r>
            <a:r>
              <a:rPr lang="en-US" sz="2000" dirty="0">
                <a:solidFill>
                  <a:schemeClr val="accent5">
                    <a:lumMod val="60000"/>
                    <a:lumOff val="40000"/>
                  </a:schemeClr>
                </a:solidFill>
                <a:effectLst/>
              </a:rPr>
              <a:t>/2019.8.254</a:t>
            </a:r>
          </a:p>
          <a:p>
            <a:pPr marL="0" marR="0" indent="0">
              <a:spcBef>
                <a:spcPts val="0"/>
              </a:spcBef>
              <a:spcAft>
                <a:spcPts val="0"/>
              </a:spcAft>
              <a:buNone/>
            </a:pPr>
            <a:r>
              <a:rPr lang="en-US" sz="2000" dirty="0">
                <a:solidFill>
                  <a:schemeClr val="accent5">
                    <a:lumMod val="60000"/>
                    <a:lumOff val="40000"/>
                  </a:schemeClr>
                </a:solidFill>
                <a:effectLst/>
              </a:rPr>
              <a:t>$ module load anaconda3/2020.11</a:t>
            </a:r>
          </a:p>
          <a:p>
            <a:pPr marL="0" marR="0" indent="0">
              <a:spcBef>
                <a:spcPts val="0"/>
              </a:spcBef>
              <a:spcAft>
                <a:spcPts val="0"/>
              </a:spcAft>
              <a:buNone/>
            </a:pPr>
            <a:endParaRPr lang="en-US" sz="2000" dirty="0">
              <a:effectLst/>
            </a:endParaRPr>
          </a:p>
          <a:p>
            <a:pPr marL="0" marR="0" indent="0">
              <a:spcBef>
                <a:spcPts val="0"/>
              </a:spcBef>
              <a:spcAft>
                <a:spcPts val="0"/>
              </a:spcAft>
              <a:buNone/>
            </a:pPr>
            <a:r>
              <a:rPr lang="en-US" sz="2000" dirty="0">
                <a:solidFill>
                  <a:schemeClr val="accent6">
                    <a:lumMod val="75000"/>
                  </a:schemeClr>
                </a:solidFill>
                <a:effectLst/>
              </a:rPr>
              <a:t>$ </a:t>
            </a:r>
            <a:r>
              <a:rPr lang="en-US" sz="2000" dirty="0" err="1">
                <a:solidFill>
                  <a:schemeClr val="accent6">
                    <a:lumMod val="75000"/>
                  </a:schemeClr>
                </a:solidFill>
                <a:effectLst/>
              </a:rPr>
              <a:t>ipython</a:t>
            </a:r>
            <a:r>
              <a:rPr lang="en-US" sz="2000" dirty="0">
                <a:solidFill>
                  <a:schemeClr val="accent6">
                    <a:lumMod val="75000"/>
                  </a:schemeClr>
                </a:solidFill>
                <a:effectLst/>
              </a:rPr>
              <a:t> </a:t>
            </a:r>
            <a:r>
              <a:rPr lang="en-US" sz="2000" dirty="0" err="1">
                <a:solidFill>
                  <a:schemeClr val="accent6">
                    <a:lumMod val="75000"/>
                  </a:schemeClr>
                </a:solidFill>
                <a:effectLst/>
              </a:rPr>
              <a:t>Sensitivity_NOAA_Sept.py</a:t>
            </a:r>
            <a:r>
              <a:rPr lang="en-US" sz="2000" dirty="0">
                <a:solidFill>
                  <a:schemeClr val="accent6">
                    <a:lumMod val="75000"/>
                  </a:schemeClr>
                </a:solidFill>
                <a:effectLst/>
              </a:rPr>
              <a:t>; </a:t>
            </a:r>
            <a:r>
              <a:rPr lang="en-US" sz="2000" dirty="0" err="1">
                <a:solidFill>
                  <a:schemeClr val="accent6">
                    <a:lumMod val="75000"/>
                  </a:schemeClr>
                </a:solidFill>
                <a:effectLst/>
              </a:rPr>
              <a:t>ipython</a:t>
            </a:r>
            <a:r>
              <a:rPr lang="en-US" sz="2000" dirty="0">
                <a:solidFill>
                  <a:schemeClr val="accent6">
                    <a:lumMod val="75000"/>
                  </a:schemeClr>
                </a:solidFill>
                <a:effectLst/>
              </a:rPr>
              <a:t> </a:t>
            </a:r>
            <a:r>
              <a:rPr lang="en-US" sz="2000" dirty="0" err="1">
                <a:solidFill>
                  <a:schemeClr val="accent6">
                    <a:lumMod val="75000"/>
                  </a:schemeClr>
                </a:solidFill>
                <a:effectLst/>
              </a:rPr>
              <a:t>Sensitivity_NRE.py</a:t>
            </a:r>
            <a:endParaRPr lang="en-US" sz="2000" dirty="0">
              <a:solidFill>
                <a:schemeClr val="accent6">
                  <a:lumMod val="75000"/>
                </a:schemeClr>
              </a:solidFill>
            </a:endParaRPr>
          </a:p>
          <a:p>
            <a:pPr marL="0" marR="0" indent="0">
              <a:spcBef>
                <a:spcPts val="0"/>
              </a:spcBef>
              <a:spcAft>
                <a:spcPts val="0"/>
              </a:spcAft>
              <a:buNone/>
            </a:pPr>
            <a:endParaRPr lang="en-US" sz="2000" b="0" i="1" dirty="0">
              <a:solidFill>
                <a:srgbClr val="333333"/>
              </a:solidFill>
              <a:effectLst/>
              <a:highlight>
                <a:srgbClr val="FFFFFF"/>
              </a:highlight>
            </a:endParaRPr>
          </a:p>
        </p:txBody>
      </p:sp>
      <p:sp>
        <p:nvSpPr>
          <p:cNvPr id="7" name="Title 1">
            <a:extLst>
              <a:ext uri="{FF2B5EF4-FFF2-40B4-BE49-F238E27FC236}">
                <a16:creationId xmlns:a16="http://schemas.microsoft.com/office/drawing/2014/main" id="{52124120-FD32-434E-1F52-3E81FDD2C499}"/>
              </a:ext>
            </a:extLst>
          </p:cNvPr>
          <p:cNvSpPr txBox="1">
            <a:spLocks/>
          </p:cNvSpPr>
          <p:nvPr/>
        </p:nvSpPr>
        <p:spPr>
          <a:xfrm>
            <a:off x="1" y="18255"/>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3. EXPANSE – SCRATCH Directory ‘Jobs’</a:t>
            </a:r>
          </a:p>
        </p:txBody>
      </p:sp>
      <p:sp>
        <p:nvSpPr>
          <p:cNvPr id="10" name="TextBox 9">
            <a:extLst>
              <a:ext uri="{FF2B5EF4-FFF2-40B4-BE49-F238E27FC236}">
                <a16:creationId xmlns:a16="http://schemas.microsoft.com/office/drawing/2014/main" id="{E6C66F9D-2DCF-9C3B-662B-4DC4CAE89B01}"/>
              </a:ext>
            </a:extLst>
          </p:cNvPr>
          <p:cNvSpPr txBox="1"/>
          <p:nvPr/>
        </p:nvSpPr>
        <p:spPr>
          <a:xfrm>
            <a:off x="6793927" y="2245201"/>
            <a:ext cx="5135573" cy="3416320"/>
          </a:xfrm>
          <a:prstGeom prst="rect">
            <a:avLst/>
          </a:prstGeom>
          <a:noFill/>
        </p:spPr>
        <p:txBody>
          <a:bodyPr wrap="none" rtlCol="0">
            <a:spAutoFit/>
          </a:bodyPr>
          <a:lstStyle/>
          <a:p>
            <a:r>
              <a:rPr lang="en-US" b="1" dirty="0">
                <a:solidFill>
                  <a:schemeClr val="accent2">
                    <a:lumMod val="75000"/>
                  </a:schemeClr>
                </a:solidFill>
              </a:rPr>
              <a:t>1. Request compute-node allocation</a:t>
            </a:r>
          </a:p>
          <a:p>
            <a:r>
              <a:rPr lang="en-US" b="1" dirty="0">
                <a:solidFill>
                  <a:schemeClr val="accent2">
                    <a:lumMod val="75000"/>
                  </a:schemeClr>
                </a:solidFill>
              </a:rPr>
              <a:t>(30 min max for live compute node)</a:t>
            </a:r>
          </a:p>
          <a:p>
            <a:endParaRPr lang="en-US" b="1" dirty="0">
              <a:solidFill>
                <a:schemeClr val="accent2">
                  <a:lumMod val="75000"/>
                </a:schemeClr>
              </a:solidFill>
            </a:endParaRPr>
          </a:p>
          <a:p>
            <a:r>
              <a:rPr lang="en-US" b="1" dirty="0">
                <a:solidFill>
                  <a:schemeClr val="accent2">
                    <a:lumMod val="75000"/>
                  </a:schemeClr>
                </a:solidFill>
              </a:rPr>
              <a:t>		Pending --&gt; Run Job</a:t>
            </a:r>
          </a:p>
          <a:p>
            <a:endParaRPr lang="en-US" dirty="0"/>
          </a:p>
          <a:p>
            <a:endParaRPr lang="en-US" dirty="0"/>
          </a:p>
          <a:p>
            <a:r>
              <a:rPr lang="en-US" b="1" dirty="0">
                <a:solidFill>
                  <a:schemeClr val="accent5">
                    <a:lumMod val="75000"/>
                  </a:schemeClr>
                </a:solidFill>
              </a:rPr>
              <a:t>2. Load modules for run</a:t>
            </a:r>
          </a:p>
          <a:p>
            <a:endParaRPr lang="en-US" dirty="0"/>
          </a:p>
          <a:p>
            <a:endParaRPr lang="en-US" dirty="0"/>
          </a:p>
          <a:p>
            <a:endParaRPr lang="en-US" dirty="0"/>
          </a:p>
          <a:p>
            <a:r>
              <a:rPr lang="en-US" b="1" dirty="0">
                <a:solidFill>
                  <a:schemeClr val="accent6">
                    <a:lumMod val="75000"/>
                  </a:schemeClr>
                </a:solidFill>
              </a:rPr>
              <a:t>3. Activate program (</a:t>
            </a:r>
            <a:r>
              <a:rPr lang="en-US" b="1" dirty="0" err="1">
                <a:solidFill>
                  <a:schemeClr val="accent6">
                    <a:lumMod val="75000"/>
                  </a:schemeClr>
                </a:solidFill>
              </a:rPr>
              <a:t>ipython</a:t>
            </a:r>
            <a:r>
              <a:rPr lang="en-US" b="1" dirty="0">
                <a:solidFill>
                  <a:schemeClr val="accent6">
                    <a:lumMod val="75000"/>
                  </a:schemeClr>
                </a:solidFill>
              </a:rPr>
              <a:t>) and run code files </a:t>
            </a:r>
          </a:p>
          <a:p>
            <a:r>
              <a:rPr lang="en-US" b="1" dirty="0">
                <a:solidFill>
                  <a:schemeClr val="accent6">
                    <a:lumMod val="75000"/>
                  </a:schemeClr>
                </a:solidFill>
              </a:rPr>
              <a:t>consecutively</a:t>
            </a:r>
          </a:p>
        </p:txBody>
      </p:sp>
      <p:sp>
        <p:nvSpPr>
          <p:cNvPr id="13" name="TextBox 12">
            <a:extLst>
              <a:ext uri="{FF2B5EF4-FFF2-40B4-BE49-F238E27FC236}">
                <a16:creationId xmlns:a16="http://schemas.microsoft.com/office/drawing/2014/main" id="{84D8DBD3-8689-C2FE-3A1E-1FA6667C9F7B}"/>
              </a:ext>
            </a:extLst>
          </p:cNvPr>
          <p:cNvSpPr txBox="1"/>
          <p:nvPr/>
        </p:nvSpPr>
        <p:spPr>
          <a:xfrm>
            <a:off x="694685" y="1343818"/>
            <a:ext cx="10822864" cy="369332"/>
          </a:xfrm>
          <a:prstGeom prst="rect">
            <a:avLst/>
          </a:prstGeom>
          <a:noFill/>
        </p:spPr>
        <p:txBody>
          <a:bodyPr wrap="square">
            <a:spAutoFit/>
          </a:bodyPr>
          <a:lstStyle/>
          <a:p>
            <a:pPr marL="0" indent="0" algn="ctr">
              <a:buNone/>
            </a:pPr>
            <a:r>
              <a:rPr lang="en-US" sz="1800" i="0" dirty="0">
                <a:solidFill>
                  <a:srgbClr val="333333"/>
                </a:solidFill>
                <a:effectLst/>
                <a:highlight>
                  <a:srgbClr val="FFFFFF"/>
                </a:highlight>
              </a:rPr>
              <a:t>Request</a:t>
            </a:r>
            <a:r>
              <a:rPr lang="en-US" sz="1800" b="1" i="0" dirty="0">
                <a:solidFill>
                  <a:srgbClr val="333333"/>
                </a:solidFill>
                <a:effectLst/>
                <a:highlight>
                  <a:srgbClr val="FFFFFF"/>
                </a:highlight>
              </a:rPr>
              <a:t>  interactive compute-node </a:t>
            </a:r>
            <a:r>
              <a:rPr lang="en-US" sz="1800" b="0" i="0" dirty="0">
                <a:solidFill>
                  <a:srgbClr val="333333"/>
                </a:solidFill>
                <a:effectLst/>
                <a:highlight>
                  <a:srgbClr val="FFFFFF"/>
                </a:highlight>
              </a:rPr>
              <a:t>to open and run an application (Python, Matlab, etc.)</a:t>
            </a:r>
          </a:p>
        </p:txBody>
      </p:sp>
    </p:spTree>
    <p:extLst>
      <p:ext uri="{BB962C8B-B14F-4D97-AF65-F5344CB8AC3E}">
        <p14:creationId xmlns:p14="http://schemas.microsoft.com/office/powerpoint/2010/main" val="1623538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D6A1-1071-0EB2-1B69-508D20DA1AB7}"/>
              </a:ext>
            </a:extLst>
          </p:cNvPr>
          <p:cNvSpPr>
            <a:spLocks noGrp="1"/>
          </p:cNvSpPr>
          <p:nvPr>
            <p:ph type="title"/>
          </p:nvPr>
        </p:nvSpPr>
        <p:spPr>
          <a:xfrm>
            <a:off x="1" y="18255"/>
            <a:ext cx="12192000" cy="1325563"/>
          </a:xfrm>
        </p:spPr>
        <p:txBody>
          <a:bodyPr>
            <a:normAutofit/>
          </a:bodyPr>
          <a:lstStyle/>
          <a:p>
            <a:pPr algn="ctr"/>
            <a:r>
              <a:rPr lang="en-US" dirty="0"/>
              <a:t>3. EXPANSE – SCRATCH Directory ‘Jobs’</a:t>
            </a:r>
          </a:p>
        </p:txBody>
      </p:sp>
      <p:sp>
        <p:nvSpPr>
          <p:cNvPr id="5" name="Content Placeholder 4">
            <a:extLst>
              <a:ext uri="{FF2B5EF4-FFF2-40B4-BE49-F238E27FC236}">
                <a16:creationId xmlns:a16="http://schemas.microsoft.com/office/drawing/2014/main" id="{02640982-EF22-C36C-C32B-DBC773ECAD7E}"/>
              </a:ext>
            </a:extLst>
          </p:cNvPr>
          <p:cNvSpPr>
            <a:spLocks noGrp="1"/>
          </p:cNvSpPr>
          <p:nvPr>
            <p:ph idx="1"/>
          </p:nvPr>
        </p:nvSpPr>
        <p:spPr>
          <a:xfrm>
            <a:off x="284553" y="1548802"/>
            <a:ext cx="3987396" cy="1325563"/>
          </a:xfrm>
        </p:spPr>
        <p:txBody>
          <a:bodyPr>
            <a:normAutofit/>
          </a:bodyPr>
          <a:lstStyle/>
          <a:p>
            <a:pPr marL="0" indent="0" algn="ctr">
              <a:buNone/>
            </a:pPr>
            <a:r>
              <a:rPr lang="en-US" sz="1800" b="0" i="0" dirty="0">
                <a:solidFill>
                  <a:srgbClr val="333333"/>
                </a:solidFill>
                <a:effectLst/>
                <a:highlight>
                  <a:srgbClr val="FFFFFF"/>
                </a:highlight>
              </a:rPr>
              <a:t>Set up a </a:t>
            </a:r>
            <a:r>
              <a:rPr lang="en-US" sz="1800" b="1" i="0" dirty="0">
                <a:solidFill>
                  <a:srgbClr val="333333"/>
                </a:solidFill>
                <a:effectLst/>
                <a:highlight>
                  <a:srgbClr val="FFFFFF"/>
                </a:highlight>
              </a:rPr>
              <a:t>job-request batch script </a:t>
            </a:r>
            <a:r>
              <a:rPr lang="en-US" sz="1800" b="0" i="0" dirty="0">
                <a:solidFill>
                  <a:srgbClr val="333333"/>
                </a:solidFill>
                <a:effectLst/>
                <a:highlight>
                  <a:srgbClr val="FFFFFF"/>
                </a:highlight>
              </a:rPr>
              <a:t>(</a:t>
            </a:r>
            <a:r>
              <a:rPr lang="en-US" sz="1800" b="0" i="0" dirty="0" err="1">
                <a:solidFill>
                  <a:srgbClr val="333333"/>
                </a:solidFill>
                <a:effectLst/>
                <a:highlight>
                  <a:srgbClr val="FFFFFF"/>
                </a:highlight>
              </a:rPr>
              <a:t>ie</a:t>
            </a:r>
            <a:r>
              <a:rPr lang="en-US" sz="1800" b="0" i="0" dirty="0">
                <a:solidFill>
                  <a:srgbClr val="333333"/>
                </a:solidFill>
                <a:effectLst/>
                <a:highlight>
                  <a:srgbClr val="FFFFFF"/>
                </a:highlight>
              </a:rPr>
              <a:t> </a:t>
            </a:r>
            <a:r>
              <a:rPr lang="en-US" sz="1800" b="0" i="0" dirty="0" err="1">
                <a:solidFill>
                  <a:srgbClr val="333333"/>
                </a:solidFill>
                <a:effectLst/>
                <a:highlight>
                  <a:srgbClr val="FFFFFF"/>
                </a:highlight>
              </a:rPr>
              <a:t>run.sh</a:t>
            </a:r>
            <a:r>
              <a:rPr lang="en-US" sz="1800" b="0" i="0" dirty="0">
                <a:solidFill>
                  <a:srgbClr val="333333"/>
                </a:solidFill>
                <a:effectLst/>
                <a:highlight>
                  <a:srgbClr val="FFFFFF"/>
                </a:highlight>
              </a:rPr>
              <a:t>) to run code in sequence for a particular job through </a:t>
            </a:r>
            <a:r>
              <a:rPr lang="en-US" sz="1800" b="1" i="0" dirty="0">
                <a:solidFill>
                  <a:srgbClr val="333333"/>
                </a:solidFill>
                <a:effectLst/>
                <a:highlight>
                  <a:srgbClr val="FFFFFF"/>
                </a:highlight>
              </a:rPr>
              <a:t>SLURM Workload </a:t>
            </a:r>
            <a:r>
              <a:rPr lang="en-US" sz="1800" b="1" dirty="0">
                <a:solidFill>
                  <a:srgbClr val="333333"/>
                </a:solidFill>
                <a:highlight>
                  <a:srgbClr val="FFFFFF"/>
                </a:highlight>
              </a:rPr>
              <a:t>M</a:t>
            </a:r>
            <a:r>
              <a:rPr lang="en-US" sz="1800" b="1" i="0" dirty="0">
                <a:solidFill>
                  <a:srgbClr val="333333"/>
                </a:solidFill>
                <a:effectLst/>
                <a:highlight>
                  <a:srgbClr val="FFFFFF"/>
                </a:highlight>
              </a:rPr>
              <a:t>anager</a:t>
            </a:r>
            <a:r>
              <a:rPr lang="en-US" sz="1800" b="0" i="0" dirty="0">
                <a:solidFill>
                  <a:srgbClr val="333333"/>
                </a:solidFill>
                <a:effectLst/>
                <a:highlight>
                  <a:srgbClr val="FFFFFF"/>
                </a:highlight>
              </a:rPr>
              <a:t>.</a:t>
            </a:r>
          </a:p>
          <a:p>
            <a:pPr marL="457200" indent="-457200" algn="ctr">
              <a:buAutoNum type="alphaUcPeriod"/>
            </a:pPr>
            <a:endParaRPr lang="en-US" sz="1800" dirty="0">
              <a:solidFill>
                <a:srgbClr val="333333"/>
              </a:solidFill>
              <a:highlight>
                <a:srgbClr val="FFFFFF"/>
              </a:highlight>
            </a:endParaRPr>
          </a:p>
          <a:p>
            <a:pPr marL="457200" indent="-457200" algn="ctr">
              <a:buAutoNum type="alphaUcPeriod"/>
            </a:pPr>
            <a:endParaRPr lang="en-US" sz="1800" b="0" i="0" dirty="0">
              <a:solidFill>
                <a:srgbClr val="333333"/>
              </a:solidFill>
              <a:effectLst/>
              <a:highlight>
                <a:srgbClr val="FFFFFF"/>
              </a:highlight>
            </a:endParaRPr>
          </a:p>
          <a:p>
            <a:pPr marL="457200" indent="-457200" algn="ctr">
              <a:buAutoNum type="alphaUcPeriod"/>
            </a:pPr>
            <a:endParaRPr lang="en-US" sz="1800" dirty="0">
              <a:solidFill>
                <a:srgbClr val="333333"/>
              </a:solidFill>
              <a:highlight>
                <a:srgbClr val="FFFFFF"/>
              </a:highlight>
            </a:endParaRPr>
          </a:p>
          <a:p>
            <a:pPr marL="457200" indent="-457200" algn="ctr">
              <a:buAutoNum type="alphaUcPeriod"/>
            </a:pPr>
            <a:endParaRPr lang="en-US" sz="1800" b="0" i="0" dirty="0">
              <a:solidFill>
                <a:srgbClr val="333333"/>
              </a:solidFill>
              <a:effectLst/>
              <a:highlight>
                <a:srgbClr val="FFFFFF"/>
              </a:highlight>
            </a:endParaRPr>
          </a:p>
          <a:p>
            <a:pPr marL="457200" indent="-457200" algn="ctr">
              <a:buAutoNum type="alphaUcPeriod"/>
            </a:pPr>
            <a:endParaRPr lang="en-US" sz="1800" b="0" i="0" dirty="0">
              <a:solidFill>
                <a:srgbClr val="333333"/>
              </a:solidFill>
              <a:effectLst/>
              <a:highlight>
                <a:srgbClr val="FFFFFF"/>
              </a:highlight>
            </a:endParaRPr>
          </a:p>
          <a:p>
            <a:pPr marL="457200" indent="-457200" algn="ctr">
              <a:buAutoNum type="alphaUcPeriod"/>
            </a:pPr>
            <a:endParaRPr lang="en-US" sz="1800" b="0" i="0" dirty="0">
              <a:solidFill>
                <a:srgbClr val="333333"/>
              </a:solidFill>
              <a:effectLst/>
              <a:highlight>
                <a:srgbClr val="FFFFFF"/>
              </a:highlight>
            </a:endParaRPr>
          </a:p>
        </p:txBody>
      </p:sp>
      <p:pic>
        <p:nvPicPr>
          <p:cNvPr id="4" name="Picture 3" descr="A screenshot of a computer program&#10;&#10;Description automatically generated">
            <a:extLst>
              <a:ext uri="{FF2B5EF4-FFF2-40B4-BE49-F238E27FC236}">
                <a16:creationId xmlns:a16="http://schemas.microsoft.com/office/drawing/2014/main" id="{E710CA21-D72D-F9A4-C859-FA7BD272C40A}"/>
              </a:ext>
            </a:extLst>
          </p:cNvPr>
          <p:cNvPicPr>
            <a:picLocks noChangeAspect="1"/>
          </p:cNvPicPr>
          <p:nvPr/>
        </p:nvPicPr>
        <p:blipFill>
          <a:blip r:embed="rId3"/>
          <a:stretch>
            <a:fillRect/>
          </a:stretch>
        </p:blipFill>
        <p:spPr>
          <a:xfrm>
            <a:off x="4108085" y="1684150"/>
            <a:ext cx="7245715" cy="4967028"/>
          </a:xfrm>
          <a:prstGeom prst="rect">
            <a:avLst/>
          </a:prstGeom>
        </p:spPr>
      </p:pic>
      <p:sp>
        <p:nvSpPr>
          <p:cNvPr id="9" name="TextBox 8">
            <a:extLst>
              <a:ext uri="{FF2B5EF4-FFF2-40B4-BE49-F238E27FC236}">
                <a16:creationId xmlns:a16="http://schemas.microsoft.com/office/drawing/2014/main" id="{4A549213-597B-5B20-2644-AB32CAA1CA4C}"/>
              </a:ext>
            </a:extLst>
          </p:cNvPr>
          <p:cNvSpPr txBox="1"/>
          <p:nvPr/>
        </p:nvSpPr>
        <p:spPr>
          <a:xfrm>
            <a:off x="120688" y="3214697"/>
            <a:ext cx="3987397" cy="1200329"/>
          </a:xfrm>
          <a:prstGeom prst="rect">
            <a:avLst/>
          </a:prstGeom>
          <a:noFill/>
        </p:spPr>
        <p:txBody>
          <a:bodyPr wrap="square" rtlCol="0">
            <a:spAutoFit/>
          </a:bodyPr>
          <a:lstStyle/>
          <a:p>
            <a:pPr marL="342900" indent="-342900" algn="ctr">
              <a:buAutoNum type="arabicPeriod"/>
            </a:pPr>
            <a:r>
              <a:rPr lang="en-US" dirty="0"/>
              <a:t>Import codes &amp; files to directory</a:t>
            </a:r>
          </a:p>
          <a:p>
            <a:pPr marL="342900" indent="-342900" algn="ctr">
              <a:buAutoNum type="arabicPeriod"/>
            </a:pPr>
            <a:r>
              <a:rPr lang="en-US" dirty="0"/>
              <a:t>Build &amp; customize your shell script</a:t>
            </a:r>
          </a:p>
          <a:p>
            <a:pPr marL="342900" indent="-342900" algn="ctr">
              <a:buAutoNum type="arabicPeriod"/>
            </a:pPr>
            <a:r>
              <a:rPr lang="en-US" dirty="0"/>
              <a:t>Run shell script</a:t>
            </a:r>
            <a:endParaRPr lang="en-US" b="1" dirty="0"/>
          </a:p>
          <a:p>
            <a:pPr algn="ctr"/>
            <a:r>
              <a:rPr lang="en-US" b="1" dirty="0"/>
              <a:t>$ ./</a:t>
            </a:r>
            <a:r>
              <a:rPr lang="en-US" b="1" dirty="0" err="1"/>
              <a:t>run.sh</a:t>
            </a:r>
            <a:endParaRPr lang="en-US" b="1" dirty="0"/>
          </a:p>
        </p:txBody>
      </p:sp>
      <p:sp>
        <p:nvSpPr>
          <p:cNvPr id="10" name="TextBox 9">
            <a:extLst>
              <a:ext uri="{FF2B5EF4-FFF2-40B4-BE49-F238E27FC236}">
                <a16:creationId xmlns:a16="http://schemas.microsoft.com/office/drawing/2014/main" id="{40A71EE5-FFCD-2F56-E5E1-3404F06AFBC8}"/>
              </a:ext>
            </a:extLst>
          </p:cNvPr>
          <p:cNvSpPr txBox="1"/>
          <p:nvPr/>
        </p:nvSpPr>
        <p:spPr>
          <a:xfrm>
            <a:off x="4435813" y="1684150"/>
            <a:ext cx="6917987" cy="2557110"/>
          </a:xfrm>
          <a:prstGeom prst="rect">
            <a:avLst/>
          </a:prstGeom>
          <a:noFill/>
          <a:ln w="38100">
            <a:solidFill>
              <a:schemeClr val="accent2"/>
            </a:solidFill>
          </a:ln>
        </p:spPr>
        <p:txBody>
          <a:bodyPr wrap="square" rtlCol="0">
            <a:spAutoFit/>
          </a:bodyPr>
          <a:lstStyle/>
          <a:p>
            <a:endParaRPr lang="en-US" dirty="0"/>
          </a:p>
        </p:txBody>
      </p:sp>
      <p:sp>
        <p:nvSpPr>
          <p:cNvPr id="12" name="TextBox 11">
            <a:extLst>
              <a:ext uri="{FF2B5EF4-FFF2-40B4-BE49-F238E27FC236}">
                <a16:creationId xmlns:a16="http://schemas.microsoft.com/office/drawing/2014/main" id="{44E16C01-1E0B-C5F6-99CC-D11502067921}"/>
              </a:ext>
            </a:extLst>
          </p:cNvPr>
          <p:cNvSpPr txBox="1"/>
          <p:nvPr/>
        </p:nvSpPr>
        <p:spPr>
          <a:xfrm>
            <a:off x="4435813" y="4319082"/>
            <a:ext cx="4513634" cy="1750979"/>
          </a:xfrm>
          <a:prstGeom prst="rect">
            <a:avLst/>
          </a:prstGeom>
          <a:noFill/>
          <a:ln w="38100">
            <a:solidFill>
              <a:schemeClr val="accent5">
                <a:lumMod val="60000"/>
                <a:lumOff val="40000"/>
              </a:schemeClr>
            </a:solidFill>
          </a:ln>
        </p:spPr>
        <p:txBody>
          <a:bodyPr wrap="square" rtlCol="0">
            <a:spAutoFit/>
          </a:bodyPr>
          <a:lstStyle/>
          <a:p>
            <a:endParaRPr lang="en-US" dirty="0"/>
          </a:p>
        </p:txBody>
      </p:sp>
      <p:sp>
        <p:nvSpPr>
          <p:cNvPr id="13" name="TextBox 12">
            <a:extLst>
              <a:ext uri="{FF2B5EF4-FFF2-40B4-BE49-F238E27FC236}">
                <a16:creationId xmlns:a16="http://schemas.microsoft.com/office/drawing/2014/main" id="{51647044-D978-4FA9-88A6-3AB8ADEF02C6}"/>
              </a:ext>
            </a:extLst>
          </p:cNvPr>
          <p:cNvSpPr txBox="1"/>
          <p:nvPr/>
        </p:nvSpPr>
        <p:spPr>
          <a:xfrm>
            <a:off x="4435813" y="6264613"/>
            <a:ext cx="5894961" cy="386565"/>
          </a:xfrm>
          <a:prstGeom prst="rect">
            <a:avLst/>
          </a:prstGeom>
          <a:noFill/>
          <a:ln w="38100">
            <a:solidFill>
              <a:schemeClr val="accent6">
                <a:lumMod val="75000"/>
              </a:schemeClr>
            </a:solidFill>
          </a:ln>
        </p:spPr>
        <p:txBody>
          <a:bodyPr wrap="square" rtlCol="0">
            <a:spAutoFit/>
          </a:bodyPr>
          <a:lstStyle/>
          <a:p>
            <a:endParaRPr lang="en-US" dirty="0"/>
          </a:p>
        </p:txBody>
      </p:sp>
      <p:sp>
        <p:nvSpPr>
          <p:cNvPr id="14" name="TextBox 13">
            <a:extLst>
              <a:ext uri="{FF2B5EF4-FFF2-40B4-BE49-F238E27FC236}">
                <a16:creationId xmlns:a16="http://schemas.microsoft.com/office/drawing/2014/main" id="{3870B68A-83A7-9FBB-BD7E-29274BD8F881}"/>
              </a:ext>
            </a:extLst>
          </p:cNvPr>
          <p:cNvSpPr txBox="1"/>
          <p:nvPr/>
        </p:nvSpPr>
        <p:spPr>
          <a:xfrm>
            <a:off x="6714338" y="1238080"/>
            <a:ext cx="5461431" cy="5078313"/>
          </a:xfrm>
          <a:prstGeom prst="rect">
            <a:avLst/>
          </a:prstGeom>
          <a:noFill/>
        </p:spPr>
        <p:txBody>
          <a:bodyPr wrap="none" rtlCol="0">
            <a:spAutoFit/>
          </a:bodyPr>
          <a:lstStyle/>
          <a:p>
            <a:r>
              <a:rPr lang="en-US" b="1" dirty="0">
                <a:solidFill>
                  <a:schemeClr val="accent2">
                    <a:lumMod val="75000"/>
                  </a:schemeClr>
                </a:solidFill>
              </a:rPr>
              <a:t>1. Request  allocation (Pending --&gt; Run Job)</a:t>
            </a:r>
          </a:p>
          <a:p>
            <a:endParaRPr lang="en-US" dirty="0"/>
          </a:p>
          <a:p>
            <a:endParaRPr lang="en-US" dirty="0"/>
          </a:p>
          <a:p>
            <a:endParaRPr lang="en-US" b="1" dirty="0">
              <a:solidFill>
                <a:schemeClr val="accent5">
                  <a:lumMod val="75000"/>
                </a:schemeClr>
              </a:solidFill>
            </a:endParaRPr>
          </a:p>
          <a:p>
            <a:endParaRPr lang="en-US" b="1" dirty="0">
              <a:solidFill>
                <a:schemeClr val="accent5">
                  <a:lumMod val="75000"/>
                </a:schemeClr>
              </a:solidFill>
            </a:endParaRPr>
          </a:p>
          <a:p>
            <a:endParaRPr lang="en-US" b="1" dirty="0">
              <a:solidFill>
                <a:schemeClr val="accent5">
                  <a:lumMod val="75000"/>
                </a:schemeClr>
              </a:solidFill>
            </a:endParaRPr>
          </a:p>
          <a:p>
            <a:endParaRPr lang="en-US" b="1" dirty="0">
              <a:solidFill>
                <a:schemeClr val="accent5">
                  <a:lumMod val="75000"/>
                </a:schemeClr>
              </a:solidFill>
            </a:endParaRPr>
          </a:p>
          <a:p>
            <a:endParaRPr lang="en-US" b="1" dirty="0">
              <a:solidFill>
                <a:schemeClr val="accent5">
                  <a:lumMod val="75000"/>
                </a:schemeClr>
              </a:solidFill>
            </a:endParaRPr>
          </a:p>
          <a:p>
            <a:endParaRPr lang="en-US" b="1" dirty="0">
              <a:solidFill>
                <a:schemeClr val="accent5">
                  <a:lumMod val="75000"/>
                </a:schemeClr>
              </a:solidFill>
            </a:endParaRPr>
          </a:p>
          <a:p>
            <a:endParaRPr lang="en-US" b="1" dirty="0">
              <a:solidFill>
                <a:schemeClr val="accent5">
                  <a:lumMod val="75000"/>
                </a:schemeClr>
              </a:solidFill>
            </a:endParaRPr>
          </a:p>
          <a:p>
            <a:r>
              <a:rPr lang="en-US" b="1" dirty="0">
                <a:solidFill>
                  <a:schemeClr val="accent5">
                    <a:lumMod val="75000"/>
                  </a:schemeClr>
                </a:solidFill>
              </a:rPr>
              <a:t>			</a:t>
            </a:r>
          </a:p>
          <a:p>
            <a:r>
              <a:rPr lang="en-US" b="1" dirty="0">
                <a:solidFill>
                  <a:schemeClr val="accent5">
                    <a:lumMod val="75000"/>
                  </a:schemeClr>
                </a:solidFill>
              </a:rPr>
              <a:t>			2. Load modules for run</a:t>
            </a:r>
          </a:p>
          <a:p>
            <a:endParaRPr lang="en-US" dirty="0"/>
          </a:p>
          <a:p>
            <a:endParaRPr lang="en-US" dirty="0"/>
          </a:p>
          <a:p>
            <a:endParaRPr lang="en-US" dirty="0"/>
          </a:p>
          <a:p>
            <a:endParaRPr lang="en-US" b="1" dirty="0">
              <a:solidFill>
                <a:schemeClr val="accent6">
                  <a:lumMod val="75000"/>
                </a:schemeClr>
              </a:solidFill>
            </a:endParaRPr>
          </a:p>
          <a:p>
            <a:r>
              <a:rPr lang="en-US" b="1" dirty="0">
                <a:solidFill>
                  <a:schemeClr val="accent6">
                    <a:lumMod val="75000"/>
                  </a:schemeClr>
                </a:solidFill>
              </a:rPr>
              <a:t>			</a:t>
            </a:r>
          </a:p>
          <a:p>
            <a:r>
              <a:rPr lang="en-US" b="1" dirty="0">
                <a:solidFill>
                  <a:schemeClr val="accent6">
                    <a:lumMod val="75000"/>
                  </a:schemeClr>
                </a:solidFill>
              </a:rPr>
              <a:t>			3. Activate and run code</a:t>
            </a:r>
          </a:p>
        </p:txBody>
      </p:sp>
    </p:spTree>
    <p:extLst>
      <p:ext uri="{BB962C8B-B14F-4D97-AF65-F5344CB8AC3E}">
        <p14:creationId xmlns:p14="http://schemas.microsoft.com/office/powerpoint/2010/main" val="776653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C409F-6CF3-C91B-E2E3-86BC56A2D866}"/>
              </a:ext>
            </a:extLst>
          </p:cNvPr>
          <p:cNvSpPr>
            <a:spLocks noGrp="1"/>
          </p:cNvSpPr>
          <p:nvPr>
            <p:ph type="title"/>
          </p:nvPr>
        </p:nvSpPr>
        <p:spPr>
          <a:xfrm>
            <a:off x="838200" y="18255"/>
            <a:ext cx="10515600" cy="1325563"/>
          </a:xfrm>
        </p:spPr>
        <p:txBody>
          <a:bodyPr/>
          <a:lstStyle/>
          <a:p>
            <a:pPr algn="ctr"/>
            <a:r>
              <a:rPr lang="en-US" dirty="0">
                <a:highlight>
                  <a:srgbClr val="FFFF00"/>
                </a:highlight>
              </a:rPr>
              <a:t>4. EXPANSE Modules</a:t>
            </a:r>
          </a:p>
        </p:txBody>
      </p:sp>
      <p:sp>
        <p:nvSpPr>
          <p:cNvPr id="3" name="Content Placeholder 2">
            <a:extLst>
              <a:ext uri="{FF2B5EF4-FFF2-40B4-BE49-F238E27FC236}">
                <a16:creationId xmlns:a16="http://schemas.microsoft.com/office/drawing/2014/main" id="{C14464AC-07B4-76C9-0E5E-6B98768A7E06}"/>
              </a:ext>
            </a:extLst>
          </p:cNvPr>
          <p:cNvSpPr>
            <a:spLocks noGrp="1"/>
          </p:cNvSpPr>
          <p:nvPr>
            <p:ph idx="1"/>
          </p:nvPr>
        </p:nvSpPr>
        <p:spPr>
          <a:xfrm>
            <a:off x="838200" y="1343818"/>
            <a:ext cx="10515600" cy="4833145"/>
          </a:xfrm>
        </p:spPr>
        <p:txBody>
          <a:bodyPr>
            <a:normAutofit/>
          </a:bodyPr>
          <a:lstStyle/>
          <a:p>
            <a:pPr marL="0" indent="0" algn="l">
              <a:buNone/>
            </a:pPr>
            <a:r>
              <a:rPr lang="en-US" b="0" i="0" dirty="0">
                <a:solidFill>
                  <a:srgbClr val="333333"/>
                </a:solidFill>
                <a:effectLst/>
                <a:highlight>
                  <a:srgbClr val="FFFFFF"/>
                </a:highlight>
                <a:latin typeface="Source Sans Pro" panose="020B0503030403020204" pitchFamily="34" charset="0"/>
              </a:rPr>
              <a:t>Environment Modules --&gt; dynamic, personalized modification of your shell (or working) environment</a:t>
            </a:r>
          </a:p>
          <a:p>
            <a:pPr marL="0" indent="0" algn="l">
              <a:buNone/>
            </a:pPr>
            <a:endParaRPr lang="en-US" b="0" i="0" dirty="0">
              <a:solidFill>
                <a:srgbClr val="333333"/>
              </a:solidFill>
              <a:effectLst/>
              <a:highlight>
                <a:srgbClr val="FFFFFF"/>
              </a:highlight>
              <a:latin typeface="Source Sans Pro" panose="020B0503030403020204" pitchFamily="34" charset="0"/>
            </a:endParaRPr>
          </a:p>
          <a:p>
            <a:pPr algn="l"/>
            <a:r>
              <a:rPr lang="en-US" b="0" i="0" dirty="0">
                <a:solidFill>
                  <a:srgbClr val="333333"/>
                </a:solidFill>
                <a:effectLst/>
                <a:highlight>
                  <a:srgbClr val="FFFFFF"/>
                </a:highlight>
                <a:latin typeface="Source Sans Pro" panose="020B0503030403020204" pitchFamily="34" charset="0"/>
              </a:rPr>
              <a:t>Module commands set, change, or delete environment variables, for a particular application. </a:t>
            </a:r>
          </a:p>
          <a:p>
            <a:pPr algn="l"/>
            <a:endParaRPr lang="en-US" b="0" i="0" dirty="0">
              <a:solidFill>
                <a:srgbClr val="333333"/>
              </a:solidFill>
              <a:effectLst/>
              <a:highlight>
                <a:srgbClr val="FFFFFF"/>
              </a:highlight>
              <a:latin typeface="Source Sans Pro" panose="020B0503030403020204" pitchFamily="34" charset="0"/>
            </a:endParaRPr>
          </a:p>
          <a:p>
            <a:pPr algn="l"/>
            <a:r>
              <a:rPr lang="en-US" dirty="0">
                <a:solidFill>
                  <a:srgbClr val="333333"/>
                </a:solidFill>
                <a:highlight>
                  <a:srgbClr val="FFFFFF"/>
                </a:highlight>
                <a:latin typeface="Source Sans Pro" panose="020B0503030403020204" pitchFamily="34" charset="0"/>
              </a:rPr>
              <a:t>C</a:t>
            </a:r>
            <a:r>
              <a:rPr lang="en-US" b="0" i="0" dirty="0">
                <a:solidFill>
                  <a:srgbClr val="333333"/>
                </a:solidFill>
                <a:effectLst/>
                <a:highlight>
                  <a:srgbClr val="FFFFFF"/>
                </a:highlight>
                <a:latin typeface="Source Sans Pro" panose="020B0503030403020204" pitchFamily="34" charset="0"/>
              </a:rPr>
              <a:t>hoose between different versions of the same software or different combinations of related codes.</a:t>
            </a:r>
          </a:p>
          <a:p>
            <a:pPr marL="0" indent="0" algn="l">
              <a:buNone/>
            </a:pPr>
            <a:br>
              <a:rPr lang="en-US" dirty="0"/>
            </a:br>
            <a:endParaRPr lang="en-US" dirty="0"/>
          </a:p>
        </p:txBody>
      </p:sp>
      <p:pic>
        <p:nvPicPr>
          <p:cNvPr id="4" name="Content Placeholder 3" descr="A blue screen with white text&#10;&#10;Description automatically generated">
            <a:extLst>
              <a:ext uri="{FF2B5EF4-FFF2-40B4-BE49-F238E27FC236}">
                <a16:creationId xmlns:a16="http://schemas.microsoft.com/office/drawing/2014/main" id="{AD6391A5-92AC-DC10-3A3B-5A943332BCF5}"/>
              </a:ext>
            </a:extLst>
          </p:cNvPr>
          <p:cNvPicPr>
            <a:picLocks noChangeAspect="1"/>
          </p:cNvPicPr>
          <p:nvPr/>
        </p:nvPicPr>
        <p:blipFill rotWithShape="1">
          <a:blip r:embed="rId2"/>
          <a:srcRect t="56873" b="19473"/>
          <a:stretch/>
        </p:blipFill>
        <p:spPr>
          <a:xfrm>
            <a:off x="1904392" y="5175114"/>
            <a:ext cx="8383215" cy="1325563"/>
          </a:xfrm>
          <a:prstGeom prst="rect">
            <a:avLst/>
          </a:prstGeom>
        </p:spPr>
      </p:pic>
    </p:spTree>
    <p:extLst>
      <p:ext uri="{BB962C8B-B14F-4D97-AF65-F5344CB8AC3E}">
        <p14:creationId xmlns:p14="http://schemas.microsoft.com/office/powerpoint/2010/main" val="1043146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C409F-6CF3-C91B-E2E3-86BC56A2D866}"/>
              </a:ext>
            </a:extLst>
          </p:cNvPr>
          <p:cNvSpPr>
            <a:spLocks noGrp="1"/>
          </p:cNvSpPr>
          <p:nvPr>
            <p:ph type="title"/>
          </p:nvPr>
        </p:nvSpPr>
        <p:spPr>
          <a:xfrm>
            <a:off x="838200" y="18255"/>
            <a:ext cx="10515600" cy="1325563"/>
          </a:xfrm>
        </p:spPr>
        <p:txBody>
          <a:bodyPr/>
          <a:lstStyle/>
          <a:p>
            <a:pPr algn="ctr"/>
            <a:r>
              <a:rPr lang="en-US" dirty="0">
                <a:highlight>
                  <a:srgbClr val="FFFF00"/>
                </a:highlight>
              </a:rPr>
              <a:t>4. EXPANSE Modules</a:t>
            </a:r>
          </a:p>
        </p:txBody>
      </p:sp>
      <p:sp>
        <p:nvSpPr>
          <p:cNvPr id="3" name="Content Placeholder 2">
            <a:extLst>
              <a:ext uri="{FF2B5EF4-FFF2-40B4-BE49-F238E27FC236}">
                <a16:creationId xmlns:a16="http://schemas.microsoft.com/office/drawing/2014/main" id="{C14464AC-07B4-76C9-0E5E-6B98768A7E06}"/>
              </a:ext>
            </a:extLst>
          </p:cNvPr>
          <p:cNvSpPr>
            <a:spLocks noGrp="1"/>
          </p:cNvSpPr>
          <p:nvPr>
            <p:ph idx="1"/>
          </p:nvPr>
        </p:nvSpPr>
        <p:spPr>
          <a:xfrm>
            <a:off x="838200" y="1343818"/>
            <a:ext cx="10515600" cy="4833145"/>
          </a:xfrm>
        </p:spPr>
        <p:txBody>
          <a:bodyPr>
            <a:normAutofit fontScale="62500" lnSpcReduction="20000"/>
          </a:bodyPr>
          <a:lstStyle/>
          <a:p>
            <a:pPr marL="0" indent="0" algn="l">
              <a:buNone/>
            </a:pPr>
            <a:r>
              <a:rPr lang="en-US" dirty="0">
                <a:solidFill>
                  <a:srgbClr val="2D3B45"/>
                </a:solidFill>
                <a:highlight>
                  <a:srgbClr val="FFFFFF"/>
                </a:highlight>
                <a:latin typeface="Lato Extended"/>
              </a:rPr>
              <a:t>Look at the modules available</a:t>
            </a:r>
          </a:p>
          <a:p>
            <a:pPr marL="0" indent="0" algn="l">
              <a:buNone/>
            </a:pPr>
            <a:endParaRPr lang="en-US" b="0" i="0" dirty="0">
              <a:solidFill>
                <a:srgbClr val="2D3B45"/>
              </a:solidFill>
              <a:effectLst/>
              <a:highlight>
                <a:srgbClr val="FFFFFF"/>
              </a:highlight>
              <a:latin typeface="Lato Extended"/>
            </a:endParaRPr>
          </a:p>
          <a:p>
            <a:pPr marL="0" indent="0" algn="l">
              <a:buNone/>
            </a:pPr>
            <a:r>
              <a:rPr lang="en-US" b="1" i="0" dirty="0">
                <a:solidFill>
                  <a:srgbClr val="2D3B45"/>
                </a:solidFill>
                <a:effectLst/>
                <a:highlight>
                  <a:srgbClr val="FFFFFF"/>
                </a:highlight>
                <a:latin typeface="Lato Extended"/>
              </a:rPr>
              <a:t>$ module avail</a:t>
            </a:r>
          </a:p>
          <a:p>
            <a:pPr marL="0" indent="0" algn="l">
              <a:buNone/>
            </a:pPr>
            <a:endParaRPr lang="en-US" b="1" i="0" dirty="0">
              <a:solidFill>
                <a:srgbClr val="2D3B45"/>
              </a:solidFill>
              <a:effectLst/>
              <a:highlight>
                <a:srgbClr val="FFFFFF"/>
              </a:highlight>
              <a:latin typeface="Lato Extended"/>
            </a:endParaRPr>
          </a:p>
          <a:p>
            <a:pPr marL="0" indent="0" algn="l">
              <a:buNone/>
            </a:pPr>
            <a:r>
              <a:rPr lang="en-US" b="0" i="0" dirty="0">
                <a:solidFill>
                  <a:srgbClr val="2D3B45"/>
                </a:solidFill>
                <a:effectLst/>
                <a:highlight>
                  <a:srgbClr val="FFFFFF"/>
                </a:highlight>
                <a:latin typeface="Lato Extended"/>
              </a:rPr>
              <a:t>You can use "module load" to load python.</a:t>
            </a:r>
          </a:p>
          <a:p>
            <a:pPr marL="0" indent="0" algn="l">
              <a:buNone/>
            </a:pPr>
            <a:endParaRPr lang="en-US" b="0" i="0" dirty="0">
              <a:solidFill>
                <a:srgbClr val="2D3B45"/>
              </a:solidFill>
              <a:effectLst/>
              <a:highlight>
                <a:srgbClr val="FFFFFF"/>
              </a:highlight>
              <a:latin typeface="Lato Extended"/>
            </a:endParaRPr>
          </a:p>
          <a:p>
            <a:pPr marL="0" indent="0" algn="l">
              <a:buNone/>
            </a:pPr>
            <a:r>
              <a:rPr lang="en-US" b="1" i="1" dirty="0">
                <a:solidFill>
                  <a:srgbClr val="2D3B45"/>
                </a:solidFill>
                <a:effectLst/>
                <a:highlight>
                  <a:srgbClr val="FFFFFF"/>
                </a:highlight>
                <a:latin typeface="Lato Extended"/>
              </a:rPr>
              <a:t>$ module load python3</a:t>
            </a:r>
          </a:p>
          <a:p>
            <a:pPr marL="0" indent="0" algn="l">
              <a:buNone/>
            </a:pPr>
            <a:endParaRPr lang="en-US" b="1" i="0" dirty="0">
              <a:solidFill>
                <a:srgbClr val="2D3B45"/>
              </a:solidFill>
              <a:effectLst/>
              <a:highlight>
                <a:srgbClr val="FFFFFF"/>
              </a:highlight>
              <a:latin typeface="Lato Extended"/>
            </a:endParaRPr>
          </a:p>
          <a:p>
            <a:pPr marL="0" indent="0" algn="l">
              <a:buNone/>
            </a:pPr>
            <a:r>
              <a:rPr lang="en-US" b="0" i="0" dirty="0">
                <a:solidFill>
                  <a:srgbClr val="2D3B45"/>
                </a:solidFill>
                <a:effectLst/>
                <a:highlight>
                  <a:srgbClr val="FFFFFF"/>
                </a:highlight>
                <a:latin typeface="Lato Extended"/>
              </a:rPr>
              <a:t>Module command set, change or delete environment variables. They let the users choose between different versions of the same software. Use the command below to check all versions of python available. </a:t>
            </a:r>
          </a:p>
          <a:p>
            <a:pPr marL="0" indent="0" algn="l">
              <a:buNone/>
            </a:pPr>
            <a:endParaRPr lang="en-US" b="0" i="0" dirty="0">
              <a:solidFill>
                <a:srgbClr val="2D3B45"/>
              </a:solidFill>
              <a:effectLst/>
              <a:highlight>
                <a:srgbClr val="FFFFFF"/>
              </a:highlight>
              <a:latin typeface="Lato Extended"/>
            </a:endParaRPr>
          </a:p>
          <a:p>
            <a:pPr marL="0" indent="0" algn="l">
              <a:buNone/>
            </a:pPr>
            <a:r>
              <a:rPr lang="en-US" dirty="0">
                <a:solidFill>
                  <a:srgbClr val="2D3B45"/>
                </a:solidFill>
                <a:highlight>
                  <a:srgbClr val="FFFFFF"/>
                </a:highlight>
                <a:latin typeface="Lato Extended"/>
              </a:rPr>
              <a:t>‘spider’ command gives more information for loading a particular module</a:t>
            </a:r>
          </a:p>
          <a:p>
            <a:pPr marL="0" indent="0" algn="l">
              <a:buNone/>
            </a:pPr>
            <a:endParaRPr lang="en-US" b="0" i="0" dirty="0">
              <a:solidFill>
                <a:srgbClr val="2D3B45"/>
              </a:solidFill>
              <a:effectLst/>
              <a:highlight>
                <a:srgbClr val="FFFFFF"/>
              </a:highlight>
              <a:latin typeface="Lato Extended"/>
            </a:endParaRPr>
          </a:p>
          <a:p>
            <a:pPr marL="0" indent="0" algn="l">
              <a:buNone/>
            </a:pPr>
            <a:r>
              <a:rPr lang="en-US" b="1" i="1" dirty="0">
                <a:solidFill>
                  <a:srgbClr val="2D3B45"/>
                </a:solidFill>
                <a:effectLst/>
                <a:highlight>
                  <a:srgbClr val="FFFFFF"/>
                </a:highlight>
                <a:latin typeface="Lato Extended"/>
              </a:rPr>
              <a:t>$module spider python</a:t>
            </a:r>
            <a:br>
              <a:rPr lang="en-US" dirty="0"/>
            </a:br>
            <a:endParaRPr lang="en-US" dirty="0"/>
          </a:p>
        </p:txBody>
      </p:sp>
    </p:spTree>
    <p:extLst>
      <p:ext uri="{BB962C8B-B14F-4D97-AF65-F5344CB8AC3E}">
        <p14:creationId xmlns:p14="http://schemas.microsoft.com/office/powerpoint/2010/main" val="3801844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22A1F-9FBD-6270-0896-41413992549C}"/>
              </a:ext>
            </a:extLst>
          </p:cNvPr>
          <p:cNvSpPr>
            <a:spLocks noGrp="1"/>
          </p:cNvSpPr>
          <p:nvPr>
            <p:ph type="title"/>
          </p:nvPr>
        </p:nvSpPr>
        <p:spPr>
          <a:xfrm>
            <a:off x="838200" y="34385"/>
            <a:ext cx="10515600" cy="1325563"/>
          </a:xfrm>
        </p:spPr>
        <p:txBody>
          <a:bodyPr/>
          <a:lstStyle/>
          <a:p>
            <a:pPr algn="ctr"/>
            <a:r>
              <a:rPr lang="en-US" dirty="0"/>
              <a:t>5. File transfer to/from EXPANSE</a:t>
            </a:r>
          </a:p>
        </p:txBody>
      </p:sp>
      <p:sp>
        <p:nvSpPr>
          <p:cNvPr id="3" name="Content Placeholder 2">
            <a:extLst>
              <a:ext uri="{FF2B5EF4-FFF2-40B4-BE49-F238E27FC236}">
                <a16:creationId xmlns:a16="http://schemas.microsoft.com/office/drawing/2014/main" id="{CBF4E323-B744-4762-6F61-C3A6BCE99B3C}"/>
              </a:ext>
            </a:extLst>
          </p:cNvPr>
          <p:cNvSpPr>
            <a:spLocks noGrp="1"/>
          </p:cNvSpPr>
          <p:nvPr>
            <p:ph idx="1"/>
          </p:nvPr>
        </p:nvSpPr>
        <p:spPr>
          <a:xfrm>
            <a:off x="408562" y="1167319"/>
            <a:ext cx="11361906" cy="5325556"/>
          </a:xfrm>
        </p:spPr>
        <p:txBody>
          <a:bodyPr>
            <a:normAutofit fontScale="77500" lnSpcReduction="20000"/>
          </a:bodyPr>
          <a:lstStyle/>
          <a:p>
            <a:pPr marL="0" indent="0">
              <a:buNone/>
            </a:pPr>
            <a:r>
              <a:rPr lang="en-US" b="1" u="sng" dirty="0"/>
              <a:t>GitHub</a:t>
            </a:r>
            <a:r>
              <a:rPr lang="en-US" dirty="0"/>
              <a:t> </a:t>
            </a:r>
          </a:p>
          <a:p>
            <a:pPr marL="0" indent="0">
              <a:buNone/>
            </a:pPr>
            <a:r>
              <a:rPr lang="en-US" dirty="0"/>
              <a:t>	Pros – ideal to preserve code &amp; files against purge</a:t>
            </a:r>
          </a:p>
          <a:p>
            <a:pPr marL="0" indent="0">
              <a:buNone/>
            </a:pPr>
            <a:r>
              <a:rPr lang="en-US" dirty="0"/>
              <a:t>	Cons – sometimes issue push/pulling with EXPANSE</a:t>
            </a:r>
          </a:p>
          <a:p>
            <a:pPr marL="0" indent="0">
              <a:buNone/>
            </a:pPr>
            <a:endParaRPr lang="en-US" b="1" u="sng" dirty="0"/>
          </a:p>
          <a:p>
            <a:pPr marL="0" indent="0">
              <a:buNone/>
            </a:pPr>
            <a:r>
              <a:rPr lang="en-US" b="1" u="sng" dirty="0"/>
              <a:t>Globus</a:t>
            </a:r>
          </a:p>
          <a:p>
            <a:pPr marL="0" indent="0">
              <a:buNone/>
            </a:pPr>
            <a:r>
              <a:rPr lang="en-US" dirty="0"/>
              <a:t>	Pros – Recommended file-transfer system by ACCESS/EXPANSE 	managers</a:t>
            </a:r>
          </a:p>
          <a:p>
            <a:pPr marL="0" indent="0">
              <a:buNone/>
            </a:pPr>
            <a:r>
              <a:rPr lang="en-US" dirty="0"/>
              <a:t>	Cons – Connectivity issues &amp; complex setup (time-consuming)</a:t>
            </a:r>
          </a:p>
          <a:p>
            <a:pPr marL="0" indent="0">
              <a:buNone/>
            </a:pPr>
            <a:endParaRPr lang="en-US" b="1" u="sng" dirty="0"/>
          </a:p>
          <a:p>
            <a:pPr marL="0" indent="0">
              <a:buNone/>
            </a:pPr>
            <a:r>
              <a:rPr lang="en-US" b="1" u="sng" dirty="0"/>
              <a:t>Other options include: </a:t>
            </a:r>
          </a:p>
          <a:p>
            <a:pPr marL="0" indent="0">
              <a:buNone/>
            </a:pPr>
            <a:endParaRPr lang="en-US" b="1" u="sng" dirty="0"/>
          </a:p>
          <a:p>
            <a:pPr marL="0" indent="0">
              <a:buNone/>
            </a:pPr>
            <a:r>
              <a:rPr lang="en-US" b="1" dirty="0"/>
              <a:t>FileZilla – </a:t>
            </a:r>
            <a:r>
              <a:rPr lang="en-US" dirty="0"/>
              <a:t>alternative to Globus</a:t>
            </a:r>
          </a:p>
          <a:p>
            <a:pPr marL="0" indent="0">
              <a:buNone/>
            </a:pPr>
            <a:endParaRPr lang="en-US" b="1" dirty="0"/>
          </a:p>
          <a:p>
            <a:pPr marL="0" indent="0">
              <a:buNone/>
            </a:pPr>
            <a:r>
              <a:rPr lang="en-US" b="1" dirty="0"/>
              <a:t>$ </a:t>
            </a:r>
            <a:r>
              <a:rPr lang="en-US" b="1" dirty="0" err="1"/>
              <a:t>scp</a:t>
            </a:r>
            <a:r>
              <a:rPr lang="en-US" b="1" dirty="0"/>
              <a:t> </a:t>
            </a:r>
            <a:r>
              <a:rPr lang="en-US" dirty="0"/>
              <a:t>to/from a local device (</a:t>
            </a:r>
            <a:r>
              <a:rPr lang="en-US" dirty="0" err="1"/>
              <a:t>ie</a:t>
            </a:r>
            <a:r>
              <a:rPr lang="en-US" dirty="0"/>
              <a:t> pull from Expanse using local)</a:t>
            </a:r>
          </a:p>
          <a:p>
            <a:pPr marL="0" indent="0" algn="ctr">
              <a:buNone/>
            </a:pPr>
            <a:r>
              <a:rPr lang="en-US" sz="2000" b="1" dirty="0" err="1">
                <a:solidFill>
                  <a:srgbClr val="000000"/>
                </a:solidFill>
                <a:effectLst/>
                <a:latin typeface="Calibri" panose="020F0502020204030204" pitchFamily="34" charset="0"/>
              </a:rPr>
              <a:t>scp</a:t>
            </a:r>
            <a:r>
              <a:rPr lang="en-US" sz="2000" b="1" dirty="0">
                <a:solidFill>
                  <a:srgbClr val="000000"/>
                </a:solidFill>
                <a:effectLst/>
                <a:latin typeface="Calibri" panose="020F0502020204030204" pitchFamily="34" charset="0"/>
              </a:rPr>
              <a:t> -r [$</a:t>
            </a:r>
            <a:r>
              <a:rPr lang="en-US" sz="2000" b="1" dirty="0" err="1">
                <a:solidFill>
                  <a:srgbClr val="000000"/>
                </a:solidFill>
                <a:effectLst/>
                <a:latin typeface="Calibri" panose="020F0502020204030204" pitchFamily="34" charset="0"/>
              </a:rPr>
              <a:t>USERNAME@login.expanse.sdsc.edu</a:t>
            </a:r>
            <a:r>
              <a:rPr lang="en-US" sz="2000" b="1" dirty="0">
                <a:solidFill>
                  <a:srgbClr val="000000"/>
                </a:solidFill>
                <a:effectLst/>
                <a:latin typeface="Calibri" panose="020F0502020204030204" pitchFamily="34" charset="0"/>
              </a:rPr>
              <a:t>:/expanse/</a:t>
            </a:r>
            <a:r>
              <a:rPr lang="en-US" sz="2000" b="1" dirty="0" err="1">
                <a:solidFill>
                  <a:srgbClr val="000000"/>
                </a:solidFill>
                <a:effectLst/>
                <a:latin typeface="Calibri" panose="020F0502020204030204" pitchFamily="34" charset="0"/>
              </a:rPr>
              <a:t>lustre</a:t>
            </a:r>
            <a:r>
              <a:rPr lang="en-US" sz="2000" b="1" dirty="0">
                <a:solidFill>
                  <a:srgbClr val="000000"/>
                </a:solidFill>
                <a:effectLst/>
                <a:latin typeface="Calibri" panose="020F0502020204030204" pitchFamily="34" charset="0"/>
              </a:rPr>
              <a:t>/projects/]  [</a:t>
            </a:r>
            <a:r>
              <a:rPr lang="en-US" sz="2000" b="1" dirty="0">
                <a:solidFill>
                  <a:srgbClr val="000000"/>
                </a:solidFill>
                <a:latin typeface="Calibri" panose="020F0502020204030204" pitchFamily="34" charset="0"/>
              </a:rPr>
              <a:t>local/directory/path]</a:t>
            </a:r>
            <a:endParaRPr lang="en-US" dirty="0"/>
          </a:p>
          <a:p>
            <a:pPr lvl="1"/>
            <a:endParaRPr lang="en-US" dirty="0"/>
          </a:p>
          <a:p>
            <a:endParaRPr lang="en-US" dirty="0"/>
          </a:p>
        </p:txBody>
      </p:sp>
    </p:spTree>
    <p:extLst>
      <p:ext uri="{BB962C8B-B14F-4D97-AF65-F5344CB8AC3E}">
        <p14:creationId xmlns:p14="http://schemas.microsoft.com/office/powerpoint/2010/main" val="3693659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3F90A-E856-99A0-54F0-833DD6F4583C}"/>
              </a:ext>
            </a:extLst>
          </p:cNvPr>
          <p:cNvSpPr>
            <a:spLocks noGrp="1"/>
          </p:cNvSpPr>
          <p:nvPr>
            <p:ph type="ctrTitle"/>
          </p:nvPr>
        </p:nvSpPr>
        <p:spPr/>
        <p:txBody>
          <a:bodyPr/>
          <a:lstStyle/>
          <a:p>
            <a:r>
              <a:rPr lang="en-US" dirty="0"/>
              <a:t>Introduction to GitHub</a:t>
            </a:r>
          </a:p>
        </p:txBody>
      </p:sp>
      <p:sp>
        <p:nvSpPr>
          <p:cNvPr id="3" name="Subtitle 2">
            <a:extLst>
              <a:ext uri="{FF2B5EF4-FFF2-40B4-BE49-F238E27FC236}">
                <a16:creationId xmlns:a16="http://schemas.microsoft.com/office/drawing/2014/main" id="{BABEADC1-6530-0AFF-08F5-81E3E6D3EEAD}"/>
              </a:ext>
            </a:extLst>
          </p:cNvPr>
          <p:cNvSpPr>
            <a:spLocks noGrp="1"/>
          </p:cNvSpPr>
          <p:nvPr>
            <p:ph type="subTitle" idx="1"/>
          </p:nvPr>
        </p:nvSpPr>
        <p:spPr/>
        <p:txBody>
          <a:bodyPr/>
          <a:lstStyle/>
          <a:p>
            <a:r>
              <a:rPr lang="en-US" dirty="0"/>
              <a:t>Katy Boot &amp; Qianqian Liu</a:t>
            </a:r>
          </a:p>
          <a:p>
            <a:r>
              <a:rPr lang="en-US" dirty="0"/>
              <a:t>Cyberinfrastructure Training 2024</a:t>
            </a:r>
          </a:p>
        </p:txBody>
      </p:sp>
    </p:spTree>
    <p:extLst>
      <p:ext uri="{BB962C8B-B14F-4D97-AF65-F5344CB8AC3E}">
        <p14:creationId xmlns:p14="http://schemas.microsoft.com/office/powerpoint/2010/main" val="4166021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59397-A219-CF66-897B-B68767F2A2E8}"/>
              </a:ext>
            </a:extLst>
          </p:cNvPr>
          <p:cNvSpPr>
            <a:spLocks noGrp="1"/>
          </p:cNvSpPr>
          <p:nvPr>
            <p:ph type="title"/>
          </p:nvPr>
        </p:nvSpPr>
        <p:spPr/>
        <p:txBody>
          <a:bodyPr/>
          <a:lstStyle/>
          <a:p>
            <a:r>
              <a:rPr lang="en-US" sz="4400" dirty="0"/>
              <a:t>What is GitHub? </a:t>
            </a:r>
            <a:br>
              <a:rPr lang="en-US" sz="4400" dirty="0"/>
            </a:br>
            <a:endParaRPr lang="en-US" dirty="0"/>
          </a:p>
        </p:txBody>
      </p:sp>
      <p:sp>
        <p:nvSpPr>
          <p:cNvPr id="3" name="Content Placeholder 2">
            <a:extLst>
              <a:ext uri="{FF2B5EF4-FFF2-40B4-BE49-F238E27FC236}">
                <a16:creationId xmlns:a16="http://schemas.microsoft.com/office/drawing/2014/main" id="{0D9B671F-DDE4-B1A5-9E7F-96902E12CA4F}"/>
              </a:ext>
            </a:extLst>
          </p:cNvPr>
          <p:cNvSpPr>
            <a:spLocks noGrp="1"/>
          </p:cNvSpPr>
          <p:nvPr>
            <p:ph idx="1"/>
          </p:nvPr>
        </p:nvSpPr>
        <p:spPr>
          <a:xfrm>
            <a:off x="536448" y="1328928"/>
            <a:ext cx="6669024" cy="4848035"/>
          </a:xfrm>
        </p:spPr>
        <p:txBody>
          <a:bodyPr>
            <a:normAutofit/>
          </a:bodyPr>
          <a:lstStyle/>
          <a:p>
            <a:r>
              <a:rPr lang="en-US" b="0" i="0" dirty="0">
                <a:solidFill>
                  <a:srgbClr val="1F2328"/>
                </a:solidFill>
                <a:effectLst/>
                <a:highlight>
                  <a:srgbClr val="FFFFFF"/>
                </a:highlight>
                <a:latin typeface="-apple-system"/>
              </a:rPr>
              <a:t>Cloud-based, open-source platform</a:t>
            </a:r>
          </a:p>
          <a:p>
            <a:r>
              <a:rPr lang="en-US" dirty="0">
                <a:solidFill>
                  <a:srgbClr val="1F2328"/>
                </a:solidFill>
                <a:highlight>
                  <a:srgbClr val="FFFFFF"/>
                </a:highlight>
                <a:latin typeface="-apple-system"/>
              </a:rPr>
              <a:t>S</a:t>
            </a:r>
            <a:r>
              <a:rPr lang="en-US" b="0" i="0" dirty="0">
                <a:solidFill>
                  <a:srgbClr val="1F2328"/>
                </a:solidFill>
                <a:effectLst/>
                <a:highlight>
                  <a:srgbClr val="FFFFFF"/>
                </a:highlight>
                <a:latin typeface="-apple-system"/>
              </a:rPr>
              <a:t>tore, share, and write ANY code and data</a:t>
            </a:r>
          </a:p>
          <a:p>
            <a:r>
              <a:rPr lang="en-US" b="0" i="0" dirty="0">
                <a:solidFill>
                  <a:srgbClr val="1F2328"/>
                </a:solidFill>
                <a:effectLst/>
                <a:highlight>
                  <a:srgbClr val="FFFFFF"/>
                </a:highlight>
                <a:latin typeface="-apple-system"/>
              </a:rPr>
              <a:t>Project collaboration</a:t>
            </a:r>
          </a:p>
          <a:p>
            <a:r>
              <a:rPr lang="en-US" dirty="0">
                <a:highlight>
                  <a:srgbClr val="FFFFFF"/>
                </a:highlight>
                <a:latin typeface="-apple-system"/>
              </a:rPr>
              <a:t>Limited file storage &amp; transfer limits </a:t>
            </a:r>
          </a:p>
          <a:p>
            <a:pPr lvl="1"/>
            <a:r>
              <a:rPr lang="en-US" dirty="0">
                <a:highlight>
                  <a:srgbClr val="FFFFFF"/>
                </a:highlight>
                <a:latin typeface="-apple-system"/>
              </a:rPr>
              <a:t>2 GB max file size storage</a:t>
            </a:r>
          </a:p>
          <a:p>
            <a:pPr lvl="1"/>
            <a:r>
              <a:rPr lang="en-US" b="0" i="0" dirty="0">
                <a:effectLst/>
                <a:highlight>
                  <a:srgbClr val="FFFFFF"/>
                </a:highlight>
                <a:latin typeface="Google Sans"/>
              </a:rPr>
              <a:t>50 MiB max transfer limit</a:t>
            </a:r>
          </a:p>
          <a:p>
            <a:pPr lvl="1"/>
            <a:endParaRPr lang="en-US" dirty="0">
              <a:highlight>
                <a:srgbClr val="FFFFFF"/>
              </a:highlight>
              <a:latin typeface="Google Sans"/>
            </a:endParaRPr>
          </a:p>
          <a:p>
            <a:pPr marL="0" indent="0">
              <a:buNone/>
            </a:pPr>
            <a:endParaRPr lang="en-US" dirty="0">
              <a:highlight>
                <a:srgbClr val="FFFFFF"/>
              </a:highlight>
              <a:latin typeface="Google Sans"/>
            </a:endParaRPr>
          </a:p>
          <a:p>
            <a:pPr marL="0" indent="0">
              <a:buNone/>
            </a:pPr>
            <a:r>
              <a:rPr lang="en-US" dirty="0">
                <a:highlight>
                  <a:srgbClr val="FFFFFF"/>
                </a:highlight>
                <a:latin typeface="Google Sans"/>
              </a:rPr>
              <a:t>Project Repository </a:t>
            </a:r>
            <a:r>
              <a:rPr lang="en-US" b="1" dirty="0">
                <a:highlight>
                  <a:srgbClr val="FFFFFF"/>
                </a:highlight>
                <a:latin typeface="Google Sans"/>
              </a:rPr>
              <a:t>Version Control</a:t>
            </a:r>
          </a:p>
          <a:p>
            <a:pPr lvl="1"/>
            <a:endParaRPr lang="en-US" b="0" i="0" dirty="0">
              <a:solidFill>
                <a:srgbClr val="1F2328"/>
              </a:solidFill>
              <a:effectLst/>
              <a:highlight>
                <a:srgbClr val="FFFFFF"/>
              </a:highlight>
              <a:latin typeface="-apple-system"/>
            </a:endParaRPr>
          </a:p>
          <a:p>
            <a:endParaRPr lang="en-US" dirty="0"/>
          </a:p>
          <a:p>
            <a:endParaRPr lang="en-US" dirty="0"/>
          </a:p>
        </p:txBody>
      </p:sp>
      <p:graphicFrame>
        <p:nvGraphicFramePr>
          <p:cNvPr id="7" name="Diagram 6">
            <a:extLst>
              <a:ext uri="{FF2B5EF4-FFF2-40B4-BE49-F238E27FC236}">
                <a16:creationId xmlns:a16="http://schemas.microsoft.com/office/drawing/2014/main" id="{E3B39263-1014-8309-D128-BE9A8D0F78EF}"/>
              </a:ext>
            </a:extLst>
          </p:cNvPr>
          <p:cNvGraphicFramePr/>
          <p:nvPr>
            <p:extLst>
              <p:ext uri="{D42A27DB-BD31-4B8C-83A1-F6EECF244321}">
                <p14:modId xmlns:p14="http://schemas.microsoft.com/office/powerpoint/2010/main" val="2540670999"/>
              </p:ext>
            </p:extLst>
          </p:nvPr>
        </p:nvGraphicFramePr>
        <p:xfrm>
          <a:off x="12192000" y="274320"/>
          <a:ext cx="4344416" cy="6583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FC863356-0959-645A-3B1C-D6C45EACC5DE}"/>
              </a:ext>
            </a:extLst>
          </p:cNvPr>
          <p:cNvSpPr txBox="1"/>
          <p:nvPr/>
        </p:nvSpPr>
        <p:spPr>
          <a:xfrm>
            <a:off x="7285864" y="656525"/>
            <a:ext cx="4073462" cy="2031325"/>
          </a:xfrm>
          <a:prstGeom prst="rect">
            <a:avLst/>
          </a:prstGeom>
          <a:noFill/>
        </p:spPr>
        <p:txBody>
          <a:bodyPr wrap="square" rtlCol="0">
            <a:spAutoFit/>
          </a:bodyPr>
          <a:lstStyle/>
          <a:p>
            <a:pPr algn="ctr"/>
            <a:r>
              <a:rPr lang="en-US" dirty="0"/>
              <a:t>Code</a:t>
            </a:r>
          </a:p>
          <a:p>
            <a:pPr algn="ctr"/>
            <a:r>
              <a:rPr lang="en-US" dirty="0"/>
              <a:t>Documents</a:t>
            </a:r>
          </a:p>
          <a:p>
            <a:pPr algn="ctr"/>
            <a:r>
              <a:rPr lang="en-US" dirty="0"/>
              <a:t>Data</a:t>
            </a:r>
          </a:p>
          <a:p>
            <a:pPr algn="ctr"/>
            <a:r>
              <a:rPr lang="en-US" dirty="0"/>
              <a:t>File storage</a:t>
            </a:r>
          </a:p>
          <a:p>
            <a:pPr algn="ctr"/>
            <a:r>
              <a:rPr lang="en-US" dirty="0"/>
              <a:t>Figures</a:t>
            </a:r>
          </a:p>
          <a:p>
            <a:pPr algn="ctr"/>
            <a:r>
              <a:rPr lang="en-US" dirty="0"/>
              <a:t>Etc.</a:t>
            </a:r>
          </a:p>
          <a:p>
            <a:pPr algn="ctr"/>
            <a:endParaRPr lang="en-US" dirty="0"/>
          </a:p>
        </p:txBody>
      </p:sp>
      <p:pic>
        <p:nvPicPr>
          <p:cNvPr id="10" name="Picture 9">
            <a:extLst>
              <a:ext uri="{FF2B5EF4-FFF2-40B4-BE49-F238E27FC236}">
                <a16:creationId xmlns:a16="http://schemas.microsoft.com/office/drawing/2014/main" id="{9DA5F7A2-620F-9FBA-6D85-6040B81D6E8A}"/>
              </a:ext>
            </a:extLst>
          </p:cNvPr>
          <p:cNvPicPr>
            <a:picLocks noChangeAspect="1"/>
          </p:cNvPicPr>
          <p:nvPr/>
        </p:nvPicPr>
        <p:blipFill>
          <a:blip r:embed="rId7"/>
          <a:stretch>
            <a:fillRect/>
          </a:stretch>
        </p:blipFill>
        <p:spPr>
          <a:xfrm>
            <a:off x="7073265" y="3335741"/>
            <a:ext cx="4280535" cy="2193331"/>
          </a:xfrm>
          <a:prstGeom prst="rect">
            <a:avLst/>
          </a:prstGeom>
        </p:spPr>
      </p:pic>
    </p:spTree>
    <p:extLst>
      <p:ext uri="{BB962C8B-B14F-4D97-AF65-F5344CB8AC3E}">
        <p14:creationId xmlns:p14="http://schemas.microsoft.com/office/powerpoint/2010/main" val="620915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3C3BE-73B6-7816-18B3-3102199D2B4B}"/>
              </a:ext>
            </a:extLst>
          </p:cNvPr>
          <p:cNvSpPr>
            <a:spLocks noGrp="1"/>
          </p:cNvSpPr>
          <p:nvPr>
            <p:ph type="title"/>
          </p:nvPr>
        </p:nvSpPr>
        <p:spPr>
          <a:xfrm>
            <a:off x="838200" y="377952"/>
            <a:ext cx="10515600" cy="965866"/>
          </a:xfrm>
        </p:spPr>
        <p:txBody>
          <a:bodyPr>
            <a:normAutofit/>
          </a:bodyPr>
          <a:lstStyle/>
          <a:p>
            <a:pPr algn="ctr"/>
            <a:r>
              <a:rPr lang="en-US" sz="4400" dirty="0"/>
              <a:t>What are the benefits?</a:t>
            </a:r>
            <a:endParaRPr lang="en-US" dirty="0"/>
          </a:p>
        </p:txBody>
      </p:sp>
      <p:sp>
        <p:nvSpPr>
          <p:cNvPr id="3" name="Content Placeholder 2">
            <a:extLst>
              <a:ext uri="{FF2B5EF4-FFF2-40B4-BE49-F238E27FC236}">
                <a16:creationId xmlns:a16="http://schemas.microsoft.com/office/drawing/2014/main" id="{3D0D5A4E-1BA3-788F-F11B-F7859ED3BD8F}"/>
              </a:ext>
            </a:extLst>
          </p:cNvPr>
          <p:cNvSpPr>
            <a:spLocks noGrp="1"/>
          </p:cNvSpPr>
          <p:nvPr>
            <p:ph idx="1"/>
          </p:nvPr>
        </p:nvSpPr>
        <p:spPr>
          <a:xfrm>
            <a:off x="1" y="1343818"/>
            <a:ext cx="5835776" cy="4833145"/>
          </a:xfrm>
        </p:spPr>
        <p:txBody>
          <a:bodyPr>
            <a:normAutofit lnSpcReduction="10000"/>
          </a:bodyPr>
          <a:lstStyle/>
          <a:p>
            <a:pPr marL="0" indent="0">
              <a:buNone/>
            </a:pPr>
            <a:endParaRPr lang="en-US" dirty="0">
              <a:highlight>
                <a:srgbClr val="FFFFFF"/>
              </a:highlight>
              <a:latin typeface="Google Sans"/>
            </a:endParaRPr>
          </a:p>
          <a:p>
            <a:pPr lvl="1"/>
            <a:r>
              <a:rPr lang="en-US" b="1" i="0" dirty="0">
                <a:solidFill>
                  <a:srgbClr val="1F2328"/>
                </a:solidFill>
                <a:effectLst/>
                <a:highlight>
                  <a:srgbClr val="FFFFFF"/>
                </a:highlight>
                <a:latin typeface="-apple-system"/>
              </a:rPr>
              <a:t>Track and manage </a:t>
            </a:r>
            <a:r>
              <a:rPr lang="en-US" i="0" dirty="0">
                <a:solidFill>
                  <a:srgbClr val="1F2328"/>
                </a:solidFill>
                <a:effectLst/>
                <a:highlight>
                  <a:srgbClr val="FFFFFF"/>
                </a:highlight>
                <a:latin typeface="-apple-system"/>
              </a:rPr>
              <a:t>file</a:t>
            </a:r>
            <a:r>
              <a:rPr lang="en-US" b="0" i="0" dirty="0">
                <a:solidFill>
                  <a:srgbClr val="1F2328"/>
                </a:solidFill>
                <a:effectLst/>
                <a:highlight>
                  <a:srgbClr val="FFFFFF"/>
                </a:highlight>
                <a:latin typeface="-apple-system"/>
              </a:rPr>
              <a:t> changes over time</a:t>
            </a:r>
          </a:p>
          <a:p>
            <a:pPr lvl="1"/>
            <a:endParaRPr lang="en-US" dirty="0">
              <a:solidFill>
                <a:srgbClr val="1F2328"/>
              </a:solidFill>
              <a:highlight>
                <a:srgbClr val="FFFFFF"/>
              </a:highlight>
              <a:latin typeface="-apple-system"/>
            </a:endParaRPr>
          </a:p>
          <a:p>
            <a:pPr lvl="1"/>
            <a:r>
              <a:rPr lang="en-US" b="1" i="0" dirty="0">
                <a:solidFill>
                  <a:srgbClr val="1F2328"/>
                </a:solidFill>
                <a:effectLst/>
                <a:highlight>
                  <a:srgbClr val="FFFFFF"/>
                </a:highlight>
                <a:latin typeface="-apple-system"/>
              </a:rPr>
              <a:t>Branch</a:t>
            </a:r>
            <a:r>
              <a:rPr lang="en-US" b="0" i="0" dirty="0">
                <a:solidFill>
                  <a:srgbClr val="1F2328"/>
                </a:solidFill>
                <a:effectLst/>
                <a:highlight>
                  <a:srgbClr val="FFFFFF"/>
                </a:highlight>
                <a:latin typeface="-apple-system"/>
              </a:rPr>
              <a:t> projects and utilize </a:t>
            </a:r>
            <a:r>
              <a:rPr lang="en-US" b="1" i="0" dirty="0">
                <a:solidFill>
                  <a:srgbClr val="1F2328"/>
                </a:solidFill>
                <a:effectLst/>
                <a:highlight>
                  <a:srgbClr val="FFFFFF"/>
                </a:highlight>
                <a:latin typeface="-apple-system"/>
              </a:rPr>
              <a:t>version control </a:t>
            </a:r>
            <a:r>
              <a:rPr lang="en-US" b="0" i="0" dirty="0">
                <a:solidFill>
                  <a:srgbClr val="1F2328"/>
                </a:solidFill>
                <a:effectLst/>
                <a:highlight>
                  <a:srgbClr val="FFFFFF"/>
                </a:highlight>
                <a:latin typeface="-apple-system"/>
              </a:rPr>
              <a:t>for files</a:t>
            </a:r>
          </a:p>
          <a:p>
            <a:pPr marL="457200" lvl="1" indent="0">
              <a:buNone/>
            </a:pPr>
            <a:endParaRPr lang="en-US" b="0" i="0" dirty="0">
              <a:solidFill>
                <a:srgbClr val="1F2328"/>
              </a:solidFill>
              <a:effectLst/>
              <a:highlight>
                <a:srgbClr val="FFFFFF"/>
              </a:highlight>
              <a:latin typeface="-apple-system"/>
            </a:endParaRPr>
          </a:p>
          <a:p>
            <a:pPr lvl="1"/>
            <a:r>
              <a:rPr lang="en-US" b="1" dirty="0">
                <a:solidFill>
                  <a:srgbClr val="1F2328"/>
                </a:solidFill>
                <a:highlight>
                  <a:srgbClr val="FFFFFF"/>
                </a:highlight>
                <a:latin typeface="-apple-system"/>
              </a:rPr>
              <a:t>S</a:t>
            </a:r>
            <a:r>
              <a:rPr lang="en-US" b="1" i="0" dirty="0">
                <a:solidFill>
                  <a:srgbClr val="1F2328"/>
                </a:solidFill>
                <a:effectLst/>
                <a:highlight>
                  <a:srgbClr val="FFFFFF"/>
                </a:highlight>
                <a:latin typeface="-apple-system"/>
              </a:rPr>
              <a:t>hare</a:t>
            </a:r>
            <a:r>
              <a:rPr lang="en-US" b="0" i="0" dirty="0">
                <a:solidFill>
                  <a:srgbClr val="1F2328"/>
                </a:solidFill>
                <a:effectLst/>
                <a:highlight>
                  <a:srgbClr val="FFFFFF"/>
                </a:highlight>
                <a:latin typeface="-apple-system"/>
              </a:rPr>
              <a:t> project updates</a:t>
            </a:r>
          </a:p>
          <a:p>
            <a:pPr lvl="1"/>
            <a:endParaRPr lang="en-US" b="0" i="0" dirty="0">
              <a:solidFill>
                <a:srgbClr val="1F2328"/>
              </a:solidFill>
              <a:effectLst/>
              <a:highlight>
                <a:srgbClr val="FFFFFF"/>
              </a:highlight>
              <a:latin typeface="-apple-system"/>
            </a:endParaRPr>
          </a:p>
          <a:p>
            <a:pPr lvl="1"/>
            <a:r>
              <a:rPr lang="en-US" b="1" dirty="0">
                <a:solidFill>
                  <a:srgbClr val="1F2328"/>
                </a:solidFill>
                <a:highlight>
                  <a:srgbClr val="FFFFFF"/>
                </a:highlight>
                <a:latin typeface="-apple-system"/>
              </a:rPr>
              <a:t>Clone &amp; Customize</a:t>
            </a:r>
            <a:r>
              <a:rPr lang="en-US" dirty="0">
                <a:solidFill>
                  <a:srgbClr val="1F2328"/>
                </a:solidFill>
                <a:highlight>
                  <a:srgbClr val="FFFFFF"/>
                </a:highlight>
                <a:latin typeface="-apple-system"/>
              </a:rPr>
              <a:t> completed projects (</a:t>
            </a:r>
            <a:r>
              <a:rPr lang="en-US" dirty="0" err="1">
                <a:solidFill>
                  <a:srgbClr val="1F2328"/>
                </a:solidFill>
                <a:highlight>
                  <a:srgbClr val="FFFFFF"/>
                </a:highlight>
                <a:latin typeface="-apple-system"/>
              </a:rPr>
              <a:t>ie</a:t>
            </a:r>
            <a:r>
              <a:rPr lang="en-US" dirty="0">
                <a:solidFill>
                  <a:srgbClr val="1F2328"/>
                </a:solidFill>
                <a:highlight>
                  <a:srgbClr val="FFFFFF"/>
                </a:highlight>
                <a:latin typeface="-apple-system"/>
              </a:rPr>
              <a:t> </a:t>
            </a:r>
            <a:r>
              <a:rPr lang="en-US" dirty="0" err="1">
                <a:solidFill>
                  <a:srgbClr val="1F2328"/>
                </a:solidFill>
                <a:highlight>
                  <a:srgbClr val="FFFFFF"/>
                </a:highlight>
                <a:latin typeface="-apple-system"/>
              </a:rPr>
              <a:t>Zhengui’s</a:t>
            </a:r>
            <a:r>
              <a:rPr lang="en-US" dirty="0">
                <a:solidFill>
                  <a:srgbClr val="1F2328"/>
                </a:solidFill>
                <a:highlight>
                  <a:srgbClr val="FFFFFF"/>
                </a:highlight>
                <a:latin typeface="-apple-system"/>
              </a:rPr>
              <a:t> </a:t>
            </a:r>
            <a:r>
              <a:rPr lang="en-US" dirty="0" err="1">
                <a:solidFill>
                  <a:srgbClr val="1F2328"/>
                </a:solidFill>
                <a:highlight>
                  <a:srgbClr val="FFFFFF"/>
                </a:highlight>
                <a:latin typeface="-apple-system"/>
              </a:rPr>
              <a:t>Pylib</a:t>
            </a:r>
            <a:r>
              <a:rPr lang="en-US" dirty="0">
                <a:solidFill>
                  <a:srgbClr val="1F2328"/>
                </a:solidFill>
                <a:highlight>
                  <a:srgbClr val="FFFFFF"/>
                </a:highlight>
                <a:latin typeface="-apple-system"/>
              </a:rPr>
              <a:t> Library)</a:t>
            </a:r>
            <a:endParaRPr lang="en-US" b="0" i="0" dirty="0">
              <a:solidFill>
                <a:srgbClr val="1F2328"/>
              </a:solidFill>
              <a:effectLst/>
              <a:highlight>
                <a:srgbClr val="FFFFFF"/>
              </a:highlight>
              <a:latin typeface="-apple-system"/>
            </a:endParaRPr>
          </a:p>
          <a:p>
            <a:pPr marL="457200" lvl="1" indent="0">
              <a:buNone/>
            </a:pPr>
            <a:endParaRPr lang="en-US" b="0" i="0" dirty="0">
              <a:solidFill>
                <a:srgbClr val="1F2328"/>
              </a:solidFill>
              <a:effectLst/>
              <a:highlight>
                <a:srgbClr val="FFFFFF"/>
              </a:highlight>
              <a:latin typeface="-apple-system"/>
            </a:endParaRPr>
          </a:p>
          <a:p>
            <a:pPr lvl="1"/>
            <a:r>
              <a:rPr lang="en-US" b="1" i="0" dirty="0">
                <a:solidFill>
                  <a:srgbClr val="1F2328"/>
                </a:solidFill>
                <a:effectLst/>
                <a:highlight>
                  <a:srgbClr val="FFFFFF"/>
                </a:highlight>
                <a:latin typeface="-apple-system"/>
              </a:rPr>
              <a:t>Collaborate</a:t>
            </a:r>
            <a:r>
              <a:rPr lang="en-US" b="0" i="0" dirty="0">
                <a:solidFill>
                  <a:srgbClr val="1F2328"/>
                </a:solidFill>
                <a:effectLst/>
                <a:highlight>
                  <a:srgbClr val="FFFFFF"/>
                </a:highlight>
                <a:latin typeface="-apple-system"/>
              </a:rPr>
              <a:t> on a project, allowing individual and integrative file changes</a:t>
            </a:r>
          </a:p>
          <a:p>
            <a:pPr lvl="1"/>
            <a:endParaRPr lang="en-US" b="0" i="0" dirty="0">
              <a:solidFill>
                <a:srgbClr val="1F2328"/>
              </a:solidFill>
              <a:effectLst/>
              <a:highlight>
                <a:srgbClr val="FFFFFF"/>
              </a:highlight>
              <a:latin typeface="-apple-system"/>
            </a:endParaRPr>
          </a:p>
          <a:p>
            <a:endParaRPr lang="en-US" dirty="0"/>
          </a:p>
        </p:txBody>
      </p:sp>
      <p:pic>
        <p:nvPicPr>
          <p:cNvPr id="4" name="Picture 3">
            <a:extLst>
              <a:ext uri="{FF2B5EF4-FFF2-40B4-BE49-F238E27FC236}">
                <a16:creationId xmlns:a16="http://schemas.microsoft.com/office/drawing/2014/main" id="{960E6A00-C228-9AF2-CF1C-16B8B240D60B}"/>
              </a:ext>
            </a:extLst>
          </p:cNvPr>
          <p:cNvPicPr>
            <a:picLocks noChangeAspect="1"/>
          </p:cNvPicPr>
          <p:nvPr/>
        </p:nvPicPr>
        <p:blipFill>
          <a:blip r:embed="rId2"/>
          <a:stretch>
            <a:fillRect/>
          </a:stretch>
        </p:blipFill>
        <p:spPr>
          <a:xfrm>
            <a:off x="5835777" y="2732783"/>
            <a:ext cx="6071235" cy="2055214"/>
          </a:xfrm>
          <a:prstGeom prst="rect">
            <a:avLst/>
          </a:prstGeom>
        </p:spPr>
      </p:pic>
    </p:spTree>
    <p:extLst>
      <p:ext uri="{BB962C8B-B14F-4D97-AF65-F5344CB8AC3E}">
        <p14:creationId xmlns:p14="http://schemas.microsoft.com/office/powerpoint/2010/main" val="3897351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089B-359E-811F-EB39-B78638DBD3DB}"/>
              </a:ext>
            </a:extLst>
          </p:cNvPr>
          <p:cNvSpPr>
            <a:spLocks noGrp="1"/>
          </p:cNvSpPr>
          <p:nvPr>
            <p:ph type="title"/>
          </p:nvPr>
        </p:nvSpPr>
        <p:spPr/>
        <p:txBody>
          <a:bodyPr/>
          <a:lstStyle/>
          <a:p>
            <a:r>
              <a:rPr lang="en-US" dirty="0"/>
              <a:t>1. Create a GitHub account</a:t>
            </a:r>
          </a:p>
        </p:txBody>
      </p:sp>
      <p:sp>
        <p:nvSpPr>
          <p:cNvPr id="3" name="Content Placeholder 2">
            <a:extLst>
              <a:ext uri="{FF2B5EF4-FFF2-40B4-BE49-F238E27FC236}">
                <a16:creationId xmlns:a16="http://schemas.microsoft.com/office/drawing/2014/main" id="{B3B03310-5D37-9972-FC74-4557C0390B78}"/>
              </a:ext>
            </a:extLst>
          </p:cNvPr>
          <p:cNvSpPr>
            <a:spLocks noGrp="1"/>
          </p:cNvSpPr>
          <p:nvPr>
            <p:ph idx="1"/>
          </p:nvPr>
        </p:nvSpPr>
        <p:spPr/>
        <p:txBody>
          <a:bodyPr/>
          <a:lstStyle/>
          <a:p>
            <a:pPr marL="0" indent="0">
              <a:buNone/>
            </a:pPr>
            <a:r>
              <a:rPr lang="en-US" dirty="0">
                <a:hlinkClick r:id="rId2"/>
              </a:rPr>
              <a:t>https://github.com/</a:t>
            </a:r>
            <a:endParaRPr lang="en-US" dirty="0"/>
          </a:p>
          <a:p>
            <a:pPr marL="0" indent="0">
              <a:buNone/>
            </a:pPr>
            <a:endParaRPr lang="en-US" dirty="0"/>
          </a:p>
          <a:p>
            <a:pPr marL="0" indent="0">
              <a:buNone/>
            </a:pPr>
            <a:endParaRPr lang="en-US" dirty="0"/>
          </a:p>
        </p:txBody>
      </p:sp>
      <p:sp>
        <p:nvSpPr>
          <p:cNvPr id="5" name="TextBox 4">
            <a:extLst>
              <a:ext uri="{FF2B5EF4-FFF2-40B4-BE49-F238E27FC236}">
                <a16:creationId xmlns:a16="http://schemas.microsoft.com/office/drawing/2014/main" id="{1B8BCA24-47C5-A3CC-7F2B-D7CCD23C956C}"/>
              </a:ext>
            </a:extLst>
          </p:cNvPr>
          <p:cNvSpPr txBox="1"/>
          <p:nvPr/>
        </p:nvSpPr>
        <p:spPr>
          <a:xfrm>
            <a:off x="838199" y="3600016"/>
            <a:ext cx="11068455" cy="3108543"/>
          </a:xfrm>
          <a:prstGeom prst="rect">
            <a:avLst/>
          </a:prstGeom>
          <a:noFill/>
        </p:spPr>
        <p:txBody>
          <a:bodyPr wrap="square">
            <a:spAutoFit/>
          </a:bodyPr>
          <a:lstStyle/>
          <a:p>
            <a:r>
              <a:rPr lang="en-US" sz="2800" dirty="0"/>
              <a:t>Basic GitHub: </a:t>
            </a:r>
            <a:r>
              <a:rPr lang="en-US" sz="2800" dirty="0">
                <a:hlinkClick r:id="rId3"/>
              </a:rPr>
              <a:t>https://docs.github.com/en</a:t>
            </a:r>
            <a:endParaRPr lang="en-US" sz="2800" dirty="0"/>
          </a:p>
          <a:p>
            <a:r>
              <a:rPr lang="en-US" sz="2800" dirty="0"/>
              <a:t>HPC + GitHub:  </a:t>
            </a:r>
            <a:r>
              <a:rPr lang="en-US" sz="2800" dirty="0">
                <a:hlinkClick r:id="rId4"/>
              </a:rPr>
              <a:t>https://</a:t>
            </a:r>
            <a:r>
              <a:rPr lang="en-US" sz="2800" dirty="0" err="1">
                <a:hlinkClick r:id="rId4"/>
              </a:rPr>
              <a:t>github.com</a:t>
            </a:r>
            <a:r>
              <a:rPr lang="en-US" sz="2800" dirty="0">
                <a:hlinkClick r:id="rId4"/>
              </a:rPr>
              <a:t>/</a:t>
            </a:r>
            <a:r>
              <a:rPr lang="en-US" sz="2800" dirty="0" err="1">
                <a:hlinkClick r:id="rId4"/>
              </a:rPr>
              <a:t>sdsc</a:t>
            </a:r>
            <a:r>
              <a:rPr lang="en-US" sz="2800" dirty="0">
                <a:hlinkClick r:id="rId4"/>
              </a:rPr>
              <a:t>-</a:t>
            </a:r>
            <a:r>
              <a:rPr lang="en-US" sz="2800" dirty="0" err="1">
                <a:hlinkClick r:id="rId4"/>
              </a:rPr>
              <a:t>hpc</a:t>
            </a:r>
            <a:r>
              <a:rPr lang="en-US" sz="2800" dirty="0">
                <a:hlinkClick r:id="rId4"/>
              </a:rPr>
              <a:t>-training-org/</a:t>
            </a:r>
            <a:r>
              <a:rPr lang="en-US" sz="2800" dirty="0" err="1">
                <a:hlinkClick r:id="rId4"/>
              </a:rPr>
              <a:t>basic_skills</a:t>
            </a:r>
            <a:endParaRPr lang="en-US" sz="2800" dirty="0"/>
          </a:p>
          <a:p>
            <a:endParaRPr lang="en-US" sz="2800" dirty="0"/>
          </a:p>
          <a:p>
            <a:r>
              <a:rPr lang="en-US" sz="2800" dirty="0"/>
              <a:t>When in doubt? Google it… (Stack Overflow)</a:t>
            </a:r>
          </a:p>
          <a:p>
            <a:r>
              <a:rPr lang="en-US" sz="2800" dirty="0"/>
              <a:t>Chat GPT, </a:t>
            </a:r>
            <a:r>
              <a:rPr lang="en-US" sz="2800" dirty="0" err="1"/>
              <a:t>CoPilot</a:t>
            </a:r>
            <a:r>
              <a:rPr lang="en-US" sz="2800" dirty="0"/>
              <a:t>, &amp; AI resources </a:t>
            </a:r>
          </a:p>
          <a:p>
            <a:r>
              <a:rPr lang="en-US" sz="2800" dirty="0"/>
              <a:t>	– not very useful for structure management </a:t>
            </a:r>
          </a:p>
          <a:p>
            <a:r>
              <a:rPr lang="en-US" sz="2800" dirty="0"/>
              <a:t>			(but good for coding typos)</a:t>
            </a:r>
          </a:p>
        </p:txBody>
      </p:sp>
      <p:sp>
        <p:nvSpPr>
          <p:cNvPr id="6" name="Title 1">
            <a:extLst>
              <a:ext uri="{FF2B5EF4-FFF2-40B4-BE49-F238E27FC236}">
                <a16:creationId xmlns:a16="http://schemas.microsoft.com/office/drawing/2014/main" id="{0C9738F3-54C0-DAEE-7154-45D5EB390BA9}"/>
              </a:ext>
            </a:extLst>
          </p:cNvPr>
          <p:cNvSpPr txBox="1">
            <a:spLocks/>
          </p:cNvSpPr>
          <p:nvPr/>
        </p:nvSpPr>
        <p:spPr>
          <a:xfrm>
            <a:off x="838199" y="251683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2. Available Resources</a:t>
            </a:r>
            <a:endParaRPr lang="en-US" dirty="0"/>
          </a:p>
        </p:txBody>
      </p:sp>
    </p:spTree>
    <p:extLst>
      <p:ext uri="{BB962C8B-B14F-4D97-AF65-F5344CB8AC3E}">
        <p14:creationId xmlns:p14="http://schemas.microsoft.com/office/powerpoint/2010/main" val="3751287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4615D-9090-45C6-DD81-7E9A05764578}"/>
              </a:ext>
            </a:extLst>
          </p:cNvPr>
          <p:cNvSpPr>
            <a:spLocks noGrp="1"/>
          </p:cNvSpPr>
          <p:nvPr>
            <p:ph type="title"/>
          </p:nvPr>
        </p:nvSpPr>
        <p:spPr>
          <a:xfrm>
            <a:off x="838200" y="121285"/>
            <a:ext cx="10515600" cy="1325563"/>
          </a:xfrm>
        </p:spPr>
        <p:txBody>
          <a:bodyPr>
            <a:normAutofit/>
          </a:bodyPr>
          <a:lstStyle/>
          <a:p>
            <a:pPr algn="ctr"/>
            <a:r>
              <a:rPr lang="en-US" dirty="0"/>
              <a:t>3. GitHub: Create a Repository &amp; Initial Setup</a:t>
            </a:r>
          </a:p>
        </p:txBody>
      </p:sp>
      <p:sp>
        <p:nvSpPr>
          <p:cNvPr id="3" name="Content Placeholder 2">
            <a:extLst>
              <a:ext uri="{FF2B5EF4-FFF2-40B4-BE49-F238E27FC236}">
                <a16:creationId xmlns:a16="http://schemas.microsoft.com/office/drawing/2014/main" id="{7ABAE712-96FE-B02A-4B27-249E6B9D3D90}"/>
              </a:ext>
            </a:extLst>
          </p:cNvPr>
          <p:cNvSpPr>
            <a:spLocks noGrp="1"/>
          </p:cNvSpPr>
          <p:nvPr>
            <p:ph idx="1"/>
          </p:nvPr>
        </p:nvSpPr>
        <p:spPr>
          <a:xfrm>
            <a:off x="838200" y="1446848"/>
            <a:ext cx="10515600" cy="4730115"/>
          </a:xfrm>
        </p:spPr>
        <p:txBody>
          <a:bodyPr>
            <a:normAutofit fontScale="92500" lnSpcReduction="10000"/>
          </a:bodyPr>
          <a:lstStyle/>
          <a:p>
            <a:pPr marL="514350" indent="-514350">
              <a:buAutoNum type="arabicPeriod"/>
            </a:pPr>
            <a:r>
              <a:rPr lang="en-US" dirty="0"/>
              <a:t>Create a Repository in browser </a:t>
            </a:r>
            <a:r>
              <a:rPr lang="en-US" b="1" i="1" dirty="0"/>
              <a:t>“CI_2024”</a:t>
            </a:r>
          </a:p>
          <a:p>
            <a:pPr marL="514350" indent="-514350">
              <a:buAutoNum type="arabicPeriod"/>
            </a:pPr>
            <a:endParaRPr lang="en-US" dirty="0"/>
          </a:p>
          <a:p>
            <a:pPr marL="514350" indent="-514350">
              <a:buAutoNum type="arabicPeriod"/>
            </a:pPr>
            <a:r>
              <a:rPr lang="en-US" b="0" i="0" dirty="0" err="1">
                <a:solidFill>
                  <a:srgbClr val="1F2328"/>
                </a:solidFill>
                <a:effectLst/>
                <a:highlight>
                  <a:srgbClr val="FFFFFF"/>
                </a:highlight>
                <a:latin typeface="-apple-system"/>
              </a:rPr>
              <a:t>README.md</a:t>
            </a:r>
            <a:r>
              <a:rPr lang="en-US" b="0" i="0" dirty="0">
                <a:solidFill>
                  <a:srgbClr val="1F2328"/>
                </a:solidFill>
                <a:effectLst/>
                <a:highlight>
                  <a:srgbClr val="FFFFFF"/>
                </a:highlight>
                <a:latin typeface="-apple-system"/>
              </a:rPr>
              <a:t>, VI Code (in browser &amp; application paired w/ </a:t>
            </a:r>
            <a:r>
              <a:rPr lang="en-US" b="0" i="0" dirty="0" err="1">
                <a:solidFill>
                  <a:srgbClr val="1F2328"/>
                </a:solidFill>
                <a:effectLst/>
                <a:highlight>
                  <a:srgbClr val="FFFFFF"/>
                </a:highlight>
                <a:latin typeface="-apple-system"/>
              </a:rPr>
              <a:t>CoPilot</a:t>
            </a:r>
            <a:r>
              <a:rPr lang="en-US" b="0" i="0" dirty="0">
                <a:solidFill>
                  <a:srgbClr val="1F2328"/>
                </a:solidFill>
                <a:effectLst/>
                <a:highlight>
                  <a:srgbClr val="FFFFFF"/>
                </a:highlight>
                <a:latin typeface="-apple-system"/>
              </a:rPr>
              <a:t>)</a:t>
            </a:r>
          </a:p>
          <a:p>
            <a:pPr lvl="1"/>
            <a:r>
              <a:rPr lang="en-US" dirty="0">
                <a:solidFill>
                  <a:srgbClr val="1F2328"/>
                </a:solidFill>
                <a:highlight>
                  <a:srgbClr val="FFFFFF"/>
                </a:highlight>
                <a:latin typeface="-apple-system"/>
              </a:rPr>
              <a:t>Create </a:t>
            </a:r>
            <a:r>
              <a:rPr lang="en-US" dirty="0" err="1">
                <a:solidFill>
                  <a:srgbClr val="1F2328"/>
                </a:solidFill>
                <a:highlight>
                  <a:srgbClr val="FFFFFF"/>
                </a:highlight>
                <a:latin typeface="-apple-system"/>
              </a:rPr>
              <a:t>CodeSpace</a:t>
            </a:r>
            <a:endParaRPr lang="en-US" dirty="0">
              <a:solidFill>
                <a:srgbClr val="1F2328"/>
              </a:solidFill>
              <a:highlight>
                <a:srgbClr val="FFFFFF"/>
              </a:highlight>
              <a:latin typeface="-apple-system"/>
            </a:endParaRPr>
          </a:p>
          <a:p>
            <a:pPr lvl="1"/>
            <a:r>
              <a:rPr lang="en-US" dirty="0">
                <a:solidFill>
                  <a:srgbClr val="1F2328"/>
                </a:solidFill>
                <a:highlight>
                  <a:srgbClr val="FFFFFF"/>
                </a:highlight>
                <a:latin typeface="-apple-system"/>
              </a:rPr>
              <a:t>Manually create a branch</a:t>
            </a:r>
          </a:p>
          <a:p>
            <a:pPr lvl="1"/>
            <a:r>
              <a:rPr lang="en-US" dirty="0">
                <a:solidFill>
                  <a:srgbClr val="1F2328"/>
                </a:solidFill>
                <a:highlight>
                  <a:srgbClr val="FFFFFF"/>
                </a:highlight>
                <a:latin typeface="-apple-system"/>
              </a:rPr>
              <a:t>Tab Walkthrough</a:t>
            </a:r>
          </a:p>
          <a:p>
            <a:pPr marL="457200" lvl="1" indent="0">
              <a:buNone/>
            </a:pPr>
            <a:endParaRPr lang="en-US" dirty="0">
              <a:solidFill>
                <a:srgbClr val="1F2328"/>
              </a:solidFill>
              <a:highlight>
                <a:srgbClr val="FFFFFF"/>
              </a:highlight>
              <a:latin typeface="-apple-system"/>
            </a:endParaRPr>
          </a:p>
          <a:p>
            <a:pPr marL="514350" indent="-514350">
              <a:buFont typeface="+mj-lt"/>
              <a:buAutoNum type="arabicPeriod"/>
            </a:pPr>
            <a:r>
              <a:rPr lang="en-US" dirty="0"/>
              <a:t>Create Access Tokens for local repositories (</a:t>
            </a:r>
            <a:r>
              <a:rPr lang="en-US" dirty="0" err="1"/>
              <a:t>ie</a:t>
            </a:r>
            <a:r>
              <a:rPr lang="en-US" dirty="0"/>
              <a:t> laptop, EXPANSE,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rgbClr val="2D3B45"/>
              </a:solidFill>
              <a:effectLst/>
              <a:latin typeface="Calibri"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600" i="0" u="none" strike="noStrike" cap="none" normalizeH="0" baseline="0" dirty="0">
                <a:ln>
                  <a:noFill/>
                </a:ln>
                <a:solidFill>
                  <a:schemeClr val="tx2">
                    <a:lumMod val="50000"/>
                    <a:lumOff val="50000"/>
                  </a:schemeClr>
                </a:solidFill>
                <a:effectLst/>
                <a:latin typeface="Calibri" panose="020F0502020204030204" pitchFamily="34" charset="0"/>
              </a:rPr>
              <a:t>settings --&gt; developer settings  --&gt; personal access tokens --&gt; Tokens (classic)</a:t>
            </a:r>
            <a:endParaRPr kumimoji="0" lang="en-US" altLang="en-US" sz="1900" i="0" u="none" strike="noStrike" cap="none" normalizeH="0" baseline="0" dirty="0">
              <a:ln>
                <a:noFill/>
              </a:ln>
              <a:solidFill>
                <a:schemeClr val="tx2">
                  <a:lumMod val="50000"/>
                  <a:lumOff val="50000"/>
                </a:schemeClr>
              </a:solidFill>
              <a:effectLst/>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rgbClr val="2D3B45"/>
              </a:solidFill>
              <a:effectLst/>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2D3B45"/>
                </a:solidFill>
                <a:effectLst/>
                <a:latin typeface="Calibri" panose="020F0502020204030204" pitchFamily="34" charset="0"/>
              </a:rPr>
              <a:t>Copy the token, you will not be able to find it through the page again.</a:t>
            </a:r>
            <a:endParaRPr lang="en-US" i="0" dirty="0">
              <a:solidFill>
                <a:srgbClr val="1F2328"/>
              </a:solidFill>
              <a:effectLst/>
              <a:highlight>
                <a:srgbClr val="FFFFFF"/>
              </a:highlight>
              <a:latin typeface="-apple-system"/>
            </a:endParaRPr>
          </a:p>
        </p:txBody>
      </p:sp>
    </p:spTree>
    <p:extLst>
      <p:ext uri="{BB962C8B-B14F-4D97-AF65-F5344CB8AC3E}">
        <p14:creationId xmlns:p14="http://schemas.microsoft.com/office/powerpoint/2010/main" val="19780509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4615D-9090-45C6-DD81-7E9A05764578}"/>
              </a:ext>
            </a:extLst>
          </p:cNvPr>
          <p:cNvSpPr>
            <a:spLocks noGrp="1"/>
          </p:cNvSpPr>
          <p:nvPr>
            <p:ph type="title"/>
          </p:nvPr>
        </p:nvSpPr>
        <p:spPr>
          <a:xfrm>
            <a:off x="0" y="121285"/>
            <a:ext cx="12192000" cy="1325563"/>
          </a:xfrm>
        </p:spPr>
        <p:txBody>
          <a:bodyPr>
            <a:normAutofit/>
          </a:bodyPr>
          <a:lstStyle/>
          <a:p>
            <a:pPr algn="ctr"/>
            <a:r>
              <a:rPr lang="en-US" b="1" i="1" dirty="0"/>
              <a:t>Optional: Automatic Token/Login Credential Entry</a:t>
            </a:r>
          </a:p>
        </p:txBody>
      </p:sp>
      <p:sp>
        <p:nvSpPr>
          <p:cNvPr id="3" name="Content Placeholder 2">
            <a:extLst>
              <a:ext uri="{FF2B5EF4-FFF2-40B4-BE49-F238E27FC236}">
                <a16:creationId xmlns:a16="http://schemas.microsoft.com/office/drawing/2014/main" id="{7ABAE712-96FE-B02A-4B27-249E6B9D3D90}"/>
              </a:ext>
            </a:extLst>
          </p:cNvPr>
          <p:cNvSpPr>
            <a:spLocks noGrp="1"/>
          </p:cNvSpPr>
          <p:nvPr>
            <p:ph idx="1"/>
          </p:nvPr>
        </p:nvSpPr>
        <p:spPr>
          <a:xfrm>
            <a:off x="350197" y="1446848"/>
            <a:ext cx="11517548" cy="5129050"/>
          </a:xfrm>
        </p:spPr>
        <p:txBody>
          <a:bodyPr>
            <a:normAutofit fontScale="77500" lnSpcReduction="20000"/>
          </a:bodyPr>
          <a:lstStyle/>
          <a:p>
            <a:pPr marL="0" indent="0">
              <a:buNone/>
            </a:pPr>
            <a:r>
              <a:rPr lang="en-US" dirty="0"/>
              <a:t>Create Access Tokens for local repositories (</a:t>
            </a:r>
            <a:r>
              <a:rPr lang="en-US" dirty="0" err="1"/>
              <a:t>ie</a:t>
            </a:r>
            <a:r>
              <a:rPr lang="en-US" dirty="0"/>
              <a:t> laptop, EXPANSE,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rgbClr val="2D3B45"/>
              </a:solidFill>
              <a:effectLst/>
              <a:latin typeface="Calibri"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600" i="0" u="none" strike="noStrike" cap="none" normalizeH="0" baseline="0" dirty="0">
                <a:ln>
                  <a:noFill/>
                </a:ln>
                <a:solidFill>
                  <a:schemeClr val="tx2">
                    <a:lumMod val="50000"/>
                    <a:lumOff val="50000"/>
                  </a:schemeClr>
                </a:solidFill>
                <a:effectLst/>
                <a:latin typeface="Calibri" panose="020F0502020204030204" pitchFamily="34" charset="0"/>
              </a:rPr>
              <a:t>settings --&gt; developer settings  --&gt; personal access tokens --&gt; Tokens (classic)</a:t>
            </a:r>
            <a:endParaRPr kumimoji="0" lang="en-US" altLang="en-US" sz="1900" i="0" u="none" strike="noStrike" cap="none" normalizeH="0" baseline="0" dirty="0">
              <a:ln>
                <a:noFill/>
              </a:ln>
              <a:solidFill>
                <a:schemeClr val="tx2">
                  <a:lumMod val="50000"/>
                  <a:lumOff val="50000"/>
                </a:schemeClr>
              </a:solidFill>
              <a:effectLst/>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rgbClr val="2D3B45"/>
              </a:solidFill>
              <a:effectLst/>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dirty="0">
              <a:solidFill>
                <a:srgbClr val="2D3B45"/>
              </a:solidFill>
              <a:highlight>
                <a:srgbClr val="FFFFFF"/>
              </a:highlight>
              <a:latin typeface="Calibri" panose="020F0502020204030204" pitchFamily="34" charset="0"/>
            </a:endParaRPr>
          </a:p>
          <a:p>
            <a:pPr marL="514350" indent="-514350" eaLnBrk="0" fontAlgn="base" hangingPunct="0">
              <a:lnSpc>
                <a:spcPct val="100000"/>
              </a:lnSpc>
              <a:spcBef>
                <a:spcPct val="0"/>
              </a:spcBef>
              <a:spcAft>
                <a:spcPct val="0"/>
              </a:spcAft>
              <a:buFontTx/>
              <a:buAutoNum type="arabicPeriod"/>
            </a:pPr>
            <a:r>
              <a:rPr kumimoji="0" lang="en-US" altLang="en-US" i="0" u="none" strike="noStrike" cap="none" normalizeH="0" baseline="0" dirty="0">
                <a:ln>
                  <a:noFill/>
                </a:ln>
                <a:solidFill>
                  <a:srgbClr val="2D3B45"/>
                </a:solidFill>
                <a:effectLst/>
                <a:latin typeface="Calibri" panose="020F0502020204030204" pitchFamily="34" charset="0"/>
              </a:rPr>
              <a:t>Copy the token from the token creation page, you will not be able to find it through the page again.</a:t>
            </a:r>
          </a:p>
          <a:p>
            <a:pPr marL="514350" indent="-514350" eaLnBrk="0" fontAlgn="base" hangingPunct="0">
              <a:lnSpc>
                <a:spcPct val="100000"/>
              </a:lnSpc>
              <a:spcBef>
                <a:spcPct val="0"/>
              </a:spcBef>
              <a:spcAft>
                <a:spcPct val="0"/>
              </a:spcAft>
              <a:buFontTx/>
              <a:buAutoNum type="arabicPeriod"/>
            </a:pPr>
            <a:endParaRPr kumimoji="0" lang="en-US" altLang="en-US" i="0" u="none" strike="noStrike" cap="none" normalizeH="0" baseline="0" dirty="0">
              <a:ln>
                <a:noFill/>
              </a:ln>
              <a:solidFill>
                <a:srgbClr val="2D3B45"/>
              </a:solidFill>
              <a:effectLst/>
              <a:latin typeface="Calibri" panose="020F0502020204030204" pitchFamily="34" charset="0"/>
            </a:endParaRPr>
          </a:p>
          <a:p>
            <a:pPr marL="514350" indent="-514350" eaLnBrk="0" fontAlgn="base" hangingPunct="0">
              <a:lnSpc>
                <a:spcPct val="100000"/>
              </a:lnSpc>
              <a:spcBef>
                <a:spcPct val="0"/>
              </a:spcBef>
              <a:spcAft>
                <a:spcPct val="0"/>
              </a:spcAft>
              <a:buFontTx/>
              <a:buAutoNum type="arabicPeriod"/>
            </a:pPr>
            <a:r>
              <a:rPr kumimoji="0" lang="en-US" altLang="en-US" i="0" u="none" strike="noStrike" cap="none" normalizeH="0" baseline="0" dirty="0">
                <a:ln>
                  <a:noFill/>
                </a:ln>
                <a:solidFill>
                  <a:srgbClr val="232629"/>
                </a:solidFill>
                <a:effectLst/>
                <a:latin typeface="-apple-system"/>
              </a:rPr>
              <a:t>Save your login credentials to Expanse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i="0" u="none" strike="noStrike" cap="none" normalizeH="0" baseline="0" dirty="0">
              <a:ln>
                <a:noFill/>
              </a:ln>
              <a:solidFill>
                <a:srgbClr val="232629"/>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rgbClr val="232629"/>
                </a:solidFill>
                <a:effectLst/>
                <a:latin typeface="-apple-system"/>
              </a:rPr>
              <a:t>	$ cat ~/.</a:t>
            </a:r>
            <a:r>
              <a:rPr kumimoji="0" lang="en-US" altLang="en-US" b="1" i="0" u="none" strike="noStrike" cap="none" normalizeH="0" baseline="0" dirty="0" err="1">
                <a:ln>
                  <a:noFill/>
                </a:ln>
                <a:solidFill>
                  <a:srgbClr val="232629"/>
                </a:solidFill>
                <a:effectLst/>
                <a:latin typeface="-apple-system"/>
              </a:rPr>
              <a:t>netrc</a:t>
            </a:r>
            <a:r>
              <a:rPr lang="en-US" altLang="en-US" b="1" dirty="0">
                <a:solidFill>
                  <a:srgbClr val="232629"/>
                </a:solidFill>
                <a:latin typeface="-apple-system"/>
              </a:rPr>
              <a:t>	</a:t>
            </a:r>
            <a:r>
              <a:rPr kumimoji="0" lang="en-US" altLang="en-US" i="0" u="none" strike="noStrike" cap="none" normalizeH="0" baseline="0" dirty="0">
                <a:ln>
                  <a:noFill/>
                </a:ln>
                <a:solidFill>
                  <a:srgbClr val="232629"/>
                </a:solidFill>
                <a:effectLst/>
                <a:latin typeface="-apple-system"/>
              </a:rPr>
              <a:t>--&gt; should be empty</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rgbClr val="232629"/>
                </a:solidFill>
                <a:latin typeface="-apple-system"/>
              </a:rPr>
              <a:t>	</a:t>
            </a:r>
            <a:r>
              <a:rPr lang="en-US" altLang="en-US" b="1" dirty="0">
                <a:solidFill>
                  <a:srgbClr val="232629"/>
                </a:solidFill>
                <a:latin typeface="-apple-system"/>
              </a:rPr>
              <a:t>$ vi ~/.</a:t>
            </a:r>
            <a:r>
              <a:rPr lang="en-US" altLang="en-US" b="1" dirty="0" err="1">
                <a:solidFill>
                  <a:srgbClr val="232629"/>
                </a:solidFill>
                <a:latin typeface="-apple-system"/>
              </a:rPr>
              <a:t>netrc</a:t>
            </a:r>
            <a:r>
              <a:rPr lang="en-US" altLang="en-US" b="1" dirty="0">
                <a:solidFill>
                  <a:srgbClr val="232629"/>
                </a:solidFill>
                <a:latin typeface="-apple-system"/>
              </a:rPr>
              <a:t>	</a:t>
            </a:r>
            <a:r>
              <a:rPr lang="en-US" altLang="en-US" dirty="0">
                <a:solidFill>
                  <a:srgbClr val="232629"/>
                </a:solidFill>
                <a:latin typeface="-apple-system"/>
              </a:rPr>
              <a:t>	--&gt; open your shell access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i="0" u="none" strike="noStrike" cap="none" normalizeH="0" baseline="0" dirty="0">
              <a:ln>
                <a:noFill/>
              </a:ln>
              <a:solidFill>
                <a:srgbClr val="232629"/>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600" i="0" u="none" strike="noStrike" cap="none" normalizeH="0" baseline="0" dirty="0">
                <a:ln>
                  <a:noFill/>
                </a:ln>
                <a:solidFill>
                  <a:srgbClr val="2D3B45"/>
                </a:solidFill>
                <a:effectLst/>
              </a:rPr>
              <a:t>	</a:t>
            </a:r>
            <a:r>
              <a:rPr kumimoji="0" lang="en-US" altLang="en-US" sz="2600" b="1" i="0" u="none" strike="noStrike" cap="none" normalizeH="0" baseline="0" dirty="0">
                <a:ln>
                  <a:noFill/>
                </a:ln>
                <a:solidFill>
                  <a:srgbClr val="2D3B45"/>
                </a:solidFill>
                <a:effectLst/>
              </a:rPr>
              <a:t>machine </a:t>
            </a:r>
            <a:r>
              <a:rPr kumimoji="0" lang="en-US" altLang="en-US" sz="2600" b="1" i="0" u="none" strike="noStrike" cap="none" normalizeH="0" baseline="0" dirty="0" err="1">
                <a:ln>
                  <a:noFill/>
                </a:ln>
                <a:solidFill>
                  <a:srgbClr val="2D3B45"/>
                </a:solidFill>
                <a:effectLst/>
              </a:rPr>
              <a:t>github.com</a:t>
            </a:r>
            <a:r>
              <a:rPr kumimoji="0" lang="en-US" altLang="en-US" sz="2600" b="1" i="0" u="none" strike="noStrike" cap="none" normalizeH="0" baseline="0" dirty="0">
                <a:ln>
                  <a:noFill/>
                </a:ln>
                <a:solidFill>
                  <a:srgbClr val="2D3B45"/>
                </a:solidFill>
                <a:effectLst/>
              </a:rPr>
              <a:t> login &lt;login-id&gt; password &lt;token-password&gt;</a:t>
            </a:r>
            <a:endParaRPr kumimoji="0" lang="en-US" altLang="en-US" sz="19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rgbClr val="2D3B45"/>
                </a:solidFill>
                <a:effectLst/>
                <a:latin typeface="var(--ff-mono)"/>
              </a:rPr>
              <a:t> </a:t>
            </a: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2D3B45"/>
                </a:solidFill>
                <a:effectLst/>
                <a:latin typeface="var(--ff-mono)"/>
              </a:rPr>
              <a:t>Then in the future, you don't need to input the token every time when using git.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rgbClr val="2D3B45"/>
              </a:solidFill>
              <a:latin typeface="var(--ff-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100" b="1" i="1" u="none" strike="noStrike" cap="none" normalizeH="0" baseline="0" dirty="0">
                <a:ln>
                  <a:noFill/>
                </a:ln>
                <a:solidFill>
                  <a:srgbClr val="2D3B45"/>
                </a:solidFill>
                <a:effectLst/>
                <a:latin typeface="var(--ff-mono)"/>
              </a:rPr>
              <a:t>** You can also make this modification on your local device, not just HPC Resources **</a:t>
            </a:r>
            <a:endParaRPr kumimoji="0" lang="en-US" altLang="en-US" sz="3100" b="1" i="1"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965247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B1FC9-FE31-DEEC-CD81-287ACCB513F4}"/>
              </a:ext>
            </a:extLst>
          </p:cNvPr>
          <p:cNvSpPr>
            <a:spLocks noGrp="1"/>
          </p:cNvSpPr>
          <p:nvPr>
            <p:ph type="title"/>
          </p:nvPr>
        </p:nvSpPr>
        <p:spPr>
          <a:xfrm>
            <a:off x="838200" y="34385"/>
            <a:ext cx="10515600" cy="1325563"/>
          </a:xfrm>
        </p:spPr>
        <p:txBody>
          <a:bodyPr>
            <a:normAutofit/>
          </a:bodyPr>
          <a:lstStyle/>
          <a:p>
            <a:pPr algn="ctr"/>
            <a:r>
              <a:rPr lang="en-US" dirty="0"/>
              <a:t>4. Code-Along Tutorial: </a:t>
            </a:r>
            <a:br>
              <a:rPr lang="en-US" dirty="0"/>
            </a:br>
            <a:r>
              <a:rPr lang="en-US" dirty="0"/>
              <a:t>Cloning a repository to EXPANSE  </a:t>
            </a:r>
            <a:endParaRPr lang="en-US" dirty="0">
              <a:highlight>
                <a:srgbClr val="FFFF00"/>
              </a:highlight>
            </a:endParaRPr>
          </a:p>
        </p:txBody>
      </p:sp>
      <p:sp>
        <p:nvSpPr>
          <p:cNvPr id="4" name="TextBox 3">
            <a:extLst>
              <a:ext uri="{FF2B5EF4-FFF2-40B4-BE49-F238E27FC236}">
                <a16:creationId xmlns:a16="http://schemas.microsoft.com/office/drawing/2014/main" id="{111908D0-FD97-FC27-BB14-8309EF408543}"/>
              </a:ext>
            </a:extLst>
          </p:cNvPr>
          <p:cNvSpPr txBox="1"/>
          <p:nvPr/>
        </p:nvSpPr>
        <p:spPr>
          <a:xfrm>
            <a:off x="581404" y="1359948"/>
            <a:ext cx="11029192" cy="5447645"/>
          </a:xfrm>
          <a:prstGeom prst="rect">
            <a:avLst/>
          </a:prstGeom>
          <a:noFill/>
        </p:spPr>
        <p:txBody>
          <a:bodyPr wrap="square">
            <a:spAutoFit/>
          </a:bodyPr>
          <a:lstStyle/>
          <a:p>
            <a:pPr algn="l"/>
            <a:r>
              <a:rPr lang="en-US" sz="2400" b="1" i="0" dirty="0">
                <a:solidFill>
                  <a:srgbClr val="333333"/>
                </a:solidFill>
                <a:effectLst/>
                <a:highlight>
                  <a:srgbClr val="FFFFFF"/>
                </a:highlight>
                <a:latin typeface="UniversRoman"/>
              </a:rPr>
              <a:t>** Linux quick-guide</a:t>
            </a:r>
            <a:endParaRPr lang="en-US" sz="2400" b="1" dirty="0">
              <a:solidFill>
                <a:srgbClr val="333333"/>
              </a:solidFill>
              <a:highlight>
                <a:srgbClr val="FFFFFF"/>
              </a:highlight>
              <a:latin typeface="UniversRoman"/>
            </a:endParaRPr>
          </a:p>
          <a:p>
            <a:pPr algn="l"/>
            <a:r>
              <a:rPr lang="en-US" sz="2400" b="1" i="0" dirty="0">
                <a:solidFill>
                  <a:srgbClr val="333333"/>
                </a:solidFill>
                <a:effectLst/>
                <a:highlight>
                  <a:srgbClr val="FFFFFF"/>
                </a:highlight>
                <a:latin typeface="UniversRoman"/>
              </a:rPr>
              <a:t>https://</a:t>
            </a:r>
            <a:r>
              <a:rPr lang="en-US" sz="2400" b="1" i="0" dirty="0" err="1">
                <a:solidFill>
                  <a:srgbClr val="333333"/>
                </a:solidFill>
                <a:effectLst/>
                <a:highlight>
                  <a:srgbClr val="FFFFFF"/>
                </a:highlight>
                <a:latin typeface="UniversRoman"/>
              </a:rPr>
              <a:t>www.macs.hw.ac.uk</a:t>
            </a:r>
            <a:r>
              <a:rPr lang="en-US" sz="2400" b="1" i="0" dirty="0">
                <a:solidFill>
                  <a:srgbClr val="333333"/>
                </a:solidFill>
                <a:effectLst/>
                <a:highlight>
                  <a:srgbClr val="FFFFFF"/>
                </a:highlight>
                <a:latin typeface="UniversRoman"/>
              </a:rPr>
              <a:t>/~</a:t>
            </a:r>
            <a:r>
              <a:rPr lang="en-US" sz="2400" b="1" i="0" dirty="0" err="1">
                <a:solidFill>
                  <a:srgbClr val="333333"/>
                </a:solidFill>
                <a:effectLst/>
                <a:highlight>
                  <a:srgbClr val="FFFFFF"/>
                </a:highlight>
                <a:latin typeface="UniversRoman"/>
              </a:rPr>
              <a:t>hwloidl</a:t>
            </a:r>
            <a:r>
              <a:rPr lang="en-US" sz="2400" b="1" i="0" dirty="0">
                <a:solidFill>
                  <a:srgbClr val="333333"/>
                </a:solidFill>
                <a:effectLst/>
                <a:highlight>
                  <a:srgbClr val="FFFFFF"/>
                </a:highlight>
                <a:latin typeface="UniversRoman"/>
              </a:rPr>
              <a:t>/Courses/</a:t>
            </a:r>
            <a:r>
              <a:rPr lang="en-US" sz="2400" b="1" i="0" dirty="0" err="1">
                <a:solidFill>
                  <a:srgbClr val="333333"/>
                </a:solidFill>
                <a:effectLst/>
                <a:highlight>
                  <a:srgbClr val="FFFFFF"/>
                </a:highlight>
                <a:latin typeface="UniversRoman"/>
              </a:rPr>
              <a:t>LinuxIntro</a:t>
            </a:r>
            <a:r>
              <a:rPr lang="en-US" sz="2400" b="1" i="0" dirty="0">
                <a:solidFill>
                  <a:srgbClr val="333333"/>
                </a:solidFill>
                <a:effectLst/>
                <a:highlight>
                  <a:srgbClr val="FFFFFF"/>
                </a:highlight>
                <a:latin typeface="UniversRoman"/>
              </a:rPr>
              <a:t>/</a:t>
            </a:r>
            <a:r>
              <a:rPr lang="en-US" sz="2400" b="1" i="0" dirty="0" err="1">
                <a:solidFill>
                  <a:srgbClr val="333333"/>
                </a:solidFill>
                <a:effectLst/>
                <a:highlight>
                  <a:srgbClr val="FFFFFF"/>
                </a:highlight>
                <a:latin typeface="UniversRoman"/>
              </a:rPr>
              <a:t>linux-quickref.pdf</a:t>
            </a:r>
            <a:endParaRPr lang="en-US" sz="2400" b="1" i="0" dirty="0">
              <a:solidFill>
                <a:srgbClr val="333333"/>
              </a:solidFill>
              <a:effectLst/>
              <a:highlight>
                <a:srgbClr val="FFFFFF"/>
              </a:highlight>
              <a:latin typeface="UniversRoman"/>
            </a:endParaRPr>
          </a:p>
          <a:p>
            <a:pPr algn="l"/>
            <a:endParaRPr lang="en-US" sz="2400" b="1" dirty="0">
              <a:solidFill>
                <a:srgbClr val="333333"/>
              </a:solidFill>
              <a:highlight>
                <a:srgbClr val="FFFFFF"/>
              </a:highlight>
              <a:latin typeface="UniversRoman"/>
            </a:endParaRPr>
          </a:p>
          <a:p>
            <a:pPr algn="ctr"/>
            <a:r>
              <a:rPr lang="en-US" sz="2400" b="1" i="0" dirty="0" err="1">
                <a:solidFill>
                  <a:srgbClr val="333333"/>
                </a:solidFill>
                <a:effectLst/>
                <a:highlight>
                  <a:srgbClr val="FFFFFF"/>
                </a:highlight>
                <a:latin typeface="UniversRoman"/>
              </a:rPr>
              <a:t>pwd</a:t>
            </a:r>
            <a:r>
              <a:rPr lang="en-US" sz="2400" b="0" i="0" dirty="0">
                <a:solidFill>
                  <a:srgbClr val="333333"/>
                </a:solidFill>
                <a:effectLst/>
                <a:highlight>
                  <a:srgbClr val="FFFFFF"/>
                </a:highlight>
                <a:latin typeface="UniversRoman"/>
              </a:rPr>
              <a:t> - print working directory path</a:t>
            </a:r>
            <a:br>
              <a:rPr lang="en-US" sz="2400" b="0" i="0" dirty="0">
                <a:solidFill>
                  <a:srgbClr val="333333"/>
                </a:solidFill>
                <a:effectLst/>
                <a:highlight>
                  <a:srgbClr val="FFFFFF"/>
                </a:highlight>
                <a:latin typeface="UniversRoman"/>
              </a:rPr>
            </a:br>
            <a:r>
              <a:rPr lang="en-US" sz="2400" b="1" i="0" dirty="0">
                <a:solidFill>
                  <a:srgbClr val="333333"/>
                </a:solidFill>
                <a:effectLst/>
                <a:highlight>
                  <a:srgbClr val="FFFFFF"/>
                </a:highlight>
                <a:latin typeface="UniversRoman"/>
              </a:rPr>
              <a:t>ls</a:t>
            </a:r>
            <a:r>
              <a:rPr lang="en-US" sz="2400" b="0" i="0" dirty="0">
                <a:solidFill>
                  <a:srgbClr val="333333"/>
                </a:solidFill>
                <a:effectLst/>
                <a:highlight>
                  <a:srgbClr val="FFFFFF"/>
                </a:highlight>
                <a:latin typeface="UniversRoman"/>
              </a:rPr>
              <a:t> - show contents of a directory</a:t>
            </a:r>
          </a:p>
          <a:p>
            <a:pPr algn="ctr"/>
            <a:r>
              <a:rPr lang="en-US" sz="2400" b="1" dirty="0">
                <a:solidFill>
                  <a:srgbClr val="333333"/>
                </a:solidFill>
                <a:highlight>
                  <a:srgbClr val="FFFFFF"/>
                </a:highlight>
                <a:latin typeface="UniversRoman"/>
              </a:rPr>
              <a:t>ls –la</a:t>
            </a:r>
            <a:r>
              <a:rPr lang="en-US" sz="2400" dirty="0">
                <a:solidFill>
                  <a:srgbClr val="333333"/>
                </a:solidFill>
                <a:highlight>
                  <a:srgbClr val="FFFFFF"/>
                </a:highlight>
                <a:latin typeface="UniversRoman"/>
              </a:rPr>
              <a:t> - to display more information, file size, etc.</a:t>
            </a:r>
            <a:br>
              <a:rPr lang="en-US" sz="2400" b="0" i="0" dirty="0">
                <a:solidFill>
                  <a:srgbClr val="333333"/>
                </a:solidFill>
                <a:effectLst/>
                <a:highlight>
                  <a:srgbClr val="FFFFFF"/>
                </a:highlight>
                <a:latin typeface="UniversRoman"/>
              </a:rPr>
            </a:br>
            <a:r>
              <a:rPr lang="en-US" sz="2400" b="1" i="0" dirty="0">
                <a:solidFill>
                  <a:srgbClr val="333333"/>
                </a:solidFill>
                <a:effectLst/>
                <a:highlight>
                  <a:srgbClr val="FFFFFF"/>
                </a:highlight>
                <a:latin typeface="UniversRoman"/>
              </a:rPr>
              <a:t>cd &lt;path&gt; </a:t>
            </a:r>
            <a:r>
              <a:rPr lang="en-US" sz="2400" b="0" i="0" dirty="0">
                <a:solidFill>
                  <a:srgbClr val="333333"/>
                </a:solidFill>
                <a:effectLst/>
                <a:highlight>
                  <a:srgbClr val="FFFFFF"/>
                </a:highlight>
                <a:latin typeface="UniversRoman"/>
              </a:rPr>
              <a:t>- change directory</a:t>
            </a:r>
          </a:p>
          <a:p>
            <a:pPr algn="l"/>
            <a:endParaRPr lang="en-US" sz="2400" b="0" dirty="0">
              <a:solidFill>
                <a:srgbClr val="333333"/>
              </a:solidFill>
              <a:effectLst/>
              <a:highlight>
                <a:srgbClr val="FFFFFF"/>
              </a:highlight>
              <a:latin typeface="UniversRoman"/>
            </a:endParaRPr>
          </a:p>
          <a:p>
            <a:pPr algn="l"/>
            <a:r>
              <a:rPr lang="en-US" sz="2400" b="1" dirty="0">
                <a:solidFill>
                  <a:srgbClr val="333333"/>
                </a:solidFill>
                <a:highlight>
                  <a:srgbClr val="FFFFFF"/>
                </a:highlight>
                <a:latin typeface="UniversRoman"/>
              </a:rPr>
              <a:t>** Navigate to your PROJECTS directory **</a:t>
            </a:r>
          </a:p>
          <a:p>
            <a:pPr marL="0" indent="0">
              <a:buNone/>
            </a:pPr>
            <a:r>
              <a:rPr lang="en-US" sz="2400" b="1" dirty="0">
                <a:highlight>
                  <a:srgbClr val="FFFF00"/>
                </a:highlight>
              </a:rPr>
              <a:t>$ cd /expanse/</a:t>
            </a:r>
            <a:r>
              <a:rPr lang="en-US" sz="2400" b="1" dirty="0" err="1">
                <a:highlight>
                  <a:srgbClr val="FFFF00"/>
                </a:highlight>
              </a:rPr>
              <a:t>lustre</a:t>
            </a:r>
            <a:r>
              <a:rPr lang="en-US" sz="2400" b="1" dirty="0">
                <a:highlight>
                  <a:srgbClr val="FFFF00"/>
                </a:highlight>
              </a:rPr>
              <a:t>/projects/unc107/$USERNAME</a:t>
            </a:r>
          </a:p>
          <a:p>
            <a:pPr algn="l"/>
            <a:endParaRPr lang="en-US" sz="2400" b="0" dirty="0">
              <a:solidFill>
                <a:srgbClr val="333333"/>
              </a:solidFill>
              <a:effectLst/>
              <a:highlight>
                <a:srgbClr val="FFFFFF"/>
              </a:highlight>
              <a:latin typeface="UniversRoman"/>
            </a:endParaRPr>
          </a:p>
          <a:p>
            <a:pPr marL="457200" indent="-457200">
              <a:buFontTx/>
              <a:buAutoNum type="arabicPeriod"/>
            </a:pPr>
            <a:r>
              <a:rPr lang="en-US" sz="2400" dirty="0"/>
              <a:t>Clone your GitHub repository to the PROJECTS directory</a:t>
            </a:r>
          </a:p>
          <a:p>
            <a:r>
              <a:rPr lang="en-US" sz="2400" b="1" dirty="0"/>
              <a:t>	git clone [repository address copied from browser]</a:t>
            </a:r>
          </a:p>
          <a:p>
            <a:pPr marL="457200" indent="-457200" algn="l">
              <a:buAutoNum type="arabicPeriod"/>
            </a:pPr>
            <a:endParaRPr lang="en-US" sz="2400" dirty="0">
              <a:solidFill>
                <a:srgbClr val="333333"/>
              </a:solidFill>
              <a:highlight>
                <a:srgbClr val="FFFFFF"/>
              </a:highlight>
              <a:latin typeface="UniversRoman"/>
            </a:endParaRPr>
          </a:p>
        </p:txBody>
      </p:sp>
    </p:spTree>
    <p:extLst>
      <p:ext uri="{BB962C8B-B14F-4D97-AF65-F5344CB8AC3E}">
        <p14:creationId xmlns:p14="http://schemas.microsoft.com/office/powerpoint/2010/main" val="4112403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D6A1-1071-0EB2-1B69-508D20DA1AB7}"/>
              </a:ext>
            </a:extLst>
          </p:cNvPr>
          <p:cNvSpPr>
            <a:spLocks noGrp="1"/>
          </p:cNvSpPr>
          <p:nvPr>
            <p:ph type="title"/>
          </p:nvPr>
        </p:nvSpPr>
        <p:spPr>
          <a:xfrm>
            <a:off x="0" y="-98698"/>
            <a:ext cx="12191999" cy="1325563"/>
          </a:xfrm>
        </p:spPr>
        <p:txBody>
          <a:bodyPr>
            <a:normAutofit/>
          </a:bodyPr>
          <a:lstStyle/>
          <a:p>
            <a:pPr algn="ctr"/>
            <a:r>
              <a:rPr lang="en-US" dirty="0"/>
              <a:t>4. Code-Along Continued: File Editing</a:t>
            </a:r>
          </a:p>
        </p:txBody>
      </p:sp>
      <p:sp>
        <p:nvSpPr>
          <p:cNvPr id="13" name="TextBox 12">
            <a:extLst>
              <a:ext uri="{FF2B5EF4-FFF2-40B4-BE49-F238E27FC236}">
                <a16:creationId xmlns:a16="http://schemas.microsoft.com/office/drawing/2014/main" id="{89D1C047-BE0E-D50D-F5C1-ABD03F43940B}"/>
              </a:ext>
            </a:extLst>
          </p:cNvPr>
          <p:cNvSpPr txBox="1"/>
          <p:nvPr/>
        </p:nvSpPr>
        <p:spPr>
          <a:xfrm>
            <a:off x="702365" y="974269"/>
            <a:ext cx="11029192" cy="5262979"/>
          </a:xfrm>
          <a:prstGeom prst="rect">
            <a:avLst/>
          </a:prstGeom>
          <a:noFill/>
        </p:spPr>
        <p:txBody>
          <a:bodyPr wrap="square">
            <a:spAutoFit/>
          </a:bodyPr>
          <a:lstStyle/>
          <a:p>
            <a:pPr algn="l"/>
            <a:r>
              <a:rPr lang="en-US" sz="2400" dirty="0">
                <a:solidFill>
                  <a:srgbClr val="333333"/>
                </a:solidFill>
                <a:highlight>
                  <a:srgbClr val="FFFFFF"/>
                </a:highlight>
                <a:latin typeface="UniversRoman"/>
              </a:rPr>
              <a:t>2. Make a directory </a:t>
            </a:r>
            <a:r>
              <a:rPr lang="en-US" sz="2400" i="1" dirty="0">
                <a:solidFill>
                  <a:srgbClr val="333333"/>
                </a:solidFill>
                <a:highlight>
                  <a:srgbClr val="FFFFFF"/>
                </a:highlight>
                <a:latin typeface="UniversRoman"/>
              </a:rPr>
              <a:t>‘</a:t>
            </a:r>
            <a:r>
              <a:rPr lang="en-US" sz="2400" i="1" dirty="0" err="1">
                <a:solidFill>
                  <a:srgbClr val="333333"/>
                </a:solidFill>
                <a:highlight>
                  <a:srgbClr val="FFFFFF"/>
                </a:highlight>
                <a:latin typeface="UniversRoman"/>
              </a:rPr>
              <a:t>ci_files</a:t>
            </a:r>
            <a:r>
              <a:rPr lang="en-US" sz="2400" i="1" dirty="0">
                <a:solidFill>
                  <a:srgbClr val="333333"/>
                </a:solidFill>
                <a:highlight>
                  <a:srgbClr val="FFFFFF"/>
                </a:highlight>
                <a:latin typeface="UniversRoman"/>
              </a:rPr>
              <a:t>’</a:t>
            </a:r>
            <a:br>
              <a:rPr lang="en-US" sz="2400" b="0" i="1" dirty="0">
                <a:solidFill>
                  <a:srgbClr val="333333"/>
                </a:solidFill>
                <a:effectLst/>
                <a:highlight>
                  <a:srgbClr val="FFFFFF"/>
                </a:highlight>
                <a:latin typeface="UniversRoman"/>
              </a:rPr>
            </a:br>
            <a:r>
              <a:rPr lang="en-US" sz="2400" b="0" dirty="0">
                <a:solidFill>
                  <a:srgbClr val="333333"/>
                </a:solidFill>
                <a:effectLst/>
                <a:highlight>
                  <a:srgbClr val="FFFFFF"/>
                </a:highlight>
                <a:latin typeface="UniversRoman"/>
              </a:rPr>
              <a:t>	</a:t>
            </a:r>
            <a:r>
              <a:rPr lang="en-US" sz="2400" b="1" dirty="0" err="1">
                <a:solidFill>
                  <a:srgbClr val="333333"/>
                </a:solidFill>
                <a:effectLst/>
                <a:highlight>
                  <a:srgbClr val="FFFFFF"/>
                </a:highlight>
                <a:latin typeface="UniversRoman"/>
              </a:rPr>
              <a:t>mkdir</a:t>
            </a:r>
            <a:r>
              <a:rPr lang="en-US" sz="2400" b="0" dirty="0">
                <a:solidFill>
                  <a:srgbClr val="333333"/>
                </a:solidFill>
                <a:effectLst/>
                <a:highlight>
                  <a:srgbClr val="FFFFFF"/>
                </a:highlight>
                <a:latin typeface="UniversRoman"/>
              </a:rPr>
              <a:t> </a:t>
            </a:r>
            <a:r>
              <a:rPr lang="en-US" sz="2400" b="1" dirty="0">
                <a:solidFill>
                  <a:srgbClr val="333333"/>
                </a:solidFill>
                <a:effectLst/>
                <a:highlight>
                  <a:srgbClr val="FFFFFF"/>
                </a:highlight>
                <a:latin typeface="UniversRoman"/>
              </a:rPr>
              <a:t>[</a:t>
            </a:r>
            <a:r>
              <a:rPr lang="en-US" sz="2400" b="1" dirty="0" err="1">
                <a:solidFill>
                  <a:srgbClr val="333333"/>
                </a:solidFill>
                <a:effectLst/>
                <a:highlight>
                  <a:srgbClr val="FFFFFF"/>
                </a:highlight>
                <a:latin typeface="UniversRoman"/>
              </a:rPr>
              <a:t>directoryname</a:t>
            </a:r>
            <a:r>
              <a:rPr lang="en-US" sz="2400" b="1" dirty="0">
                <a:solidFill>
                  <a:srgbClr val="333333"/>
                </a:solidFill>
                <a:effectLst/>
                <a:highlight>
                  <a:srgbClr val="FFFFFF"/>
                </a:highlight>
                <a:latin typeface="UniversRoman"/>
              </a:rPr>
              <a:t>]</a:t>
            </a:r>
            <a:r>
              <a:rPr lang="en-US" sz="2400" b="0" dirty="0">
                <a:solidFill>
                  <a:srgbClr val="333333"/>
                </a:solidFill>
                <a:effectLst/>
                <a:highlight>
                  <a:srgbClr val="FFFFFF"/>
                </a:highlight>
                <a:latin typeface="UniversRoman"/>
              </a:rPr>
              <a:t> </a:t>
            </a:r>
          </a:p>
          <a:p>
            <a:pPr algn="l"/>
            <a:endParaRPr lang="en-US" sz="2400" dirty="0">
              <a:solidFill>
                <a:srgbClr val="333333"/>
              </a:solidFill>
              <a:highlight>
                <a:srgbClr val="FFFFFF"/>
              </a:highlight>
              <a:latin typeface="UniversRoman"/>
            </a:endParaRPr>
          </a:p>
          <a:p>
            <a:pPr algn="l"/>
            <a:r>
              <a:rPr lang="en-US" sz="2400" dirty="0">
                <a:solidFill>
                  <a:srgbClr val="333333"/>
                </a:solidFill>
                <a:highlight>
                  <a:srgbClr val="FFFFFF"/>
                </a:highlight>
                <a:latin typeface="UniversRoman"/>
              </a:rPr>
              <a:t>3. Make a file in your directory, open the file and edit by adding a line (write ; quit)</a:t>
            </a:r>
          </a:p>
          <a:p>
            <a:pPr algn="l"/>
            <a:r>
              <a:rPr lang="en-US" sz="2400" b="1" dirty="0"/>
              <a:t>	nano [filename]</a:t>
            </a:r>
            <a:r>
              <a:rPr lang="en-US" sz="2400" dirty="0">
                <a:solidFill>
                  <a:srgbClr val="333333"/>
                </a:solidFill>
                <a:highlight>
                  <a:srgbClr val="FFFFFF"/>
                </a:highlight>
                <a:latin typeface="UniversRoman"/>
              </a:rPr>
              <a:t> – create a new file (follow prompts)</a:t>
            </a:r>
            <a:endParaRPr lang="en-US" sz="2400" b="1" i="0" dirty="0">
              <a:solidFill>
                <a:srgbClr val="333333"/>
              </a:solidFill>
              <a:effectLst/>
              <a:highlight>
                <a:srgbClr val="FFFFFF"/>
              </a:highlight>
              <a:latin typeface="UniversRoman"/>
            </a:endParaRPr>
          </a:p>
          <a:p>
            <a:r>
              <a:rPr lang="en-US" sz="2400" b="1" dirty="0">
                <a:solidFill>
                  <a:srgbClr val="333333"/>
                </a:solidFill>
                <a:highlight>
                  <a:srgbClr val="FFFFFF"/>
                </a:highlight>
                <a:latin typeface="UniversRoman"/>
              </a:rPr>
              <a:t>	v</a:t>
            </a:r>
            <a:r>
              <a:rPr lang="en-US" sz="2400" b="1" i="0" dirty="0">
                <a:solidFill>
                  <a:srgbClr val="333333"/>
                </a:solidFill>
                <a:effectLst/>
                <a:highlight>
                  <a:srgbClr val="FFFFFF"/>
                </a:highlight>
                <a:latin typeface="UniversRoman"/>
              </a:rPr>
              <a:t>i [filename] </a:t>
            </a:r>
            <a:r>
              <a:rPr lang="en-US" sz="2400" i="0" dirty="0">
                <a:solidFill>
                  <a:srgbClr val="333333"/>
                </a:solidFill>
                <a:effectLst/>
                <a:highlight>
                  <a:srgbClr val="FFFFFF"/>
                </a:highlight>
                <a:latin typeface="UniversRoman"/>
              </a:rPr>
              <a:t>– open the </a:t>
            </a:r>
            <a:r>
              <a:rPr lang="en-US" sz="2400" dirty="0">
                <a:solidFill>
                  <a:srgbClr val="333333"/>
                </a:solidFill>
                <a:highlight>
                  <a:srgbClr val="FFFFFF"/>
                </a:highlight>
                <a:latin typeface="UniversRoman"/>
              </a:rPr>
              <a:t>vi editor to modify a file (used for text file, code, etc.)</a:t>
            </a:r>
          </a:p>
          <a:p>
            <a:endParaRPr lang="en-US" sz="2400" b="0" i="0" dirty="0">
              <a:solidFill>
                <a:srgbClr val="333333"/>
              </a:solidFill>
              <a:effectLst/>
              <a:highlight>
                <a:srgbClr val="FFFFFF"/>
              </a:highlight>
              <a:latin typeface="UniversRoman"/>
            </a:endParaRPr>
          </a:p>
          <a:p>
            <a:pPr algn="l"/>
            <a:r>
              <a:rPr lang="en-US" sz="2400" i="0" dirty="0">
                <a:solidFill>
                  <a:srgbClr val="333333"/>
                </a:solidFill>
                <a:effectLst/>
                <a:highlight>
                  <a:srgbClr val="FFFFFF"/>
                </a:highlight>
                <a:latin typeface="UniversRoman"/>
              </a:rPr>
              <a:t>4. Display the contents of your file</a:t>
            </a:r>
          </a:p>
          <a:p>
            <a:pPr algn="l"/>
            <a:r>
              <a:rPr lang="en-US" sz="2400" dirty="0">
                <a:solidFill>
                  <a:srgbClr val="333333"/>
                </a:solidFill>
                <a:highlight>
                  <a:srgbClr val="FFFFFF"/>
                </a:highlight>
                <a:latin typeface="UniversRoman"/>
              </a:rPr>
              <a:t>	</a:t>
            </a:r>
            <a:r>
              <a:rPr lang="en-US" sz="2400" b="1" i="0" dirty="0">
                <a:solidFill>
                  <a:srgbClr val="333333"/>
                </a:solidFill>
                <a:effectLst/>
                <a:highlight>
                  <a:srgbClr val="FFFFFF"/>
                </a:highlight>
                <a:latin typeface="UniversRoman"/>
              </a:rPr>
              <a:t>cat</a:t>
            </a:r>
            <a:r>
              <a:rPr lang="en-US" sz="2400" b="1" dirty="0">
                <a:solidFill>
                  <a:srgbClr val="333333"/>
                </a:solidFill>
                <a:highlight>
                  <a:srgbClr val="FFFFFF"/>
                </a:highlight>
                <a:latin typeface="UniversRoman"/>
              </a:rPr>
              <a:t> [filename]</a:t>
            </a:r>
            <a:br>
              <a:rPr lang="en-US" sz="2400" b="0" i="0" dirty="0">
                <a:solidFill>
                  <a:srgbClr val="333333"/>
                </a:solidFill>
                <a:effectLst/>
                <a:highlight>
                  <a:srgbClr val="FFFFFF"/>
                </a:highlight>
                <a:latin typeface="UniversRoman"/>
              </a:rPr>
            </a:br>
            <a:endParaRPr lang="en-US" sz="2400" b="0" i="0" dirty="0">
              <a:solidFill>
                <a:srgbClr val="333333"/>
              </a:solidFill>
              <a:effectLst/>
              <a:highlight>
                <a:srgbClr val="FFFFFF"/>
              </a:highlight>
              <a:latin typeface="UniversRoman"/>
            </a:endParaRPr>
          </a:p>
          <a:p>
            <a:pPr algn="l"/>
            <a:r>
              <a:rPr lang="en-US" sz="2400" dirty="0">
                <a:solidFill>
                  <a:srgbClr val="333333"/>
                </a:solidFill>
                <a:highlight>
                  <a:srgbClr val="FFFFFF"/>
                </a:highlight>
                <a:latin typeface="UniversRoman"/>
              </a:rPr>
              <a:t>5. Duplicate the file </a:t>
            </a:r>
            <a:endParaRPr lang="en-US" sz="2400" b="0" i="0" dirty="0">
              <a:solidFill>
                <a:srgbClr val="333333"/>
              </a:solidFill>
              <a:effectLst/>
              <a:highlight>
                <a:srgbClr val="FFFFFF"/>
              </a:highlight>
              <a:latin typeface="UniversRoman"/>
            </a:endParaRPr>
          </a:p>
          <a:p>
            <a:pPr algn="l"/>
            <a:r>
              <a:rPr lang="en-US" sz="2400" b="1" i="0" dirty="0">
                <a:solidFill>
                  <a:srgbClr val="333333"/>
                </a:solidFill>
                <a:effectLst/>
                <a:highlight>
                  <a:srgbClr val="FFFFFF"/>
                </a:highlight>
                <a:latin typeface="UniversRoman"/>
              </a:rPr>
              <a:t>	cp [filename] [</a:t>
            </a:r>
            <a:r>
              <a:rPr lang="en-US" sz="2400" b="1" i="0" dirty="0" err="1">
                <a:solidFill>
                  <a:srgbClr val="333333"/>
                </a:solidFill>
                <a:effectLst/>
                <a:highlight>
                  <a:srgbClr val="FFFFFF"/>
                </a:highlight>
                <a:latin typeface="UniversRoman"/>
              </a:rPr>
              <a:t>new_filename</a:t>
            </a:r>
            <a:r>
              <a:rPr lang="en-US" sz="2400" b="1" i="0" dirty="0">
                <a:solidFill>
                  <a:srgbClr val="333333"/>
                </a:solidFill>
                <a:effectLst/>
                <a:highlight>
                  <a:srgbClr val="FFFFFF"/>
                </a:highlight>
                <a:latin typeface="UniversRoman"/>
              </a:rPr>
              <a:t>]</a:t>
            </a:r>
            <a:endParaRPr lang="en-US" sz="2400" b="1" dirty="0">
              <a:solidFill>
                <a:srgbClr val="333333"/>
              </a:solidFill>
              <a:highlight>
                <a:srgbClr val="FFFFFF"/>
              </a:highlight>
              <a:latin typeface="UniversRoman"/>
            </a:endParaRPr>
          </a:p>
          <a:p>
            <a:r>
              <a:rPr lang="en-US" sz="2400" b="1" dirty="0">
                <a:solidFill>
                  <a:srgbClr val="333333"/>
                </a:solidFill>
                <a:highlight>
                  <a:srgbClr val="FFFFFF"/>
                </a:highlight>
                <a:latin typeface="UniversRoman"/>
              </a:rPr>
              <a:t>	</a:t>
            </a:r>
            <a:r>
              <a:rPr lang="en-US" sz="2400" b="1" i="0" dirty="0" err="1">
                <a:solidFill>
                  <a:srgbClr val="333333"/>
                </a:solidFill>
                <a:effectLst/>
                <a:highlight>
                  <a:srgbClr val="FFFFFF"/>
                </a:highlight>
                <a:latin typeface="UniversRoman"/>
              </a:rPr>
              <a:t>scp</a:t>
            </a:r>
            <a:r>
              <a:rPr lang="en-US" sz="2400" i="0" dirty="0">
                <a:solidFill>
                  <a:srgbClr val="333333"/>
                </a:solidFill>
                <a:effectLst/>
                <a:highlight>
                  <a:srgbClr val="FFFFFF"/>
                </a:highlight>
                <a:latin typeface="UniversRoman"/>
              </a:rPr>
              <a:t> – copy a directory or file across systems</a:t>
            </a:r>
          </a:p>
          <a:p>
            <a:endParaRPr lang="en-US" sz="2400" b="0" i="0" dirty="0">
              <a:solidFill>
                <a:srgbClr val="333333"/>
              </a:solidFill>
              <a:effectLst/>
              <a:highlight>
                <a:srgbClr val="FFFFFF"/>
              </a:highlight>
              <a:latin typeface="UniversRoman"/>
            </a:endParaRPr>
          </a:p>
        </p:txBody>
      </p:sp>
      <p:pic>
        <p:nvPicPr>
          <p:cNvPr id="4" name="Picture 3" descr="A screenshot of a computer&#10;&#10;Description automatically generated">
            <a:extLst>
              <a:ext uri="{FF2B5EF4-FFF2-40B4-BE49-F238E27FC236}">
                <a16:creationId xmlns:a16="http://schemas.microsoft.com/office/drawing/2014/main" id="{26699FB4-5D33-17F3-E642-87C31DDD451F}"/>
              </a:ext>
            </a:extLst>
          </p:cNvPr>
          <p:cNvPicPr>
            <a:picLocks noChangeAspect="1"/>
          </p:cNvPicPr>
          <p:nvPr/>
        </p:nvPicPr>
        <p:blipFill>
          <a:blip r:embed="rId3"/>
          <a:stretch>
            <a:fillRect/>
          </a:stretch>
        </p:blipFill>
        <p:spPr>
          <a:xfrm>
            <a:off x="6103349" y="3534972"/>
            <a:ext cx="5386286" cy="3188562"/>
          </a:xfrm>
          <a:prstGeom prst="rect">
            <a:avLst/>
          </a:prstGeom>
        </p:spPr>
      </p:pic>
    </p:spTree>
    <p:extLst>
      <p:ext uri="{BB962C8B-B14F-4D97-AF65-F5344CB8AC3E}">
        <p14:creationId xmlns:p14="http://schemas.microsoft.com/office/powerpoint/2010/main" val="4152770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D6A1-1071-0EB2-1B69-508D20DA1AB7}"/>
              </a:ext>
            </a:extLst>
          </p:cNvPr>
          <p:cNvSpPr>
            <a:spLocks noGrp="1"/>
          </p:cNvSpPr>
          <p:nvPr>
            <p:ph type="title"/>
          </p:nvPr>
        </p:nvSpPr>
        <p:spPr>
          <a:xfrm>
            <a:off x="0" y="-98698"/>
            <a:ext cx="12191999" cy="1325563"/>
          </a:xfrm>
        </p:spPr>
        <p:txBody>
          <a:bodyPr>
            <a:normAutofit/>
          </a:bodyPr>
          <a:lstStyle/>
          <a:p>
            <a:pPr algn="ctr"/>
            <a:r>
              <a:rPr lang="en-US" dirty="0"/>
              <a:t>4. Code-Along Continued: Permissions </a:t>
            </a:r>
          </a:p>
        </p:txBody>
      </p:sp>
      <p:sp>
        <p:nvSpPr>
          <p:cNvPr id="13" name="TextBox 12">
            <a:extLst>
              <a:ext uri="{FF2B5EF4-FFF2-40B4-BE49-F238E27FC236}">
                <a16:creationId xmlns:a16="http://schemas.microsoft.com/office/drawing/2014/main" id="{89D1C047-BE0E-D50D-F5C1-ABD03F43940B}"/>
              </a:ext>
            </a:extLst>
          </p:cNvPr>
          <p:cNvSpPr txBox="1"/>
          <p:nvPr/>
        </p:nvSpPr>
        <p:spPr>
          <a:xfrm>
            <a:off x="581403" y="935360"/>
            <a:ext cx="11029192" cy="6740307"/>
          </a:xfrm>
          <a:prstGeom prst="rect">
            <a:avLst/>
          </a:prstGeom>
          <a:noFill/>
        </p:spPr>
        <p:txBody>
          <a:bodyPr wrap="square">
            <a:spAutoFit/>
          </a:bodyPr>
          <a:lstStyle/>
          <a:p>
            <a:r>
              <a:rPr lang="en-US" sz="2400" dirty="0">
                <a:solidFill>
                  <a:srgbClr val="333333"/>
                </a:solidFill>
                <a:highlight>
                  <a:srgbClr val="FFFFFF"/>
                </a:highlight>
                <a:latin typeface="UniversRoman"/>
              </a:rPr>
              <a:t>6. Check file permissions access</a:t>
            </a:r>
          </a:p>
          <a:p>
            <a:r>
              <a:rPr lang="en-US" sz="2400" b="0" i="0" dirty="0">
                <a:solidFill>
                  <a:srgbClr val="333333"/>
                </a:solidFill>
                <a:effectLst/>
                <a:highlight>
                  <a:srgbClr val="FFFFFF"/>
                </a:highlight>
                <a:latin typeface="UniversRoman"/>
              </a:rPr>
              <a:t>	</a:t>
            </a:r>
            <a:r>
              <a:rPr lang="en-US" sz="2400" b="1" i="0" dirty="0">
                <a:solidFill>
                  <a:srgbClr val="333333"/>
                </a:solidFill>
                <a:effectLst/>
                <a:highlight>
                  <a:srgbClr val="FFFFFF"/>
                </a:highlight>
                <a:latin typeface="UniversRoman"/>
              </a:rPr>
              <a:t>ls –l</a:t>
            </a:r>
          </a:p>
          <a:p>
            <a:endParaRPr lang="en-US" sz="2400" b="1" i="0" dirty="0">
              <a:solidFill>
                <a:srgbClr val="333333"/>
              </a:solidFill>
              <a:effectLst/>
              <a:highlight>
                <a:srgbClr val="FFFFFF"/>
              </a:highlight>
              <a:latin typeface="UniversRoman"/>
            </a:endParaRPr>
          </a:p>
          <a:p>
            <a:r>
              <a:rPr lang="en-US" sz="2400" dirty="0">
                <a:solidFill>
                  <a:srgbClr val="333333"/>
                </a:solidFill>
                <a:highlight>
                  <a:srgbClr val="FFFFFF"/>
                </a:highlight>
                <a:latin typeface="UniversRoman"/>
              </a:rPr>
              <a:t>7. Edit file permissions if needed ( +</a:t>
            </a:r>
            <a:r>
              <a:rPr lang="en-US" sz="2400" dirty="0" err="1">
                <a:solidFill>
                  <a:srgbClr val="333333"/>
                </a:solidFill>
                <a:highlight>
                  <a:srgbClr val="FFFFFF"/>
                </a:highlight>
                <a:latin typeface="UniversRoman"/>
              </a:rPr>
              <a:t>rxw</a:t>
            </a:r>
            <a:r>
              <a:rPr lang="en-US" sz="2400" dirty="0">
                <a:solidFill>
                  <a:srgbClr val="333333"/>
                </a:solidFill>
                <a:highlight>
                  <a:srgbClr val="FFFFFF"/>
                </a:highlight>
                <a:latin typeface="UniversRoman"/>
              </a:rPr>
              <a:t> --&gt; add read/edit/write)</a:t>
            </a:r>
            <a:endParaRPr lang="en-US" sz="2400" i="0" dirty="0">
              <a:solidFill>
                <a:srgbClr val="333333"/>
              </a:solidFill>
              <a:effectLst/>
              <a:highlight>
                <a:srgbClr val="FFFFFF"/>
              </a:highlight>
              <a:latin typeface="UniversRoman"/>
            </a:endParaRPr>
          </a:p>
          <a:p>
            <a:r>
              <a:rPr lang="en-US" sz="2400" b="1" dirty="0">
                <a:solidFill>
                  <a:srgbClr val="333333"/>
                </a:solidFill>
                <a:highlight>
                  <a:srgbClr val="FFFFFF"/>
                </a:highlight>
                <a:latin typeface="UniversRoman"/>
              </a:rPr>
              <a:t>	</a:t>
            </a:r>
            <a:r>
              <a:rPr lang="en-US" sz="2400" b="1" dirty="0" err="1">
                <a:solidFill>
                  <a:srgbClr val="333333"/>
                </a:solidFill>
                <a:highlight>
                  <a:srgbClr val="FFFFFF"/>
                </a:highlight>
                <a:latin typeface="UniversRoman"/>
              </a:rPr>
              <a:t>chmod</a:t>
            </a:r>
            <a:r>
              <a:rPr lang="en-US" sz="2400" b="1" dirty="0">
                <a:solidFill>
                  <a:srgbClr val="333333"/>
                </a:solidFill>
                <a:highlight>
                  <a:srgbClr val="FFFFFF"/>
                </a:highlight>
                <a:latin typeface="UniversRoman"/>
              </a:rPr>
              <a:t> +</a:t>
            </a:r>
            <a:r>
              <a:rPr lang="en-US" sz="2400" b="1" dirty="0" err="1">
                <a:solidFill>
                  <a:srgbClr val="333333"/>
                </a:solidFill>
                <a:highlight>
                  <a:srgbClr val="FFFFFF"/>
                </a:highlight>
                <a:latin typeface="UniversRoman"/>
              </a:rPr>
              <a:t>rxw</a:t>
            </a:r>
            <a:r>
              <a:rPr lang="en-US" sz="2400" b="1" dirty="0">
                <a:solidFill>
                  <a:srgbClr val="333333"/>
                </a:solidFill>
                <a:highlight>
                  <a:srgbClr val="FFFFFF"/>
                </a:highlight>
                <a:latin typeface="UniversRoman"/>
              </a:rPr>
              <a:t> [</a:t>
            </a:r>
            <a:r>
              <a:rPr lang="en-US" sz="2400" b="1" dirty="0" err="1">
                <a:solidFill>
                  <a:srgbClr val="333333"/>
                </a:solidFill>
                <a:highlight>
                  <a:srgbClr val="FFFFFF"/>
                </a:highlight>
                <a:latin typeface="UniversRoman"/>
              </a:rPr>
              <a:t>filename.py</a:t>
            </a:r>
            <a:r>
              <a:rPr lang="en-US" sz="2400" b="1" dirty="0">
                <a:solidFill>
                  <a:srgbClr val="333333"/>
                </a:solidFill>
                <a:highlight>
                  <a:srgbClr val="FFFFFF"/>
                </a:highlight>
                <a:latin typeface="UniversRoman"/>
              </a:rPr>
              <a:t>]</a:t>
            </a:r>
            <a:endParaRPr lang="en-US" sz="2400" b="0" i="0" dirty="0">
              <a:solidFill>
                <a:srgbClr val="333333"/>
              </a:solidFill>
              <a:effectLst/>
              <a:highlight>
                <a:srgbClr val="FFFFFF"/>
              </a:highlight>
              <a:latin typeface="UniversRoman"/>
            </a:endParaRPr>
          </a:p>
          <a:p>
            <a:endParaRPr lang="en-US" sz="2400"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 Trouble sharing a file or project? --&gt; </a:t>
            </a:r>
          </a:p>
          <a:p>
            <a:r>
              <a:rPr lang="en-US" sz="2400" dirty="0">
                <a:solidFill>
                  <a:srgbClr val="333333"/>
                </a:solidFill>
                <a:highlight>
                  <a:srgbClr val="FFFFFF"/>
                </a:highlight>
                <a:latin typeface="UniversRoman"/>
              </a:rPr>
              <a:t>		Always check user permission access to directories and files **</a:t>
            </a:r>
          </a:p>
          <a:p>
            <a:endParaRPr lang="en-US" sz="2400"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 You can also explore editing GitHub repository permissions (private vs public)</a:t>
            </a:r>
          </a:p>
          <a:p>
            <a:r>
              <a:rPr lang="en-US" sz="2400" dirty="0">
                <a:solidFill>
                  <a:srgbClr val="333333"/>
                </a:solidFill>
                <a:highlight>
                  <a:srgbClr val="FFFFFF"/>
                </a:highlight>
                <a:latin typeface="UniversRoman"/>
              </a:rPr>
              <a:t>Some other useful Linux commands:</a:t>
            </a:r>
          </a:p>
          <a:p>
            <a:r>
              <a:rPr lang="en-US" sz="2400" b="1" dirty="0">
                <a:solidFill>
                  <a:srgbClr val="333333"/>
                </a:solidFill>
                <a:highlight>
                  <a:srgbClr val="FFFFFF"/>
                </a:highlight>
                <a:latin typeface="UniversRoman"/>
              </a:rPr>
              <a:t>	mv &lt;</a:t>
            </a:r>
            <a:r>
              <a:rPr lang="en-US" sz="2400" b="1" dirty="0" err="1">
                <a:solidFill>
                  <a:srgbClr val="333333"/>
                </a:solidFill>
                <a:highlight>
                  <a:srgbClr val="FFFFFF"/>
                </a:highlight>
                <a:latin typeface="UniversRoman"/>
              </a:rPr>
              <a:t>directory_path</a:t>
            </a:r>
            <a:r>
              <a:rPr lang="en-US" sz="2400" b="1" dirty="0">
                <a:solidFill>
                  <a:srgbClr val="333333"/>
                </a:solidFill>
                <a:highlight>
                  <a:srgbClr val="FFFFFF"/>
                </a:highlight>
                <a:latin typeface="UniversRoman"/>
              </a:rPr>
              <a:t>&gt; &lt;</a:t>
            </a:r>
            <a:r>
              <a:rPr lang="en-US" sz="2400" b="1" dirty="0" err="1">
                <a:solidFill>
                  <a:srgbClr val="333333"/>
                </a:solidFill>
                <a:highlight>
                  <a:srgbClr val="FFFFFF"/>
                </a:highlight>
                <a:latin typeface="UniversRoman"/>
              </a:rPr>
              <a:t>destination_path</a:t>
            </a:r>
            <a:r>
              <a:rPr lang="en-US" sz="2400" b="1" dirty="0">
                <a:solidFill>
                  <a:srgbClr val="333333"/>
                </a:solidFill>
                <a:highlight>
                  <a:srgbClr val="FFFFFF"/>
                </a:highlight>
                <a:latin typeface="UniversRoman"/>
              </a:rPr>
              <a:t>&gt;</a:t>
            </a:r>
          </a:p>
          <a:p>
            <a:pPr algn="l"/>
            <a:r>
              <a:rPr lang="en-US" sz="2400" dirty="0">
                <a:solidFill>
                  <a:srgbClr val="333333"/>
                </a:solidFill>
                <a:highlight>
                  <a:srgbClr val="FFFFFF"/>
                </a:highlight>
                <a:latin typeface="UniversRoman"/>
              </a:rPr>
              <a:t>	</a:t>
            </a:r>
            <a:r>
              <a:rPr lang="en-US" sz="2400" b="1" i="0" dirty="0">
                <a:solidFill>
                  <a:srgbClr val="333333"/>
                </a:solidFill>
                <a:effectLst/>
                <a:highlight>
                  <a:srgbClr val="FFFFFF"/>
                </a:highlight>
                <a:latin typeface="UniversRoman"/>
              </a:rPr>
              <a:t>rm</a:t>
            </a:r>
            <a:r>
              <a:rPr lang="en-US" sz="2400" b="0" i="0" dirty="0">
                <a:solidFill>
                  <a:srgbClr val="333333"/>
                </a:solidFill>
                <a:effectLst/>
                <a:highlight>
                  <a:srgbClr val="FFFFFF"/>
                </a:highlight>
                <a:latin typeface="UniversRoman"/>
              </a:rPr>
              <a:t> - remove (BE CAREFUL, no undo or trash folder unless specified)</a:t>
            </a:r>
          </a:p>
          <a:p>
            <a:pPr algn="l"/>
            <a:r>
              <a:rPr lang="en-US" sz="2400" b="1" dirty="0">
                <a:solidFill>
                  <a:srgbClr val="333333"/>
                </a:solidFill>
                <a:highlight>
                  <a:srgbClr val="FFFFFF"/>
                </a:highlight>
                <a:latin typeface="UniversRoman"/>
              </a:rPr>
              <a:t>	</a:t>
            </a:r>
            <a:r>
              <a:rPr lang="en-US" sz="2400" b="1" dirty="0" err="1">
                <a:solidFill>
                  <a:srgbClr val="333333"/>
                </a:solidFill>
                <a:highlight>
                  <a:srgbClr val="FFFFFF"/>
                </a:highlight>
                <a:latin typeface="UniversRoman"/>
              </a:rPr>
              <a:t>r</a:t>
            </a:r>
            <a:r>
              <a:rPr lang="en-US" sz="2400" b="1" i="0" dirty="0" err="1">
                <a:solidFill>
                  <a:srgbClr val="333333"/>
                </a:solidFill>
                <a:effectLst/>
                <a:highlight>
                  <a:srgbClr val="FFFFFF"/>
                </a:highlight>
                <a:latin typeface="UniversRoman"/>
              </a:rPr>
              <a:t>mdir</a:t>
            </a:r>
            <a:r>
              <a:rPr lang="en-US" sz="2400" i="0" dirty="0">
                <a:solidFill>
                  <a:srgbClr val="333333"/>
                </a:solidFill>
                <a:effectLst/>
                <a:highlight>
                  <a:srgbClr val="FFFFFF"/>
                </a:highlight>
                <a:latin typeface="UniversRoman"/>
              </a:rPr>
              <a:t> – remove a directory (may need –r or –f modifier for contents)</a:t>
            </a:r>
          </a:p>
          <a:p>
            <a:r>
              <a:rPr lang="en-US" sz="2400" b="1" i="0" dirty="0">
                <a:solidFill>
                  <a:srgbClr val="333333"/>
                </a:solidFill>
                <a:effectLst/>
                <a:highlight>
                  <a:srgbClr val="FFFFFF"/>
                </a:highlight>
                <a:latin typeface="UniversRoman"/>
              </a:rPr>
              <a:t>	</a:t>
            </a:r>
            <a:r>
              <a:rPr lang="en-US" sz="2400" b="1" i="0" dirty="0" err="1">
                <a:solidFill>
                  <a:srgbClr val="333333"/>
                </a:solidFill>
                <a:effectLst/>
                <a:highlight>
                  <a:srgbClr val="FFFFFF"/>
                </a:highlight>
                <a:latin typeface="UniversRoman"/>
              </a:rPr>
              <a:t>rmdir</a:t>
            </a:r>
            <a:r>
              <a:rPr lang="en-US" sz="2400" b="1" i="0" dirty="0">
                <a:solidFill>
                  <a:srgbClr val="333333"/>
                </a:solidFill>
                <a:effectLst/>
                <a:highlight>
                  <a:srgbClr val="FFFFFF"/>
                </a:highlight>
                <a:latin typeface="UniversRoman"/>
              </a:rPr>
              <a:t> - rf</a:t>
            </a:r>
            <a:r>
              <a:rPr lang="en-US" sz="2400" i="0" dirty="0">
                <a:solidFill>
                  <a:srgbClr val="333333"/>
                </a:solidFill>
                <a:effectLst/>
                <a:highlight>
                  <a:srgbClr val="FFFFFF"/>
                </a:highlight>
                <a:latin typeface="UniversRoman"/>
              </a:rPr>
              <a:t>  </a:t>
            </a:r>
            <a:r>
              <a:rPr lang="en-US" sz="2400" b="1" i="0" dirty="0">
                <a:solidFill>
                  <a:srgbClr val="333333"/>
                </a:solidFill>
                <a:effectLst/>
                <a:highlight>
                  <a:srgbClr val="FFFFFF"/>
                </a:highlight>
                <a:latin typeface="UniversRoman"/>
              </a:rPr>
              <a:t>[directory name] </a:t>
            </a:r>
            <a:r>
              <a:rPr lang="en-US" sz="2400" i="0" dirty="0">
                <a:solidFill>
                  <a:srgbClr val="333333"/>
                </a:solidFill>
                <a:effectLst/>
                <a:highlight>
                  <a:srgbClr val="FFFFFF"/>
                </a:highlight>
                <a:latin typeface="UniversRoman"/>
              </a:rPr>
              <a:t>– remove a directory</a:t>
            </a:r>
          </a:p>
          <a:p>
            <a:endParaRPr lang="en-US" sz="2400" dirty="0">
              <a:solidFill>
                <a:srgbClr val="333333"/>
              </a:solidFill>
              <a:highlight>
                <a:srgbClr val="FFFFFF"/>
              </a:highlight>
              <a:latin typeface="UniversRoman"/>
            </a:endParaRPr>
          </a:p>
          <a:p>
            <a:endParaRPr lang="en-US" sz="2400" i="0" dirty="0">
              <a:solidFill>
                <a:srgbClr val="333333"/>
              </a:solidFill>
              <a:effectLst/>
              <a:highlight>
                <a:srgbClr val="FFFFFF"/>
              </a:highlight>
              <a:latin typeface="UniversRoman"/>
            </a:endParaRPr>
          </a:p>
          <a:p>
            <a:endParaRPr lang="en-US" sz="2400" b="1" dirty="0">
              <a:solidFill>
                <a:srgbClr val="333333"/>
              </a:solidFill>
              <a:highlight>
                <a:srgbClr val="FFFFFF"/>
              </a:highlight>
              <a:latin typeface="UniversRoman"/>
            </a:endParaRPr>
          </a:p>
        </p:txBody>
      </p:sp>
    </p:spTree>
    <p:extLst>
      <p:ext uri="{BB962C8B-B14F-4D97-AF65-F5344CB8AC3E}">
        <p14:creationId xmlns:p14="http://schemas.microsoft.com/office/powerpoint/2010/main" val="2374350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D6A1-1071-0EB2-1B69-508D20DA1AB7}"/>
              </a:ext>
            </a:extLst>
          </p:cNvPr>
          <p:cNvSpPr>
            <a:spLocks noGrp="1"/>
          </p:cNvSpPr>
          <p:nvPr>
            <p:ph type="title"/>
          </p:nvPr>
        </p:nvSpPr>
        <p:spPr>
          <a:xfrm>
            <a:off x="0" y="18032"/>
            <a:ext cx="12191999" cy="1325563"/>
          </a:xfrm>
        </p:spPr>
        <p:txBody>
          <a:bodyPr>
            <a:normAutofit/>
          </a:bodyPr>
          <a:lstStyle/>
          <a:p>
            <a:pPr algn="ctr"/>
            <a:r>
              <a:rPr lang="en-US" dirty="0"/>
              <a:t>4. Code-Along Continued: Add and Commit Local Changes to Remote Repository </a:t>
            </a:r>
          </a:p>
        </p:txBody>
      </p:sp>
      <p:sp>
        <p:nvSpPr>
          <p:cNvPr id="13" name="TextBox 12">
            <a:extLst>
              <a:ext uri="{FF2B5EF4-FFF2-40B4-BE49-F238E27FC236}">
                <a16:creationId xmlns:a16="http://schemas.microsoft.com/office/drawing/2014/main" id="{89D1C047-BE0E-D50D-F5C1-ABD03F43940B}"/>
              </a:ext>
            </a:extLst>
          </p:cNvPr>
          <p:cNvSpPr txBox="1"/>
          <p:nvPr/>
        </p:nvSpPr>
        <p:spPr>
          <a:xfrm>
            <a:off x="856034" y="1363375"/>
            <a:ext cx="10505872" cy="5170646"/>
          </a:xfrm>
          <a:prstGeom prst="rect">
            <a:avLst/>
          </a:prstGeom>
          <a:noFill/>
        </p:spPr>
        <p:txBody>
          <a:bodyPr wrap="square">
            <a:spAutoFit/>
          </a:bodyPr>
          <a:lstStyle/>
          <a:p>
            <a:r>
              <a:rPr lang="en-US" sz="2400" dirty="0">
                <a:solidFill>
                  <a:srgbClr val="333333"/>
                </a:solidFill>
                <a:highlight>
                  <a:srgbClr val="FFFFFF"/>
                </a:highlight>
                <a:latin typeface="UniversRoman"/>
              </a:rPr>
              <a:t>8. Check your working branch – should be “main” branch right now</a:t>
            </a:r>
          </a:p>
          <a:p>
            <a:r>
              <a:rPr lang="en-US" sz="2400" dirty="0">
                <a:solidFill>
                  <a:srgbClr val="333333"/>
                </a:solidFill>
                <a:highlight>
                  <a:srgbClr val="FFFFFF"/>
                </a:highlight>
                <a:latin typeface="UniversRoman"/>
              </a:rPr>
              <a:t>	</a:t>
            </a:r>
            <a:r>
              <a:rPr lang="en-US" sz="2400" b="1" dirty="0">
                <a:solidFill>
                  <a:srgbClr val="333333"/>
                </a:solidFill>
                <a:highlight>
                  <a:srgbClr val="FFFFFF"/>
                </a:highlight>
                <a:latin typeface="UniversRoman"/>
              </a:rPr>
              <a:t>git branch</a:t>
            </a:r>
          </a:p>
          <a:p>
            <a:endParaRPr lang="en-US" sz="2400"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9. Add your changes to the branch - </a:t>
            </a:r>
            <a:r>
              <a:rPr lang="en-US" sz="2400" b="0" i="0" dirty="0">
                <a:solidFill>
                  <a:srgbClr val="1F2328"/>
                </a:solidFill>
                <a:effectLst/>
                <a:highlight>
                  <a:srgbClr val="FFFFFF"/>
                </a:highlight>
                <a:latin typeface="Mona Sans"/>
              </a:rPr>
              <a:t>This step allows you to choose what you are going to commit (see </a:t>
            </a:r>
            <a:r>
              <a:rPr lang="en-US" sz="2400" b="0" i="0" dirty="0">
                <a:solidFill>
                  <a:srgbClr val="1F2328"/>
                </a:solidFill>
                <a:effectLst/>
                <a:highlight>
                  <a:srgbClr val="FFFFFF"/>
                </a:highlight>
                <a:latin typeface="Mona Sans"/>
                <a:hlinkClick r:id="rId3"/>
              </a:rPr>
              <a:t>https://git-scm.com/docs/git-add </a:t>
            </a:r>
            <a:r>
              <a:rPr lang="en-US" sz="2400" b="0" i="0" dirty="0">
                <a:solidFill>
                  <a:srgbClr val="1F2328"/>
                </a:solidFill>
                <a:effectLst/>
                <a:highlight>
                  <a:srgbClr val="FFFFFF"/>
                </a:highlight>
                <a:latin typeface="Mona Sans"/>
              </a:rPr>
              <a:t> and </a:t>
            </a:r>
            <a:r>
              <a:rPr lang="en-US" sz="2400" b="0" i="0" dirty="0">
                <a:solidFill>
                  <a:srgbClr val="1F2328"/>
                </a:solidFill>
                <a:effectLst/>
                <a:highlight>
                  <a:srgbClr val="FFFFFF"/>
                </a:highlight>
                <a:latin typeface="Mona Sans"/>
                <a:hlinkClick r:id="rId4"/>
              </a:rPr>
              <a:t>https://github.com/git-guides/git-add </a:t>
            </a:r>
            <a:r>
              <a:rPr lang="en-US" sz="2400" b="0" i="0" dirty="0">
                <a:solidFill>
                  <a:srgbClr val="1F2328"/>
                </a:solidFill>
                <a:effectLst/>
                <a:highlight>
                  <a:srgbClr val="FFFFFF"/>
                </a:highlight>
                <a:latin typeface="Mona Sans"/>
              </a:rPr>
              <a:t>for more information)</a:t>
            </a:r>
            <a:endParaRPr lang="en-US" sz="2400"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	</a:t>
            </a:r>
          </a:p>
          <a:p>
            <a:r>
              <a:rPr lang="en-US" sz="2400" b="1" dirty="0">
                <a:solidFill>
                  <a:srgbClr val="333333"/>
                </a:solidFill>
                <a:highlight>
                  <a:srgbClr val="FFFFFF"/>
                </a:highlight>
                <a:latin typeface="UniversRoman"/>
              </a:rPr>
              <a:t>	git add . </a:t>
            </a:r>
            <a:r>
              <a:rPr lang="en-US" sz="2400" dirty="0">
                <a:solidFill>
                  <a:srgbClr val="333333"/>
                </a:solidFill>
                <a:highlight>
                  <a:srgbClr val="FFFFFF"/>
                </a:highlight>
                <a:latin typeface="UniversRoman"/>
              </a:rPr>
              <a:t>	--&gt; add all files in the current directory</a:t>
            </a:r>
          </a:p>
          <a:p>
            <a:r>
              <a:rPr lang="en-US" sz="2400" dirty="0">
                <a:solidFill>
                  <a:srgbClr val="333333"/>
                </a:solidFill>
                <a:highlight>
                  <a:srgbClr val="FFFFFF"/>
                </a:highlight>
                <a:latin typeface="UniversRoman"/>
              </a:rPr>
              <a:t>	</a:t>
            </a:r>
            <a:r>
              <a:rPr lang="en-US" sz="2400" b="1" dirty="0">
                <a:solidFill>
                  <a:srgbClr val="333333"/>
                </a:solidFill>
                <a:highlight>
                  <a:srgbClr val="FFFFFF"/>
                </a:highlight>
                <a:latin typeface="UniversRoman"/>
              </a:rPr>
              <a:t>git add [filename] </a:t>
            </a:r>
            <a:r>
              <a:rPr lang="en-US" sz="2400" dirty="0">
                <a:solidFill>
                  <a:srgbClr val="333333"/>
                </a:solidFill>
                <a:highlight>
                  <a:srgbClr val="FFFFFF"/>
                </a:highlight>
                <a:latin typeface="UniversRoman"/>
              </a:rPr>
              <a:t>	--&gt; add a particular file</a:t>
            </a:r>
          </a:p>
          <a:p>
            <a:r>
              <a:rPr lang="en-US" sz="1800" b="0" i="0" u="none" strike="noStrike" dirty="0">
                <a:solidFill>
                  <a:srgbClr val="212121"/>
                </a:solidFill>
                <a:effectLst/>
                <a:latin typeface="Calibri" panose="020F0502020204030204" pitchFamily="34" charset="0"/>
              </a:rPr>
              <a:t>	</a:t>
            </a:r>
            <a:endParaRPr lang="en-US" sz="2400"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7. Commit your changes and add comment. </a:t>
            </a:r>
            <a:r>
              <a:rPr kumimoji="0" lang="en-US" altLang="en-US" sz="2400" b="0" i="1" u="none" strike="noStrike" cap="none" normalizeH="0" baseline="0" dirty="0">
                <a:ln>
                  <a:noFill/>
                </a:ln>
                <a:solidFill>
                  <a:srgbClr val="2D3B45"/>
                </a:solidFill>
                <a:effectLst/>
              </a:rPr>
              <a:t>This is like a snapshot of your repository at a specific time.</a:t>
            </a:r>
            <a:endParaRPr lang="en-US" sz="2400" dirty="0">
              <a:solidFill>
                <a:srgbClr val="333333"/>
              </a:solidFill>
              <a:highlight>
                <a:srgbClr val="FFFFFF"/>
              </a:highlight>
              <a:latin typeface="UniversRoman"/>
            </a:endParaRPr>
          </a:p>
          <a:p>
            <a:pPr algn="l"/>
            <a:r>
              <a:rPr lang="en-US" sz="2400" dirty="0">
                <a:solidFill>
                  <a:srgbClr val="333333"/>
                </a:solidFill>
                <a:highlight>
                  <a:srgbClr val="FFFFFF"/>
                </a:highlight>
                <a:latin typeface="UniversRoman"/>
              </a:rPr>
              <a:t>	</a:t>
            </a:r>
          </a:p>
          <a:p>
            <a:pPr algn="l"/>
            <a:r>
              <a:rPr lang="en-US" sz="2400" b="1" dirty="0">
                <a:solidFill>
                  <a:srgbClr val="333333"/>
                </a:solidFill>
                <a:highlight>
                  <a:srgbClr val="FFFFFF"/>
                </a:highlight>
                <a:latin typeface="UniversRoman"/>
              </a:rPr>
              <a:t>	git commit –m “commit comment here”</a:t>
            </a:r>
          </a:p>
        </p:txBody>
      </p:sp>
    </p:spTree>
    <p:extLst>
      <p:ext uri="{BB962C8B-B14F-4D97-AF65-F5344CB8AC3E}">
        <p14:creationId xmlns:p14="http://schemas.microsoft.com/office/powerpoint/2010/main" val="2788470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D6A1-1071-0EB2-1B69-508D20DA1AB7}"/>
              </a:ext>
            </a:extLst>
          </p:cNvPr>
          <p:cNvSpPr>
            <a:spLocks noGrp="1"/>
          </p:cNvSpPr>
          <p:nvPr>
            <p:ph type="title"/>
          </p:nvPr>
        </p:nvSpPr>
        <p:spPr>
          <a:xfrm>
            <a:off x="0" y="76398"/>
            <a:ext cx="12191999" cy="1325563"/>
          </a:xfrm>
        </p:spPr>
        <p:txBody>
          <a:bodyPr>
            <a:normAutofit/>
          </a:bodyPr>
          <a:lstStyle/>
          <a:p>
            <a:pPr algn="ctr"/>
            <a:r>
              <a:rPr lang="en-US" dirty="0"/>
              <a:t>4. Code-Along Continued: Push to Remote Repository (cloud)</a:t>
            </a:r>
          </a:p>
        </p:txBody>
      </p:sp>
      <p:sp>
        <p:nvSpPr>
          <p:cNvPr id="4" name="TextBox 3">
            <a:extLst>
              <a:ext uri="{FF2B5EF4-FFF2-40B4-BE49-F238E27FC236}">
                <a16:creationId xmlns:a16="http://schemas.microsoft.com/office/drawing/2014/main" id="{982C5BB8-427E-B620-142E-132E3A10082D}"/>
              </a:ext>
            </a:extLst>
          </p:cNvPr>
          <p:cNvSpPr txBox="1"/>
          <p:nvPr/>
        </p:nvSpPr>
        <p:spPr>
          <a:xfrm>
            <a:off x="598250" y="1678419"/>
            <a:ext cx="11055486" cy="1569660"/>
          </a:xfrm>
          <a:prstGeom prst="rect">
            <a:avLst/>
          </a:prstGeom>
          <a:noFill/>
        </p:spPr>
        <p:txBody>
          <a:bodyPr wrap="square">
            <a:spAutoFit/>
          </a:bodyPr>
          <a:lstStyle/>
          <a:p>
            <a:r>
              <a:rPr lang="en-US" sz="2400" dirty="0">
                <a:solidFill>
                  <a:srgbClr val="333333"/>
                </a:solidFill>
                <a:highlight>
                  <a:srgbClr val="FFFFFF"/>
                </a:highlight>
                <a:latin typeface="UniversRoman"/>
              </a:rPr>
              <a:t>8. Push your commit from your local repository to the remote repository (GitHub Cloud)</a:t>
            </a:r>
          </a:p>
          <a:p>
            <a:r>
              <a:rPr lang="en-US" sz="2400" dirty="0">
                <a:solidFill>
                  <a:srgbClr val="333333"/>
                </a:solidFill>
                <a:highlight>
                  <a:srgbClr val="FFFFFF"/>
                </a:highlight>
                <a:latin typeface="UniversRoman"/>
              </a:rPr>
              <a:t>	</a:t>
            </a:r>
            <a:r>
              <a:rPr lang="en-US" sz="2400" b="1" dirty="0">
                <a:solidFill>
                  <a:srgbClr val="333333"/>
                </a:solidFill>
                <a:highlight>
                  <a:srgbClr val="FFFFFF"/>
                </a:highlight>
                <a:latin typeface="UniversRoman"/>
              </a:rPr>
              <a:t> git push</a:t>
            </a:r>
          </a:p>
          <a:p>
            <a:endParaRPr lang="en-US" sz="2400" b="1"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9. Use Login credentials and Access Token if needed </a:t>
            </a:r>
          </a:p>
        </p:txBody>
      </p:sp>
      <p:pic>
        <p:nvPicPr>
          <p:cNvPr id="5" name="Picture 2" descr="3-Workflow">
            <a:extLst>
              <a:ext uri="{FF2B5EF4-FFF2-40B4-BE49-F238E27FC236}">
                <a16:creationId xmlns:a16="http://schemas.microsoft.com/office/drawing/2014/main" id="{AE6EB849-0BFC-4ED8-E474-B3490A06E22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98250" y="4047667"/>
            <a:ext cx="11191894" cy="2706136"/>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7C72215C-7D5D-4F09-33E3-62E53FE91E74}"/>
              </a:ext>
            </a:extLst>
          </p:cNvPr>
          <p:cNvSpPr txBox="1">
            <a:spLocks/>
          </p:cNvSpPr>
          <p:nvPr/>
        </p:nvSpPr>
        <p:spPr>
          <a:xfrm>
            <a:off x="3347936" y="3131967"/>
            <a:ext cx="593225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Typical GitHub Workflow</a:t>
            </a:r>
          </a:p>
        </p:txBody>
      </p:sp>
    </p:spTree>
    <p:extLst>
      <p:ext uri="{BB962C8B-B14F-4D97-AF65-F5344CB8AC3E}">
        <p14:creationId xmlns:p14="http://schemas.microsoft.com/office/powerpoint/2010/main" val="2605775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464960-7213-583A-8B25-0BD8905F4AF4}"/>
              </a:ext>
            </a:extLst>
          </p:cNvPr>
          <p:cNvSpPr>
            <a:spLocks noGrp="1"/>
          </p:cNvSpPr>
          <p:nvPr>
            <p:ph idx="1"/>
          </p:nvPr>
        </p:nvSpPr>
        <p:spPr>
          <a:xfrm>
            <a:off x="447473" y="1401960"/>
            <a:ext cx="11186808" cy="5173937"/>
          </a:xfrm>
        </p:spPr>
        <p:txBody>
          <a:bodyPr>
            <a:normAutofit lnSpcReduction="10000"/>
          </a:bodyPr>
          <a:lstStyle/>
          <a:p>
            <a:pPr marL="0" indent="0">
              <a:buNone/>
            </a:pPr>
            <a:r>
              <a:rPr lang="en-US" u="sng" dirty="0"/>
              <a:t>Cloning:</a:t>
            </a:r>
            <a:r>
              <a:rPr lang="en-US" dirty="0"/>
              <a:t> </a:t>
            </a:r>
            <a:r>
              <a:rPr lang="en-US" b="0" i="0" dirty="0">
                <a:solidFill>
                  <a:srgbClr val="202124"/>
                </a:solidFill>
                <a:effectLst/>
                <a:highlight>
                  <a:srgbClr val="FFFFFF"/>
                </a:highlight>
                <a:latin typeface="Google Sans"/>
              </a:rPr>
              <a:t>downloads a repository for </a:t>
            </a:r>
            <a:r>
              <a:rPr lang="en-US" b="1" i="0" dirty="0">
                <a:solidFill>
                  <a:srgbClr val="202124"/>
                </a:solidFill>
                <a:effectLst/>
                <a:highlight>
                  <a:srgbClr val="FFFFFF"/>
                </a:highlight>
                <a:latin typeface="Google Sans"/>
              </a:rPr>
              <a:t>local development</a:t>
            </a:r>
          </a:p>
          <a:p>
            <a:pPr marL="0" indent="0">
              <a:buNone/>
            </a:pPr>
            <a:endParaRPr lang="en-US" b="1" u="sng" dirty="0"/>
          </a:p>
          <a:p>
            <a:pPr marL="0" indent="0">
              <a:buNone/>
            </a:pPr>
            <a:r>
              <a:rPr lang="en-US" u="sng" dirty="0"/>
              <a:t>Forking:</a:t>
            </a:r>
            <a:r>
              <a:rPr lang="en-US" b="1" dirty="0"/>
              <a:t> independent copy </a:t>
            </a:r>
            <a:r>
              <a:rPr lang="en-US" dirty="0"/>
              <a:t>of an original repository </a:t>
            </a:r>
          </a:p>
          <a:p>
            <a:pPr marL="0" indent="0">
              <a:buNone/>
            </a:pPr>
            <a:endParaRPr lang="en-US" dirty="0"/>
          </a:p>
          <a:p>
            <a:pPr marL="0" indent="0">
              <a:buNone/>
            </a:pPr>
            <a:r>
              <a:rPr lang="en-US" u="sng" dirty="0"/>
              <a:t>Branching:</a:t>
            </a:r>
            <a:r>
              <a:rPr lang="en-US" dirty="0"/>
              <a:t> </a:t>
            </a:r>
            <a:r>
              <a:rPr lang="en-US" b="1" i="0" dirty="0">
                <a:solidFill>
                  <a:srgbClr val="202124"/>
                </a:solidFill>
                <a:effectLst/>
                <a:highlight>
                  <a:srgbClr val="FFFFFF"/>
                </a:highlight>
                <a:latin typeface="Google Sans"/>
              </a:rPr>
              <a:t>parallel development </a:t>
            </a:r>
            <a:r>
              <a:rPr lang="en-US" b="0" i="0" dirty="0">
                <a:solidFill>
                  <a:srgbClr val="202124"/>
                </a:solidFill>
                <a:effectLst/>
                <a:highlight>
                  <a:srgbClr val="FFFFFF"/>
                </a:highlight>
                <a:latin typeface="Google Sans"/>
              </a:rPr>
              <a:t>within the same repository</a:t>
            </a:r>
            <a:endParaRPr lang="en-US" u="sng" dirty="0"/>
          </a:p>
          <a:p>
            <a:r>
              <a:rPr lang="en-US" dirty="0"/>
              <a:t>Main project --&gt; multiple collaborators &amp; components (branches)</a:t>
            </a:r>
          </a:p>
          <a:p>
            <a:r>
              <a:rPr lang="en-US" dirty="0"/>
              <a:t>Requires communication &amp; coordination for branch management</a:t>
            </a:r>
          </a:p>
          <a:p>
            <a:endParaRPr lang="en-US" dirty="0"/>
          </a:p>
          <a:p>
            <a:pPr marL="0" indent="0" algn="ctr">
              <a:buNone/>
            </a:pPr>
            <a:r>
              <a:rPr lang="en-US" b="1" dirty="0"/>
              <a:t>Repository Home Page --&gt; Settings --&gt; Collaborators --&gt; Add People</a:t>
            </a:r>
            <a:endParaRPr lang="en-US" dirty="0"/>
          </a:p>
          <a:p>
            <a:pPr marL="0" indent="0">
              <a:buNone/>
            </a:pPr>
            <a:r>
              <a:rPr lang="en-US" dirty="0"/>
              <a:t>** Collaborators need to accept invitation</a:t>
            </a:r>
          </a:p>
          <a:p>
            <a:pPr marL="0" indent="0">
              <a:buNone/>
            </a:pPr>
            <a:r>
              <a:rPr lang="en-US" dirty="0"/>
              <a:t>** Collaborators have read/write/edit access to your Repository</a:t>
            </a:r>
          </a:p>
        </p:txBody>
      </p:sp>
      <p:sp>
        <p:nvSpPr>
          <p:cNvPr id="4" name="Title 1">
            <a:extLst>
              <a:ext uri="{FF2B5EF4-FFF2-40B4-BE49-F238E27FC236}">
                <a16:creationId xmlns:a16="http://schemas.microsoft.com/office/drawing/2014/main" id="{31ED9BE1-EF24-D077-723D-314033755B4F}"/>
              </a:ext>
            </a:extLst>
          </p:cNvPr>
          <p:cNvSpPr txBox="1">
            <a:spLocks/>
          </p:cNvSpPr>
          <p:nvPr/>
        </p:nvSpPr>
        <p:spPr>
          <a:xfrm>
            <a:off x="0" y="76398"/>
            <a:ext cx="1219199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5. GitHub: Cloning vs Forking vs Branching</a:t>
            </a:r>
          </a:p>
        </p:txBody>
      </p:sp>
    </p:spTree>
    <p:extLst>
      <p:ext uri="{BB962C8B-B14F-4D97-AF65-F5344CB8AC3E}">
        <p14:creationId xmlns:p14="http://schemas.microsoft.com/office/powerpoint/2010/main" val="217144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14E757-ED3C-0A3F-4E24-578F1F073B62}"/>
              </a:ext>
            </a:extLst>
          </p:cNvPr>
          <p:cNvSpPr>
            <a:spLocks noGrp="1"/>
          </p:cNvSpPr>
          <p:nvPr>
            <p:ph idx="1"/>
          </p:nvPr>
        </p:nvSpPr>
        <p:spPr>
          <a:xfrm>
            <a:off x="838200" y="1401961"/>
            <a:ext cx="10515600" cy="4775002"/>
          </a:xfrm>
        </p:spPr>
        <p:txBody>
          <a:bodyPr/>
          <a:lstStyle/>
          <a:p>
            <a:pPr marL="514350" indent="-514350">
              <a:buAutoNum type="arabicPeriod"/>
            </a:pPr>
            <a:r>
              <a:rPr lang="en-US" dirty="0"/>
              <a:t>Remote Origin (GitHub Cloud) --&gt; browser-display repository</a:t>
            </a:r>
          </a:p>
          <a:p>
            <a:pPr lvl="1"/>
            <a:r>
              <a:rPr lang="en-US" dirty="0"/>
              <a:t>Main Branch</a:t>
            </a:r>
          </a:p>
          <a:p>
            <a:pPr lvl="1"/>
            <a:r>
              <a:rPr lang="en-US" dirty="0"/>
              <a:t>Sub-branches</a:t>
            </a:r>
          </a:p>
          <a:p>
            <a:pPr lvl="1"/>
            <a:endParaRPr lang="en-US" dirty="0"/>
          </a:p>
          <a:p>
            <a:pPr marL="514350" indent="-514350">
              <a:buAutoNum type="arabicPeriod"/>
            </a:pPr>
            <a:r>
              <a:rPr lang="en-US" dirty="0"/>
              <a:t>Local Repository Clone (your device or Expanse account)</a:t>
            </a:r>
          </a:p>
          <a:p>
            <a:pPr lvl="1"/>
            <a:r>
              <a:rPr lang="en-US" dirty="0"/>
              <a:t>Cloned Main Branch, aka the Local Main Branch</a:t>
            </a:r>
          </a:p>
          <a:p>
            <a:pPr lvl="1"/>
            <a:r>
              <a:rPr lang="en-US" dirty="0"/>
              <a:t>Local-only Branches ( can be shared to the remote origin if needed)</a:t>
            </a:r>
          </a:p>
          <a:p>
            <a:pPr lvl="1"/>
            <a:endParaRPr lang="en-US" dirty="0"/>
          </a:p>
          <a:p>
            <a:pPr marL="0" indent="0">
              <a:buNone/>
            </a:pPr>
            <a:r>
              <a:rPr lang="en-US" dirty="0"/>
              <a:t>More information/branch walkthrough: 				</a:t>
            </a:r>
            <a:r>
              <a:rPr lang="en-US" dirty="0">
                <a:hlinkClick r:id="rId3"/>
              </a:rPr>
              <a:t>https://www.varonis.com/blog/git-branching</a:t>
            </a:r>
            <a:endParaRPr lang="en-US" dirty="0"/>
          </a:p>
          <a:p>
            <a:pPr marL="0" indent="0">
              <a:buNone/>
            </a:pPr>
            <a:endParaRPr lang="en-US" dirty="0"/>
          </a:p>
        </p:txBody>
      </p:sp>
      <p:sp>
        <p:nvSpPr>
          <p:cNvPr id="4" name="Title 1">
            <a:extLst>
              <a:ext uri="{FF2B5EF4-FFF2-40B4-BE49-F238E27FC236}">
                <a16:creationId xmlns:a16="http://schemas.microsoft.com/office/drawing/2014/main" id="{8303F9BC-DB4E-B07F-E89A-AB84AA679B0E}"/>
              </a:ext>
            </a:extLst>
          </p:cNvPr>
          <p:cNvSpPr txBox="1">
            <a:spLocks/>
          </p:cNvSpPr>
          <p:nvPr/>
        </p:nvSpPr>
        <p:spPr>
          <a:xfrm>
            <a:off x="0" y="76398"/>
            <a:ext cx="1219199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5. GitHub: Branch Management &amp; Collaboration </a:t>
            </a:r>
          </a:p>
        </p:txBody>
      </p:sp>
    </p:spTree>
    <p:extLst>
      <p:ext uri="{BB962C8B-B14F-4D97-AF65-F5344CB8AC3E}">
        <p14:creationId xmlns:p14="http://schemas.microsoft.com/office/powerpoint/2010/main" val="1549407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402EE-8D3A-6518-05EF-397E900F7600}"/>
              </a:ext>
            </a:extLst>
          </p:cNvPr>
          <p:cNvSpPr>
            <a:spLocks noGrp="1"/>
          </p:cNvSpPr>
          <p:nvPr>
            <p:ph type="title"/>
          </p:nvPr>
        </p:nvSpPr>
        <p:spPr>
          <a:xfrm>
            <a:off x="838200" y="18255"/>
            <a:ext cx="10515600" cy="1325563"/>
          </a:xfrm>
        </p:spPr>
        <p:txBody>
          <a:bodyPr/>
          <a:lstStyle/>
          <a:p>
            <a:pPr algn="ctr"/>
            <a:r>
              <a:rPr lang="en-US" dirty="0"/>
              <a:t>Branch Workflow Options</a:t>
            </a:r>
          </a:p>
        </p:txBody>
      </p:sp>
      <p:sp>
        <p:nvSpPr>
          <p:cNvPr id="3" name="Content Placeholder 2">
            <a:extLst>
              <a:ext uri="{FF2B5EF4-FFF2-40B4-BE49-F238E27FC236}">
                <a16:creationId xmlns:a16="http://schemas.microsoft.com/office/drawing/2014/main" id="{C44E5D89-92A3-FEE0-47FC-F202BF192320}"/>
              </a:ext>
            </a:extLst>
          </p:cNvPr>
          <p:cNvSpPr>
            <a:spLocks noGrp="1"/>
          </p:cNvSpPr>
          <p:nvPr>
            <p:ph idx="1"/>
          </p:nvPr>
        </p:nvSpPr>
        <p:spPr>
          <a:xfrm>
            <a:off x="202253" y="1498061"/>
            <a:ext cx="4168709" cy="2431268"/>
          </a:xfrm>
        </p:spPr>
        <p:txBody>
          <a:bodyPr>
            <a:normAutofit/>
          </a:bodyPr>
          <a:lstStyle/>
          <a:p>
            <a:r>
              <a:rPr lang="en-US" sz="2800" dirty="0">
                <a:solidFill>
                  <a:srgbClr val="333333"/>
                </a:solidFill>
                <a:highlight>
                  <a:srgbClr val="FFFFFF"/>
                </a:highlight>
                <a:latin typeface="UniversRoman"/>
              </a:rPr>
              <a:t>Local-only branch</a:t>
            </a:r>
          </a:p>
          <a:p>
            <a:r>
              <a:rPr lang="en-US" dirty="0">
                <a:solidFill>
                  <a:srgbClr val="333333"/>
                </a:solidFill>
                <a:highlight>
                  <a:srgbClr val="FFFFFF"/>
                </a:highlight>
                <a:latin typeface="UniversRoman"/>
              </a:rPr>
              <a:t>Sub-project branch</a:t>
            </a:r>
          </a:p>
          <a:p>
            <a:r>
              <a:rPr lang="en-US" sz="2800" dirty="0">
                <a:solidFill>
                  <a:srgbClr val="333333"/>
                </a:solidFill>
                <a:highlight>
                  <a:srgbClr val="FFFFFF"/>
                </a:highlight>
                <a:latin typeface="UniversRoman"/>
              </a:rPr>
              <a:t>Version control for a final project (</a:t>
            </a:r>
            <a:r>
              <a:rPr lang="en-US" sz="2800" dirty="0" err="1">
                <a:solidFill>
                  <a:srgbClr val="333333"/>
                </a:solidFill>
                <a:highlight>
                  <a:srgbClr val="FFFFFF"/>
                </a:highlight>
                <a:latin typeface="UniversRoman"/>
              </a:rPr>
              <a:t>ie</a:t>
            </a:r>
            <a:r>
              <a:rPr lang="en-US" sz="2800" dirty="0">
                <a:solidFill>
                  <a:srgbClr val="333333"/>
                </a:solidFill>
                <a:highlight>
                  <a:srgbClr val="FFFFFF"/>
                </a:highlight>
                <a:latin typeface="UniversRoman"/>
              </a:rPr>
              <a:t>: </a:t>
            </a:r>
            <a:r>
              <a:rPr lang="en-US" sz="2800" dirty="0" err="1">
                <a:solidFill>
                  <a:srgbClr val="333333"/>
                </a:solidFill>
                <a:highlight>
                  <a:srgbClr val="FFFFFF"/>
                </a:highlight>
                <a:latin typeface="UniversRoman"/>
              </a:rPr>
              <a:t>Pylib</a:t>
            </a:r>
            <a:r>
              <a:rPr lang="en-US" sz="2800" dirty="0">
                <a:solidFill>
                  <a:srgbClr val="333333"/>
                </a:solidFill>
                <a:highlight>
                  <a:srgbClr val="FFFFFF"/>
                </a:highlight>
                <a:latin typeface="UniversRoman"/>
              </a:rPr>
              <a:t> versions)</a:t>
            </a:r>
          </a:p>
          <a:p>
            <a:endParaRPr lang="en-US" dirty="0"/>
          </a:p>
        </p:txBody>
      </p:sp>
      <p:graphicFrame>
        <p:nvGraphicFramePr>
          <p:cNvPr id="5" name="Diagram 4">
            <a:extLst>
              <a:ext uri="{FF2B5EF4-FFF2-40B4-BE49-F238E27FC236}">
                <a16:creationId xmlns:a16="http://schemas.microsoft.com/office/drawing/2014/main" id="{3CF7F1A4-6E4A-9D08-2A1B-4DD0FBA53103}"/>
              </a:ext>
            </a:extLst>
          </p:cNvPr>
          <p:cNvGraphicFramePr/>
          <p:nvPr/>
        </p:nvGraphicFramePr>
        <p:xfrm>
          <a:off x="1759625" y="2957028"/>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8D4A1009-AE4B-9555-BAEA-A020BA6D9DA8}"/>
              </a:ext>
            </a:extLst>
          </p:cNvPr>
          <p:cNvPicPr>
            <a:picLocks noChangeAspect="1"/>
          </p:cNvPicPr>
          <p:nvPr/>
        </p:nvPicPr>
        <p:blipFill>
          <a:blip r:embed="rId7"/>
          <a:stretch>
            <a:fillRect/>
          </a:stretch>
        </p:blipFill>
        <p:spPr>
          <a:xfrm>
            <a:off x="4584971" y="1419594"/>
            <a:ext cx="7821038" cy="2647551"/>
          </a:xfrm>
          <a:prstGeom prst="rect">
            <a:avLst/>
          </a:prstGeom>
        </p:spPr>
      </p:pic>
    </p:spTree>
    <p:extLst>
      <p:ext uri="{BB962C8B-B14F-4D97-AF65-F5344CB8AC3E}">
        <p14:creationId xmlns:p14="http://schemas.microsoft.com/office/powerpoint/2010/main" val="77200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D6A1-1071-0EB2-1B69-508D20DA1AB7}"/>
              </a:ext>
            </a:extLst>
          </p:cNvPr>
          <p:cNvSpPr>
            <a:spLocks noGrp="1"/>
          </p:cNvSpPr>
          <p:nvPr>
            <p:ph type="title"/>
          </p:nvPr>
        </p:nvSpPr>
        <p:spPr>
          <a:xfrm>
            <a:off x="0" y="-98698"/>
            <a:ext cx="12191999" cy="1325563"/>
          </a:xfrm>
        </p:spPr>
        <p:txBody>
          <a:bodyPr>
            <a:normAutofit/>
          </a:bodyPr>
          <a:lstStyle/>
          <a:p>
            <a:pPr algn="ctr"/>
            <a:r>
              <a:rPr lang="en-US" dirty="0"/>
              <a:t>6. Code-Along – Branch Management</a:t>
            </a:r>
          </a:p>
        </p:txBody>
      </p:sp>
      <p:sp>
        <p:nvSpPr>
          <p:cNvPr id="13" name="TextBox 12">
            <a:extLst>
              <a:ext uri="{FF2B5EF4-FFF2-40B4-BE49-F238E27FC236}">
                <a16:creationId xmlns:a16="http://schemas.microsoft.com/office/drawing/2014/main" id="{89D1C047-BE0E-D50D-F5C1-ABD03F43940B}"/>
              </a:ext>
            </a:extLst>
          </p:cNvPr>
          <p:cNvSpPr txBox="1"/>
          <p:nvPr/>
        </p:nvSpPr>
        <p:spPr>
          <a:xfrm>
            <a:off x="702365" y="974269"/>
            <a:ext cx="11029192" cy="6247864"/>
          </a:xfrm>
          <a:prstGeom prst="rect">
            <a:avLst/>
          </a:prstGeom>
          <a:noFill/>
        </p:spPr>
        <p:txBody>
          <a:bodyPr wrap="square">
            <a:spAutoFit/>
          </a:bodyPr>
          <a:lstStyle/>
          <a:p>
            <a:pPr marL="457200" indent="-457200">
              <a:buAutoNum type="arabicPeriod"/>
            </a:pPr>
            <a:r>
              <a:rPr lang="en-US" sz="2400" dirty="0">
                <a:solidFill>
                  <a:srgbClr val="333333"/>
                </a:solidFill>
                <a:highlight>
                  <a:srgbClr val="FFFFFF"/>
                </a:highlight>
                <a:latin typeface="UniversRoman"/>
              </a:rPr>
              <a:t>Check available branches</a:t>
            </a:r>
          </a:p>
          <a:p>
            <a:r>
              <a:rPr lang="en-US" sz="2400" b="1" dirty="0">
                <a:solidFill>
                  <a:srgbClr val="333333"/>
                </a:solidFill>
                <a:highlight>
                  <a:srgbClr val="FFFFFF"/>
                </a:highlight>
                <a:latin typeface="UniversRoman"/>
              </a:rPr>
              <a:t>	git branch --list</a:t>
            </a:r>
          </a:p>
          <a:p>
            <a:endParaRPr lang="en-US" sz="2400" b="1"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2. Create a new LOCAL branch</a:t>
            </a:r>
          </a:p>
          <a:p>
            <a:r>
              <a:rPr lang="en-US" sz="2400" b="1" dirty="0">
                <a:solidFill>
                  <a:srgbClr val="333333"/>
                </a:solidFill>
                <a:highlight>
                  <a:srgbClr val="FFFFFF"/>
                </a:highlight>
                <a:latin typeface="UniversRoman"/>
              </a:rPr>
              <a:t>	git branch </a:t>
            </a:r>
            <a:r>
              <a:rPr lang="en-US" sz="2400" b="1" dirty="0"/>
              <a:t>&lt;branch name&gt;</a:t>
            </a:r>
            <a:r>
              <a:rPr lang="en-US" sz="2400" b="1" dirty="0">
                <a:solidFill>
                  <a:srgbClr val="333333"/>
                </a:solidFill>
                <a:highlight>
                  <a:srgbClr val="FFFFFF"/>
                </a:highlight>
                <a:latin typeface="UniversRoman"/>
              </a:rPr>
              <a:t> 	</a:t>
            </a:r>
            <a:r>
              <a:rPr lang="en-US" sz="2400" dirty="0">
                <a:solidFill>
                  <a:srgbClr val="333333"/>
                </a:solidFill>
                <a:highlight>
                  <a:srgbClr val="FFFFFF"/>
                </a:highlight>
                <a:latin typeface="UniversRoman"/>
              </a:rPr>
              <a:t>--&gt; creation only</a:t>
            </a:r>
          </a:p>
          <a:p>
            <a:r>
              <a:rPr lang="en-US" sz="2400" b="1" dirty="0">
                <a:solidFill>
                  <a:srgbClr val="333333"/>
                </a:solidFill>
                <a:highlight>
                  <a:srgbClr val="FFFFFF"/>
                </a:highlight>
                <a:latin typeface="UniversRoman"/>
              </a:rPr>
              <a:t>	git branch</a:t>
            </a:r>
          </a:p>
          <a:p>
            <a:r>
              <a:rPr lang="en-US" sz="2400" b="1" dirty="0">
                <a:solidFill>
                  <a:srgbClr val="333333"/>
                </a:solidFill>
                <a:highlight>
                  <a:srgbClr val="FFFFFF"/>
                </a:highlight>
                <a:latin typeface="UniversRoman"/>
              </a:rPr>
              <a:t>	</a:t>
            </a:r>
          </a:p>
          <a:p>
            <a:r>
              <a:rPr lang="en-US" sz="2400" b="1" dirty="0">
                <a:solidFill>
                  <a:srgbClr val="333333"/>
                </a:solidFill>
                <a:highlight>
                  <a:srgbClr val="FFFFFF"/>
                </a:highlight>
                <a:latin typeface="UniversRoman"/>
              </a:rPr>
              <a:t>	</a:t>
            </a:r>
            <a:r>
              <a:rPr lang="en-US" sz="2400" b="1" i="1" dirty="0">
                <a:solidFill>
                  <a:srgbClr val="333333"/>
                </a:solidFill>
                <a:highlight>
                  <a:srgbClr val="FFFFFF"/>
                </a:highlight>
                <a:latin typeface="UniversRoman"/>
              </a:rPr>
              <a:t>git push origin &lt;branch name&gt; </a:t>
            </a:r>
            <a:r>
              <a:rPr lang="en-US" sz="2400" dirty="0">
                <a:solidFill>
                  <a:srgbClr val="333333"/>
                </a:solidFill>
                <a:highlight>
                  <a:srgbClr val="FFFFFF"/>
                </a:highlight>
                <a:latin typeface="UniversRoman"/>
              </a:rPr>
              <a:t>--&gt; push branch to REMOTE (optional)</a:t>
            </a:r>
          </a:p>
          <a:p>
            <a:endParaRPr lang="en-US" sz="2400" b="1"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3. Switch to the new branch to make changes</a:t>
            </a:r>
          </a:p>
          <a:p>
            <a:r>
              <a:rPr lang="en-US" sz="2400" dirty="0">
                <a:solidFill>
                  <a:srgbClr val="333333"/>
                </a:solidFill>
                <a:highlight>
                  <a:srgbClr val="FFFFFF"/>
                </a:highlight>
                <a:latin typeface="UniversRoman"/>
              </a:rPr>
              <a:t>	</a:t>
            </a:r>
            <a:r>
              <a:rPr lang="en-US" sz="2400" b="1" dirty="0">
                <a:solidFill>
                  <a:srgbClr val="333333"/>
                </a:solidFill>
                <a:highlight>
                  <a:srgbClr val="FFFFFF"/>
                </a:highlight>
                <a:latin typeface="UniversRoman"/>
              </a:rPr>
              <a:t>git switch </a:t>
            </a:r>
            <a:r>
              <a:rPr lang="en-US" sz="2400" b="1" dirty="0"/>
              <a:t>&lt;branch name&gt;</a:t>
            </a:r>
            <a:r>
              <a:rPr lang="en-US" sz="1600" b="1" dirty="0">
                <a:solidFill>
                  <a:srgbClr val="333333"/>
                </a:solidFill>
                <a:highlight>
                  <a:srgbClr val="FFFFFF"/>
                </a:highlight>
                <a:latin typeface="UniversRoman"/>
              </a:rPr>
              <a:t> </a:t>
            </a:r>
          </a:p>
          <a:p>
            <a:endParaRPr lang="en-US" sz="1600" b="1"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4. Make changes to the local branch</a:t>
            </a:r>
          </a:p>
          <a:p>
            <a:r>
              <a:rPr lang="en-US" sz="2400" b="1" dirty="0">
                <a:solidFill>
                  <a:srgbClr val="333333"/>
                </a:solidFill>
                <a:highlight>
                  <a:srgbClr val="FFFFFF"/>
                </a:highlight>
                <a:latin typeface="UniversRoman"/>
              </a:rPr>
              <a:t>	</a:t>
            </a:r>
            <a:r>
              <a:rPr lang="en-US" sz="2400" b="1" dirty="0" err="1">
                <a:solidFill>
                  <a:srgbClr val="333333"/>
                </a:solidFill>
                <a:highlight>
                  <a:srgbClr val="FFFFFF"/>
                </a:highlight>
                <a:latin typeface="UniversRoman"/>
              </a:rPr>
              <a:t>mkdir</a:t>
            </a:r>
            <a:r>
              <a:rPr lang="en-US" sz="2400" b="1" dirty="0">
                <a:solidFill>
                  <a:srgbClr val="333333"/>
                </a:solidFill>
                <a:highlight>
                  <a:srgbClr val="FFFFFF"/>
                </a:highlight>
                <a:latin typeface="UniversRoman"/>
              </a:rPr>
              <a:t> &lt;directory name&gt;</a:t>
            </a:r>
          </a:p>
          <a:p>
            <a:r>
              <a:rPr lang="en-US" sz="2400" b="1" dirty="0">
                <a:solidFill>
                  <a:srgbClr val="333333"/>
                </a:solidFill>
                <a:highlight>
                  <a:srgbClr val="FFFFFF"/>
                </a:highlight>
                <a:latin typeface="UniversRoman"/>
              </a:rPr>
              <a:t>	cd &lt;directory name&gt;</a:t>
            </a:r>
          </a:p>
          <a:p>
            <a:r>
              <a:rPr lang="en-US" sz="2400" b="1" dirty="0">
                <a:solidFill>
                  <a:srgbClr val="333333"/>
                </a:solidFill>
                <a:highlight>
                  <a:srgbClr val="FFFFFF"/>
                </a:highlight>
                <a:latin typeface="UniversRoman"/>
              </a:rPr>
              <a:t>	vi &lt;filename&gt; 		</a:t>
            </a:r>
            <a:r>
              <a:rPr lang="en-US" sz="2400" dirty="0">
                <a:solidFill>
                  <a:srgbClr val="333333"/>
                </a:solidFill>
                <a:highlight>
                  <a:srgbClr val="FFFFFF"/>
                </a:highlight>
                <a:latin typeface="UniversRoman"/>
              </a:rPr>
              <a:t>--&gt; edit this file (“</a:t>
            </a:r>
            <a:r>
              <a:rPr lang="en-US" sz="2400" dirty="0" err="1">
                <a:solidFill>
                  <a:srgbClr val="333333"/>
                </a:solidFill>
                <a:highlight>
                  <a:srgbClr val="FFFFFF"/>
                </a:highlight>
                <a:latin typeface="UniversRoman"/>
              </a:rPr>
              <a:t>i</a:t>
            </a:r>
            <a:r>
              <a:rPr lang="en-US" sz="2400" dirty="0">
                <a:solidFill>
                  <a:srgbClr val="333333"/>
                </a:solidFill>
                <a:highlight>
                  <a:srgbClr val="FFFFFF"/>
                </a:highlight>
                <a:latin typeface="UniversRoman"/>
              </a:rPr>
              <a:t>” to insert, “esc” to stop editing)</a:t>
            </a:r>
          </a:p>
          <a:p>
            <a:endParaRPr lang="en-US" sz="2400" b="1" dirty="0">
              <a:solidFill>
                <a:srgbClr val="333333"/>
              </a:solidFill>
              <a:highlight>
                <a:srgbClr val="FFFFFF"/>
              </a:highlight>
              <a:latin typeface="UniversRoman"/>
            </a:endParaRPr>
          </a:p>
        </p:txBody>
      </p:sp>
    </p:spTree>
    <p:extLst>
      <p:ext uri="{BB962C8B-B14F-4D97-AF65-F5344CB8AC3E}">
        <p14:creationId xmlns:p14="http://schemas.microsoft.com/office/powerpoint/2010/main" val="32111887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D6A1-1071-0EB2-1B69-508D20DA1AB7}"/>
              </a:ext>
            </a:extLst>
          </p:cNvPr>
          <p:cNvSpPr>
            <a:spLocks noGrp="1"/>
          </p:cNvSpPr>
          <p:nvPr>
            <p:ph type="title"/>
          </p:nvPr>
        </p:nvSpPr>
        <p:spPr>
          <a:xfrm>
            <a:off x="0" y="-98698"/>
            <a:ext cx="12191999" cy="1325563"/>
          </a:xfrm>
        </p:spPr>
        <p:txBody>
          <a:bodyPr>
            <a:normAutofit/>
          </a:bodyPr>
          <a:lstStyle/>
          <a:p>
            <a:pPr algn="ctr"/>
            <a:r>
              <a:rPr lang="en-US" dirty="0"/>
              <a:t>6. GitHub Code-Along – Branch Management</a:t>
            </a:r>
          </a:p>
        </p:txBody>
      </p:sp>
      <p:sp>
        <p:nvSpPr>
          <p:cNvPr id="13" name="TextBox 12">
            <a:extLst>
              <a:ext uri="{FF2B5EF4-FFF2-40B4-BE49-F238E27FC236}">
                <a16:creationId xmlns:a16="http://schemas.microsoft.com/office/drawing/2014/main" id="{89D1C047-BE0E-D50D-F5C1-ABD03F43940B}"/>
              </a:ext>
            </a:extLst>
          </p:cNvPr>
          <p:cNvSpPr txBox="1"/>
          <p:nvPr/>
        </p:nvSpPr>
        <p:spPr>
          <a:xfrm>
            <a:off x="389107" y="974269"/>
            <a:ext cx="10408596" cy="4524315"/>
          </a:xfrm>
          <a:prstGeom prst="rect">
            <a:avLst/>
          </a:prstGeom>
          <a:noFill/>
        </p:spPr>
        <p:txBody>
          <a:bodyPr wrap="square">
            <a:spAutoFit/>
          </a:bodyPr>
          <a:lstStyle/>
          <a:p>
            <a:endParaRPr lang="en-US" sz="2400"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5. Select the changes to merge with the main branch</a:t>
            </a:r>
          </a:p>
          <a:p>
            <a:r>
              <a:rPr lang="en-US" sz="2400" dirty="0">
                <a:solidFill>
                  <a:srgbClr val="333333"/>
                </a:solidFill>
                <a:highlight>
                  <a:srgbClr val="FFFFFF"/>
                </a:highlight>
                <a:latin typeface="UniversRoman"/>
              </a:rPr>
              <a:t>	</a:t>
            </a:r>
            <a:r>
              <a:rPr lang="en-US" sz="2400" b="1" dirty="0">
                <a:solidFill>
                  <a:srgbClr val="333333"/>
                </a:solidFill>
                <a:highlight>
                  <a:srgbClr val="FFFFFF"/>
                </a:highlight>
                <a:latin typeface="UniversRoman"/>
              </a:rPr>
              <a:t>git add &lt;directory name&gt;</a:t>
            </a:r>
          </a:p>
          <a:p>
            <a:r>
              <a:rPr lang="en-US" sz="2400" b="1" dirty="0">
                <a:solidFill>
                  <a:srgbClr val="333333"/>
                </a:solidFill>
                <a:highlight>
                  <a:srgbClr val="FFFFFF"/>
                </a:highlight>
                <a:latin typeface="UniversRoman"/>
              </a:rPr>
              <a:t>	git commit –m “update new directory”</a:t>
            </a:r>
          </a:p>
          <a:p>
            <a:endParaRPr lang="en-US" sz="2400"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6. Merge from local branch to the local main branch (aka a fast-forward merge)</a:t>
            </a:r>
          </a:p>
          <a:p>
            <a:endParaRPr lang="en-US" sz="2400" dirty="0"/>
          </a:p>
          <a:p>
            <a:r>
              <a:rPr lang="en-US" sz="2400" dirty="0"/>
              <a:t>	Select the LOCAL branch to merge final updates into</a:t>
            </a:r>
          </a:p>
          <a:p>
            <a:r>
              <a:rPr lang="en-US" sz="2400" b="1" dirty="0"/>
              <a:t>	git checkout main </a:t>
            </a:r>
          </a:p>
          <a:p>
            <a:endParaRPr lang="en-US" sz="2400" b="1" dirty="0"/>
          </a:p>
          <a:p>
            <a:r>
              <a:rPr lang="en-US" sz="2400" dirty="0"/>
              <a:t>	Merge changes from the edited branch to the main branch	</a:t>
            </a:r>
          </a:p>
          <a:p>
            <a:r>
              <a:rPr lang="en-US" sz="2400" b="1" dirty="0"/>
              <a:t>	git merge &lt;local branch name&gt;	</a:t>
            </a:r>
            <a:r>
              <a:rPr lang="en-US" sz="2400" dirty="0">
                <a:solidFill>
                  <a:srgbClr val="333333"/>
                </a:solidFill>
                <a:highlight>
                  <a:srgbClr val="FFFFFF"/>
                </a:highlight>
                <a:latin typeface="UniversRoman"/>
              </a:rPr>
              <a:t>--&gt; LOCAL merge</a:t>
            </a:r>
            <a:endParaRPr lang="en-US" sz="2400" i="0" dirty="0">
              <a:solidFill>
                <a:srgbClr val="333333"/>
              </a:solidFill>
              <a:effectLst/>
              <a:highlight>
                <a:srgbClr val="FFFFFF"/>
              </a:highlight>
              <a:latin typeface="UniversRoman"/>
            </a:endParaRPr>
          </a:p>
        </p:txBody>
      </p:sp>
    </p:spTree>
    <p:extLst>
      <p:ext uri="{BB962C8B-B14F-4D97-AF65-F5344CB8AC3E}">
        <p14:creationId xmlns:p14="http://schemas.microsoft.com/office/powerpoint/2010/main" val="961850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D6A1-1071-0EB2-1B69-508D20DA1AB7}"/>
              </a:ext>
            </a:extLst>
          </p:cNvPr>
          <p:cNvSpPr>
            <a:spLocks noGrp="1"/>
          </p:cNvSpPr>
          <p:nvPr>
            <p:ph type="title"/>
          </p:nvPr>
        </p:nvSpPr>
        <p:spPr>
          <a:xfrm>
            <a:off x="0" y="-98698"/>
            <a:ext cx="12191999" cy="1325563"/>
          </a:xfrm>
        </p:spPr>
        <p:txBody>
          <a:bodyPr>
            <a:normAutofit/>
          </a:bodyPr>
          <a:lstStyle/>
          <a:p>
            <a:pPr algn="ctr"/>
            <a:r>
              <a:rPr lang="en-US" dirty="0"/>
              <a:t>6. GitHub Code-Along – Branch Management</a:t>
            </a:r>
          </a:p>
        </p:txBody>
      </p:sp>
      <p:sp>
        <p:nvSpPr>
          <p:cNvPr id="13" name="TextBox 12">
            <a:extLst>
              <a:ext uri="{FF2B5EF4-FFF2-40B4-BE49-F238E27FC236}">
                <a16:creationId xmlns:a16="http://schemas.microsoft.com/office/drawing/2014/main" id="{89D1C047-BE0E-D50D-F5C1-ABD03F43940B}"/>
              </a:ext>
            </a:extLst>
          </p:cNvPr>
          <p:cNvSpPr txBox="1"/>
          <p:nvPr/>
        </p:nvSpPr>
        <p:spPr>
          <a:xfrm>
            <a:off x="702365" y="974269"/>
            <a:ext cx="11029192" cy="6370975"/>
          </a:xfrm>
          <a:prstGeom prst="rect">
            <a:avLst/>
          </a:prstGeom>
          <a:noFill/>
        </p:spPr>
        <p:txBody>
          <a:bodyPr wrap="square">
            <a:spAutoFit/>
          </a:bodyPr>
          <a:lstStyle/>
          <a:p>
            <a:endParaRPr lang="en-US" sz="2400"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7. Push the LOCAL main branch to the REMOTE main branch (final project update)</a:t>
            </a:r>
          </a:p>
          <a:p>
            <a:endParaRPr lang="en-US" sz="2400" dirty="0">
              <a:solidFill>
                <a:srgbClr val="333333"/>
              </a:solidFill>
              <a:highlight>
                <a:srgbClr val="FFFFFF"/>
              </a:highlight>
              <a:latin typeface="UniversRoman"/>
            </a:endParaRPr>
          </a:p>
          <a:p>
            <a:r>
              <a:rPr lang="en-US" sz="2400" dirty="0">
                <a:solidFill>
                  <a:srgbClr val="333333"/>
                </a:solidFill>
                <a:highlight>
                  <a:srgbClr val="FFFFFF"/>
                </a:highlight>
                <a:latin typeface="UniversRoman"/>
              </a:rPr>
              <a:t>Set the “upstream origin” branch (typically only needs to be done once per branch) from LOCAL repository to the REMOTE git repository (this is already true for main branch) so that “pushing” the branch contents sends them to the remote GitHub cloud, otherwise they will only be stored on your local device or account. </a:t>
            </a:r>
          </a:p>
          <a:p>
            <a:endParaRPr lang="en-US" sz="2400" dirty="0">
              <a:solidFill>
                <a:srgbClr val="333333"/>
              </a:solidFill>
              <a:highlight>
                <a:srgbClr val="FFFFFF"/>
              </a:highlight>
              <a:latin typeface="UniversRoman"/>
            </a:endParaRPr>
          </a:p>
          <a:p>
            <a:r>
              <a:rPr lang="en-US" sz="2400" b="1" dirty="0"/>
              <a:t>	git push --set-upstream origin &lt;branch name&gt;</a:t>
            </a:r>
            <a:br>
              <a:rPr lang="en-US" sz="2400" dirty="0"/>
            </a:br>
            <a:endParaRPr lang="en-US" sz="2400" dirty="0"/>
          </a:p>
          <a:p>
            <a:r>
              <a:rPr lang="en-US" sz="2400" dirty="0"/>
              <a:t>Push general branch updates</a:t>
            </a:r>
          </a:p>
          <a:p>
            <a:r>
              <a:rPr lang="en-US" sz="2400" b="1" dirty="0">
                <a:solidFill>
                  <a:srgbClr val="333333"/>
                </a:solidFill>
                <a:highlight>
                  <a:srgbClr val="FFFFFF"/>
                </a:highlight>
                <a:latin typeface="UniversRoman"/>
              </a:rPr>
              <a:t>	</a:t>
            </a:r>
          </a:p>
          <a:p>
            <a:r>
              <a:rPr lang="en-US" sz="2400" b="1" dirty="0">
                <a:solidFill>
                  <a:srgbClr val="333333"/>
                </a:solidFill>
                <a:highlight>
                  <a:srgbClr val="FFFFFF"/>
                </a:highlight>
                <a:latin typeface="UniversRoman"/>
              </a:rPr>
              <a:t>	git push</a:t>
            </a:r>
          </a:p>
          <a:p>
            <a:pPr algn="ctr"/>
            <a:br>
              <a:rPr kumimoji="0" lang="en-US" altLang="en-US" sz="2400" b="1" i="0" u="none" strike="noStrike" cap="none" normalizeH="0" baseline="0" dirty="0">
                <a:ln>
                  <a:noFill/>
                </a:ln>
                <a:solidFill>
                  <a:srgbClr val="2D3B45"/>
                </a:solidFill>
                <a:effectLst/>
                <a:latin typeface="Lato Extended"/>
              </a:rPr>
            </a:br>
            <a:r>
              <a:rPr lang="en-US" altLang="en-US" sz="2400" b="1" dirty="0">
                <a:solidFill>
                  <a:srgbClr val="2D3B45"/>
                </a:solidFill>
                <a:latin typeface="Lato Extended"/>
              </a:rPr>
              <a:t>***</a:t>
            </a:r>
            <a:r>
              <a:rPr kumimoji="0" lang="en-US" altLang="en-US" sz="2400" b="1" i="0" u="none" strike="noStrike" cap="none" normalizeH="0" baseline="0" dirty="0">
                <a:ln>
                  <a:noFill/>
                </a:ln>
                <a:solidFill>
                  <a:srgbClr val="2D3B45"/>
                </a:solidFill>
                <a:effectLst/>
                <a:latin typeface="Lato Extended"/>
              </a:rPr>
              <a:t> Check browser GitHub to verify push ***</a:t>
            </a:r>
          </a:p>
          <a:p>
            <a:endParaRPr lang="en-US" sz="2400" b="1" dirty="0">
              <a:solidFill>
                <a:srgbClr val="333333"/>
              </a:solidFill>
              <a:highlight>
                <a:srgbClr val="FFFFFF"/>
              </a:highlight>
              <a:latin typeface="UniversRoman"/>
            </a:endParaRPr>
          </a:p>
          <a:p>
            <a:r>
              <a:rPr lang="en-US" sz="2400" b="1" dirty="0">
                <a:solidFill>
                  <a:srgbClr val="333333"/>
                </a:solidFill>
                <a:highlight>
                  <a:srgbClr val="FFFFFF"/>
                </a:highlight>
                <a:latin typeface="UniversRoman"/>
              </a:rPr>
              <a:t>	</a:t>
            </a:r>
            <a:endParaRPr lang="en-US" sz="2400" i="0" dirty="0">
              <a:solidFill>
                <a:srgbClr val="333333"/>
              </a:solidFill>
              <a:effectLst/>
              <a:highlight>
                <a:srgbClr val="FFFFFF"/>
              </a:highlight>
              <a:latin typeface="UniversRoman"/>
            </a:endParaRPr>
          </a:p>
        </p:txBody>
      </p:sp>
    </p:spTree>
    <p:extLst>
      <p:ext uri="{BB962C8B-B14F-4D97-AF65-F5344CB8AC3E}">
        <p14:creationId xmlns:p14="http://schemas.microsoft.com/office/powerpoint/2010/main" val="29717354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839C0-90E4-F4B6-C741-30D2770920B0}"/>
              </a:ext>
            </a:extLst>
          </p:cNvPr>
          <p:cNvSpPr>
            <a:spLocks noGrp="1"/>
          </p:cNvSpPr>
          <p:nvPr>
            <p:ph type="title"/>
          </p:nvPr>
        </p:nvSpPr>
        <p:spPr>
          <a:xfrm>
            <a:off x="252919" y="116730"/>
            <a:ext cx="6536987" cy="1325563"/>
          </a:xfrm>
        </p:spPr>
        <p:txBody>
          <a:bodyPr>
            <a:noAutofit/>
          </a:bodyPr>
          <a:lstStyle/>
          <a:p>
            <a:r>
              <a:rPr lang="en-US" sz="3200" dirty="0"/>
              <a:t>Branch Workflow Strategies – </a:t>
            </a:r>
            <a:br>
              <a:rPr lang="en-US" sz="3200" dirty="0"/>
            </a:br>
            <a:r>
              <a:rPr lang="en-US" sz="2000" dirty="0">
                <a:hlinkClick r:id="rId2"/>
              </a:rPr>
              <a:t>https://www.geeksforgeeks.org/branching-strategies-in-git/</a:t>
            </a:r>
            <a:br>
              <a:rPr lang="en-US" sz="2000" dirty="0"/>
            </a:br>
            <a:r>
              <a:rPr lang="en-US" sz="2000" dirty="0">
                <a:hlinkClick r:id="rId3"/>
              </a:rPr>
              <a:t>https://phoenixnap.com/kb/git-branching-strategy</a:t>
            </a:r>
            <a:endParaRPr lang="en-US" sz="3200" dirty="0"/>
          </a:p>
        </p:txBody>
      </p:sp>
      <p:pic>
        <p:nvPicPr>
          <p:cNvPr id="14338" name="Picture 2" descr="Github flow Architecture">
            <a:extLst>
              <a:ext uri="{FF2B5EF4-FFF2-40B4-BE49-F238E27FC236}">
                <a16:creationId xmlns:a16="http://schemas.microsoft.com/office/drawing/2014/main" id="{8EA20DD2-C303-6C7F-D9C0-60F3D6250CD4}"/>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311717" y="1422713"/>
            <a:ext cx="5080000" cy="2540000"/>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An overview of the GitFlow workflow.">
            <a:extLst>
              <a:ext uri="{FF2B5EF4-FFF2-40B4-BE49-F238E27FC236}">
                <a16:creationId xmlns:a16="http://schemas.microsoft.com/office/drawing/2014/main" id="{41AF42A8-37CB-B9BC-F770-825435B355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1786" y="675651"/>
            <a:ext cx="5024438" cy="3429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6DCF485-A4FD-B6BD-6CB4-719D35D27BEB}"/>
              </a:ext>
            </a:extLst>
          </p:cNvPr>
          <p:cNvSpPr txBox="1"/>
          <p:nvPr/>
        </p:nvSpPr>
        <p:spPr>
          <a:xfrm>
            <a:off x="972766" y="1564651"/>
            <a:ext cx="1418337" cy="369332"/>
          </a:xfrm>
          <a:prstGeom prst="rect">
            <a:avLst/>
          </a:prstGeom>
          <a:noFill/>
        </p:spPr>
        <p:txBody>
          <a:bodyPr wrap="none" rtlCol="0">
            <a:spAutoFit/>
          </a:bodyPr>
          <a:lstStyle/>
          <a:p>
            <a:r>
              <a:rPr lang="en-US" dirty="0"/>
              <a:t>GitHub Flow</a:t>
            </a:r>
          </a:p>
        </p:txBody>
      </p:sp>
      <p:sp>
        <p:nvSpPr>
          <p:cNvPr id="5" name="TextBox 4">
            <a:extLst>
              <a:ext uri="{FF2B5EF4-FFF2-40B4-BE49-F238E27FC236}">
                <a16:creationId xmlns:a16="http://schemas.microsoft.com/office/drawing/2014/main" id="{0F8AE6DC-5DF1-C39D-8410-FA789B63213D}"/>
              </a:ext>
            </a:extLst>
          </p:cNvPr>
          <p:cNvSpPr txBox="1"/>
          <p:nvPr/>
        </p:nvSpPr>
        <p:spPr>
          <a:xfrm>
            <a:off x="6881786" y="277465"/>
            <a:ext cx="1759777" cy="369332"/>
          </a:xfrm>
          <a:prstGeom prst="rect">
            <a:avLst/>
          </a:prstGeom>
          <a:noFill/>
        </p:spPr>
        <p:txBody>
          <a:bodyPr wrap="none" rtlCol="0">
            <a:spAutoFit/>
          </a:bodyPr>
          <a:lstStyle/>
          <a:p>
            <a:r>
              <a:rPr lang="en-US" dirty="0" err="1"/>
              <a:t>GitFlow</a:t>
            </a:r>
            <a:r>
              <a:rPr lang="en-US" dirty="0"/>
              <a:t> Method</a:t>
            </a:r>
          </a:p>
        </p:txBody>
      </p:sp>
      <p:pic>
        <p:nvPicPr>
          <p:cNvPr id="6" name="Picture 5">
            <a:extLst>
              <a:ext uri="{FF2B5EF4-FFF2-40B4-BE49-F238E27FC236}">
                <a16:creationId xmlns:a16="http://schemas.microsoft.com/office/drawing/2014/main" id="{5B14E4A6-F134-B97B-AC98-B5C153982C8E}"/>
              </a:ext>
            </a:extLst>
          </p:cNvPr>
          <p:cNvPicPr>
            <a:picLocks noChangeAspect="1"/>
          </p:cNvPicPr>
          <p:nvPr/>
        </p:nvPicPr>
        <p:blipFill>
          <a:blip r:embed="rId6"/>
          <a:stretch>
            <a:fillRect/>
          </a:stretch>
        </p:blipFill>
        <p:spPr>
          <a:xfrm>
            <a:off x="119709" y="4424174"/>
            <a:ext cx="6065362" cy="2053226"/>
          </a:xfrm>
          <a:prstGeom prst="rect">
            <a:avLst/>
          </a:prstGeom>
        </p:spPr>
      </p:pic>
      <p:sp>
        <p:nvSpPr>
          <p:cNvPr id="7" name="TextBox 6">
            <a:extLst>
              <a:ext uri="{FF2B5EF4-FFF2-40B4-BE49-F238E27FC236}">
                <a16:creationId xmlns:a16="http://schemas.microsoft.com/office/drawing/2014/main" id="{F0A8D7D4-AB97-2A11-EC47-258ACEBD2B36}"/>
              </a:ext>
            </a:extLst>
          </p:cNvPr>
          <p:cNvSpPr txBox="1"/>
          <p:nvPr/>
        </p:nvSpPr>
        <p:spPr>
          <a:xfrm>
            <a:off x="252919" y="4054842"/>
            <a:ext cx="2811924" cy="369332"/>
          </a:xfrm>
          <a:prstGeom prst="rect">
            <a:avLst/>
          </a:prstGeom>
          <a:noFill/>
        </p:spPr>
        <p:txBody>
          <a:bodyPr wrap="none" rtlCol="0">
            <a:spAutoFit/>
          </a:bodyPr>
          <a:lstStyle/>
          <a:p>
            <a:r>
              <a:rPr lang="en-US" dirty="0"/>
              <a:t>Trunk-based Development</a:t>
            </a:r>
          </a:p>
        </p:txBody>
      </p:sp>
      <p:graphicFrame>
        <p:nvGraphicFramePr>
          <p:cNvPr id="8" name="Diagram 7">
            <a:extLst>
              <a:ext uri="{FF2B5EF4-FFF2-40B4-BE49-F238E27FC236}">
                <a16:creationId xmlns:a16="http://schemas.microsoft.com/office/drawing/2014/main" id="{4930183E-8F96-368F-6082-70C80DDFF1E2}"/>
              </a:ext>
            </a:extLst>
          </p:cNvPr>
          <p:cNvGraphicFramePr/>
          <p:nvPr/>
        </p:nvGraphicFramePr>
        <p:xfrm>
          <a:off x="6096000" y="3429000"/>
          <a:ext cx="6065362" cy="404357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 name="TextBox 8">
            <a:extLst>
              <a:ext uri="{FF2B5EF4-FFF2-40B4-BE49-F238E27FC236}">
                <a16:creationId xmlns:a16="http://schemas.microsoft.com/office/drawing/2014/main" id="{5CDE5355-61E6-EB55-D640-6BB2EB01958D}"/>
              </a:ext>
            </a:extLst>
          </p:cNvPr>
          <p:cNvSpPr txBox="1"/>
          <p:nvPr/>
        </p:nvSpPr>
        <p:spPr>
          <a:xfrm>
            <a:off x="6064470" y="4372170"/>
            <a:ext cx="1952329" cy="369332"/>
          </a:xfrm>
          <a:prstGeom prst="rect">
            <a:avLst/>
          </a:prstGeom>
          <a:noFill/>
        </p:spPr>
        <p:txBody>
          <a:bodyPr wrap="none" rtlCol="0">
            <a:spAutoFit/>
          </a:bodyPr>
          <a:lstStyle/>
          <a:p>
            <a:r>
              <a:rPr lang="en-US" dirty="0"/>
              <a:t>General Workflow</a:t>
            </a:r>
          </a:p>
        </p:txBody>
      </p:sp>
    </p:spTree>
    <p:extLst>
      <p:ext uri="{BB962C8B-B14F-4D97-AF65-F5344CB8AC3E}">
        <p14:creationId xmlns:p14="http://schemas.microsoft.com/office/powerpoint/2010/main" val="9410494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3DEAF-4CAB-E085-2845-DBFB97232FA8}"/>
              </a:ext>
            </a:extLst>
          </p:cNvPr>
          <p:cNvSpPr>
            <a:spLocks noGrp="1"/>
          </p:cNvSpPr>
          <p:nvPr>
            <p:ph type="title"/>
          </p:nvPr>
        </p:nvSpPr>
        <p:spPr>
          <a:xfrm>
            <a:off x="838200" y="-23981"/>
            <a:ext cx="10515600" cy="1325563"/>
          </a:xfrm>
        </p:spPr>
        <p:txBody>
          <a:bodyPr/>
          <a:lstStyle/>
          <a:p>
            <a:pPr algn="ctr"/>
            <a:r>
              <a:rPr lang="en-US" dirty="0"/>
              <a:t>Other useful git commands</a:t>
            </a:r>
          </a:p>
        </p:txBody>
      </p:sp>
      <p:sp>
        <p:nvSpPr>
          <p:cNvPr id="3" name="Content Placeholder 2">
            <a:extLst>
              <a:ext uri="{FF2B5EF4-FFF2-40B4-BE49-F238E27FC236}">
                <a16:creationId xmlns:a16="http://schemas.microsoft.com/office/drawing/2014/main" id="{649C0B11-E0F8-484A-AAE2-01CB17707B84}"/>
              </a:ext>
            </a:extLst>
          </p:cNvPr>
          <p:cNvSpPr>
            <a:spLocks noGrp="1"/>
          </p:cNvSpPr>
          <p:nvPr>
            <p:ph idx="1"/>
          </p:nvPr>
        </p:nvSpPr>
        <p:spPr>
          <a:xfrm>
            <a:off x="838200" y="1436518"/>
            <a:ext cx="10515600" cy="5236655"/>
          </a:xfrm>
        </p:spPr>
        <p:txBody>
          <a:bodyPr>
            <a:normAutofit fontScale="92500" lnSpcReduction="10000"/>
          </a:bodyPr>
          <a:lstStyle/>
          <a:p>
            <a:pPr marL="0" indent="0">
              <a:buNone/>
            </a:pPr>
            <a:r>
              <a:rPr lang="en-US" dirty="0"/>
              <a:t>See LOCAL commit/push history</a:t>
            </a:r>
          </a:p>
          <a:p>
            <a:pPr marL="0" indent="0">
              <a:buNone/>
            </a:pPr>
            <a:r>
              <a:rPr lang="en-US" b="1" dirty="0"/>
              <a:t>	git log	</a:t>
            </a:r>
          </a:p>
          <a:p>
            <a:pPr marL="0" indent="0">
              <a:buNone/>
            </a:pPr>
            <a:r>
              <a:rPr lang="en-US" dirty="0"/>
              <a:t>	</a:t>
            </a:r>
          </a:p>
          <a:p>
            <a:pPr marL="0" indent="0">
              <a:buNone/>
            </a:pPr>
            <a:r>
              <a:rPr lang="en-US" dirty="0"/>
              <a:t>Retrieve a branch from  REMOTE repository (cloning only brings the ”main” branch over)</a:t>
            </a:r>
          </a:p>
          <a:p>
            <a:pPr marL="0" indent="0">
              <a:buNone/>
            </a:pPr>
            <a:r>
              <a:rPr lang="en-US" b="1" dirty="0"/>
              <a:t>	git pull origin &lt;remote branch name&gt;  </a:t>
            </a:r>
            <a:r>
              <a:rPr lang="en-US" dirty="0"/>
              <a:t>--&gt; pull from REMOTE</a:t>
            </a:r>
          </a:p>
          <a:p>
            <a:pPr marL="0" indent="0">
              <a:buNone/>
            </a:pPr>
            <a:endParaRPr lang="en-US" sz="2800" dirty="0">
              <a:solidFill>
                <a:srgbClr val="333333"/>
              </a:solidFill>
              <a:highlight>
                <a:srgbClr val="FFFFFF"/>
              </a:highlight>
              <a:latin typeface="UniversRoman"/>
            </a:endParaRPr>
          </a:p>
          <a:p>
            <a:pPr marL="0" indent="0">
              <a:buNone/>
            </a:pPr>
            <a:r>
              <a:rPr lang="en-US" sz="2800" dirty="0">
                <a:solidFill>
                  <a:srgbClr val="333333"/>
                </a:solidFill>
                <a:highlight>
                  <a:srgbClr val="FFFFFF"/>
                </a:highlight>
                <a:latin typeface="UniversRoman"/>
              </a:rPr>
              <a:t>Delete a branch</a:t>
            </a:r>
          </a:p>
          <a:p>
            <a:pPr marL="0" indent="0">
              <a:buNone/>
            </a:pPr>
            <a:r>
              <a:rPr lang="en-US" altLang="en-US" b="1" dirty="0">
                <a:solidFill>
                  <a:srgbClr val="333333"/>
                </a:solidFill>
                <a:highlight>
                  <a:srgbClr val="FFFFFF"/>
                </a:highlight>
                <a:latin typeface="UniversRoman"/>
              </a:rPr>
              <a:t>	</a:t>
            </a:r>
            <a:r>
              <a:rPr lang="en-US" altLang="en-US" sz="2800" b="1" dirty="0">
                <a:solidFill>
                  <a:srgbClr val="333333"/>
                </a:solidFill>
                <a:highlight>
                  <a:srgbClr val="FFFFFF"/>
                </a:highlight>
                <a:latin typeface="UniversRoman"/>
              </a:rPr>
              <a:t>g</a:t>
            </a:r>
            <a:r>
              <a:rPr kumimoji="0" lang="en-US" altLang="en-US" sz="2800" b="1" i="0" u="none" strike="noStrike" cap="none" normalizeH="0" baseline="0" dirty="0">
                <a:ln>
                  <a:noFill/>
                </a:ln>
                <a:solidFill>
                  <a:srgbClr val="333333"/>
                </a:solidFill>
                <a:effectLst/>
                <a:highlight>
                  <a:srgbClr val="FFFFFF"/>
                </a:highlight>
                <a:latin typeface="UniversRoman"/>
              </a:rPr>
              <a:t>it branch --delete &lt;branch name&gt;	</a:t>
            </a:r>
            <a:r>
              <a:rPr kumimoji="0" lang="en-US" altLang="en-US" sz="2800" i="0" u="none" strike="noStrike" cap="none" normalizeH="0" baseline="0" dirty="0">
                <a:ln>
                  <a:noFill/>
                </a:ln>
                <a:solidFill>
                  <a:srgbClr val="333333"/>
                </a:solidFill>
                <a:effectLst/>
                <a:highlight>
                  <a:srgbClr val="FFFFFF"/>
                </a:highlight>
                <a:latin typeface="UniversRoman"/>
              </a:rPr>
              <a:t>--&gt; LOCAL</a:t>
            </a:r>
          </a:p>
          <a:p>
            <a:pPr marL="0" indent="0">
              <a:buNone/>
            </a:pPr>
            <a:r>
              <a:rPr lang="en-US" dirty="0"/>
              <a:t>	</a:t>
            </a:r>
            <a:r>
              <a:rPr lang="en-US" b="1" dirty="0"/>
              <a:t>git push origin --delete &lt;</a:t>
            </a:r>
            <a:r>
              <a:rPr lang="en-US" b="1" dirty="0" err="1"/>
              <a:t>branch_name</a:t>
            </a:r>
            <a:r>
              <a:rPr lang="en-US" b="1" dirty="0"/>
              <a:t>&gt;</a:t>
            </a:r>
            <a:r>
              <a:rPr lang="en-US" dirty="0"/>
              <a:t>	--&gt; REMOTE</a:t>
            </a:r>
          </a:p>
          <a:p>
            <a:pPr marL="0" indent="0">
              <a:buNone/>
            </a:pPr>
            <a:endParaRPr lang="en-US" b="1" dirty="0"/>
          </a:p>
          <a:p>
            <a:pPr marL="0" indent="0" algn="ctr">
              <a:buNone/>
            </a:pPr>
            <a:r>
              <a:rPr lang="en-US" b="1" dirty="0">
                <a:hlinkClick r:id="rId2"/>
              </a:rPr>
              <a:t>https://git-</a:t>
            </a:r>
            <a:r>
              <a:rPr lang="en-US" b="1" dirty="0" err="1">
                <a:hlinkClick r:id="rId2"/>
              </a:rPr>
              <a:t>scm.com</a:t>
            </a:r>
            <a:r>
              <a:rPr lang="en-US" b="1" dirty="0">
                <a:hlinkClick r:id="rId2"/>
              </a:rPr>
              <a:t>/docs</a:t>
            </a:r>
            <a:endParaRPr lang="en-US" b="1" dirty="0"/>
          </a:p>
        </p:txBody>
      </p:sp>
    </p:spTree>
    <p:extLst>
      <p:ext uri="{BB962C8B-B14F-4D97-AF65-F5344CB8AC3E}">
        <p14:creationId xmlns:p14="http://schemas.microsoft.com/office/powerpoint/2010/main" val="23031941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13AB8-E50D-F55F-2AF6-D733F2604522}"/>
              </a:ext>
            </a:extLst>
          </p:cNvPr>
          <p:cNvSpPr>
            <a:spLocks noGrp="1"/>
          </p:cNvSpPr>
          <p:nvPr>
            <p:ph type="title"/>
          </p:nvPr>
        </p:nvSpPr>
        <p:spPr>
          <a:xfrm>
            <a:off x="217340" y="365125"/>
            <a:ext cx="11136460" cy="1325563"/>
          </a:xfrm>
        </p:spPr>
        <p:txBody>
          <a:bodyPr/>
          <a:lstStyle/>
          <a:p>
            <a:r>
              <a:rPr lang="en-US" dirty="0"/>
              <a:t>Branch Example 1: </a:t>
            </a:r>
            <a:br>
              <a:rPr lang="en-US" dirty="0"/>
            </a:br>
            <a:r>
              <a:rPr lang="en-US" dirty="0"/>
              <a:t>local branch --&gt; local main --&gt; remote main</a:t>
            </a:r>
          </a:p>
        </p:txBody>
      </p:sp>
      <p:sp>
        <p:nvSpPr>
          <p:cNvPr id="3" name="Content Placeholder 2">
            <a:extLst>
              <a:ext uri="{FF2B5EF4-FFF2-40B4-BE49-F238E27FC236}">
                <a16:creationId xmlns:a16="http://schemas.microsoft.com/office/drawing/2014/main" id="{8B932741-19D1-A45A-FD73-2F48E621A9A0}"/>
              </a:ext>
            </a:extLst>
          </p:cNvPr>
          <p:cNvSpPr>
            <a:spLocks noGrp="1"/>
          </p:cNvSpPr>
          <p:nvPr>
            <p:ph idx="1"/>
          </p:nvPr>
        </p:nvSpPr>
        <p:spPr/>
        <p:txBody>
          <a:bodyPr>
            <a:normAutofit fontScale="925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1" u="none" strike="noStrike" cap="none" normalizeH="0" baseline="0" dirty="0">
                <a:ln>
                  <a:noFill/>
                </a:ln>
                <a:solidFill>
                  <a:srgbClr val="2D3B45"/>
                </a:solidFill>
                <a:effectLst/>
                <a:latin typeface="Lato Extended"/>
              </a:rPr>
              <a:t>In your local branch:</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i="1" dirty="0">
              <a:solidFill>
                <a:srgbClr val="2D3B45"/>
              </a:solidFill>
              <a:latin typeface="Lato Extende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1" u="none" strike="noStrike" cap="none" normalizeH="0" baseline="0" dirty="0">
                <a:ln>
                  <a:noFill/>
                </a:ln>
                <a:solidFill>
                  <a:srgbClr val="2D3B45"/>
                </a:solidFill>
                <a:effectLst/>
                <a:latin typeface="Lato Extended"/>
              </a:rPr>
              <a:t>$git add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1" u="none" strike="noStrike" cap="none" normalizeH="0" baseline="0" dirty="0">
                <a:ln>
                  <a:noFill/>
                </a:ln>
                <a:solidFill>
                  <a:srgbClr val="2D3B45"/>
                </a:solidFill>
                <a:effectLst/>
                <a:latin typeface="Lato Extended"/>
              </a:rPr>
              <a:t>$git commit -m "add updates"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D3B45"/>
                </a:solidFill>
                <a:effectLst/>
                <a:latin typeface="Lato Extended"/>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D3B45"/>
                </a:solidFill>
                <a:effectLst/>
                <a:latin typeface="Lato Extended"/>
              </a:rPr>
              <a:t>After a while of coding, you decide to merge the local branch ‘v0523’ to the local main branch: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1" u="none" strike="noStrike" cap="none" normalizeH="0" baseline="0" dirty="0">
                <a:ln>
                  <a:noFill/>
                </a:ln>
                <a:solidFill>
                  <a:srgbClr val="2D3B45"/>
                </a:solidFill>
                <a:effectLst/>
                <a:latin typeface="Lato Extended"/>
              </a:rPr>
              <a:t>$git checkout main</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1" u="none" strike="noStrike" cap="none" normalizeH="0" baseline="0" dirty="0">
                <a:ln>
                  <a:noFill/>
                </a:ln>
                <a:solidFill>
                  <a:srgbClr val="2D3B45"/>
                </a:solidFill>
                <a:effectLst/>
                <a:latin typeface="Lato Extended"/>
              </a:rPr>
              <a:t>$git merge v0523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i="1" dirty="0">
              <a:solidFill>
                <a:srgbClr val="2D3B45"/>
              </a:solidFill>
              <a:latin typeface="Lato Extende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u="none" strike="noStrike" cap="none" normalizeH="0" baseline="0" dirty="0">
                <a:ln>
                  <a:noFill/>
                </a:ln>
                <a:solidFill>
                  <a:srgbClr val="2D3B45"/>
                </a:solidFill>
                <a:effectLst/>
                <a:latin typeface="Lato Extended"/>
              </a:rPr>
              <a:t>Push the LOCAL main branch to the REMOTE main branch</a:t>
            </a:r>
            <a:endParaRPr kumimoji="0" lang="en-US" altLang="en-US" sz="1400" b="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1" u="none" strike="noStrike" cap="none" normalizeH="0" baseline="0" dirty="0">
                <a:ln>
                  <a:noFill/>
                </a:ln>
                <a:solidFill>
                  <a:srgbClr val="2D3B45"/>
                </a:solidFill>
                <a:effectLst/>
                <a:latin typeface="Lato Extended"/>
              </a:rPr>
              <a:t>$git push origin main</a:t>
            </a:r>
            <a:endParaRPr kumimoji="0" lang="en-US" altLang="en-US" sz="1400" b="0" i="0" u="none" strike="noStrike" cap="none" normalizeH="0" baseline="0" dirty="0">
              <a:ln>
                <a:noFill/>
              </a:ln>
              <a:solidFill>
                <a:schemeClr val="tx1"/>
              </a:solidFill>
              <a:effectLst/>
            </a:endParaRPr>
          </a:p>
          <a:p>
            <a:endParaRPr lang="en-US" dirty="0"/>
          </a:p>
        </p:txBody>
      </p:sp>
      <p:sp>
        <p:nvSpPr>
          <p:cNvPr id="8" name="Rectangle 5">
            <a:extLst>
              <a:ext uri="{FF2B5EF4-FFF2-40B4-BE49-F238E27FC236}">
                <a16:creationId xmlns:a16="http://schemas.microsoft.com/office/drawing/2014/main" id="{89180C7A-36BC-E449-290B-7A0BBDF97203}"/>
              </a:ext>
            </a:extLst>
          </p:cNvPr>
          <p:cNvSpPr>
            <a:spLocks noChangeArrowheads="1"/>
          </p:cNvSpPr>
          <p:nvPr/>
        </p:nvSpPr>
        <p:spPr bwMode="auto">
          <a:xfrm>
            <a:off x="164440" y="3410674"/>
            <a:ext cx="52900" cy="2308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D3B45"/>
                </a:solidFill>
                <a:effectLst/>
                <a:latin typeface="Lato Extended"/>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AutoShape 6">
            <a:extLst>
              <a:ext uri="{FF2B5EF4-FFF2-40B4-BE49-F238E27FC236}">
                <a16:creationId xmlns:a16="http://schemas.microsoft.com/office/drawing/2014/main" id="{C2D5C62A-9AF8-8495-2D9D-AD654BD032CB}"/>
              </a:ext>
            </a:extLst>
          </p:cNvPr>
          <p:cNvSpPr>
            <a:spLocks noChangeAspect="1" noChangeArrowheads="1"/>
          </p:cNvSpPr>
          <p:nvPr/>
        </p:nvSpPr>
        <p:spPr bwMode="auto">
          <a:xfrm>
            <a:off x="104775" y="-3475038"/>
            <a:ext cx="6756400" cy="228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85521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DAE1-1566-D045-CC09-99657F127475}"/>
              </a:ext>
            </a:extLst>
          </p:cNvPr>
          <p:cNvSpPr>
            <a:spLocks noGrp="1"/>
          </p:cNvSpPr>
          <p:nvPr>
            <p:ph type="title"/>
          </p:nvPr>
        </p:nvSpPr>
        <p:spPr>
          <a:xfrm>
            <a:off x="0" y="151119"/>
            <a:ext cx="12192000" cy="1325563"/>
          </a:xfrm>
        </p:spPr>
        <p:txBody>
          <a:bodyPr>
            <a:normAutofit/>
          </a:bodyPr>
          <a:lstStyle/>
          <a:p>
            <a:r>
              <a:rPr lang="en-US" dirty="0">
                <a:solidFill>
                  <a:srgbClr val="2D3B45"/>
                </a:solidFill>
                <a:highlight>
                  <a:srgbClr val="FFFFFF"/>
                </a:highlight>
                <a:latin typeface="Lato Extended"/>
              </a:rPr>
              <a:t>Example 2:</a:t>
            </a:r>
            <a:br>
              <a:rPr lang="en-US" dirty="0">
                <a:solidFill>
                  <a:srgbClr val="2D3B45"/>
                </a:solidFill>
                <a:highlight>
                  <a:srgbClr val="FFFFFF"/>
                </a:highlight>
                <a:latin typeface="Lato Extended"/>
              </a:rPr>
            </a:br>
            <a:r>
              <a:rPr lang="en-US" dirty="0">
                <a:solidFill>
                  <a:srgbClr val="2D3B45"/>
                </a:solidFill>
                <a:highlight>
                  <a:srgbClr val="FFFFFF"/>
                </a:highlight>
                <a:latin typeface="Lato Extended"/>
              </a:rPr>
              <a:t>B</a:t>
            </a:r>
            <a:r>
              <a:rPr lang="en-US" b="0" i="0" dirty="0">
                <a:solidFill>
                  <a:srgbClr val="2D3B45"/>
                </a:solidFill>
                <a:effectLst/>
                <a:highlight>
                  <a:srgbClr val="FFFFFF"/>
                </a:highlight>
                <a:latin typeface="Lato Extended"/>
              </a:rPr>
              <a:t>ring a local folder to a remote git repository</a:t>
            </a:r>
            <a:endParaRPr lang="en-US" dirty="0"/>
          </a:p>
        </p:txBody>
      </p:sp>
      <p:sp>
        <p:nvSpPr>
          <p:cNvPr id="3" name="Content Placeholder 2">
            <a:extLst>
              <a:ext uri="{FF2B5EF4-FFF2-40B4-BE49-F238E27FC236}">
                <a16:creationId xmlns:a16="http://schemas.microsoft.com/office/drawing/2014/main" id="{76984426-3A14-E5C5-318C-F36AF83168AF}"/>
              </a:ext>
            </a:extLst>
          </p:cNvPr>
          <p:cNvSpPr>
            <a:spLocks noGrp="1"/>
          </p:cNvSpPr>
          <p:nvPr>
            <p:ph idx="1"/>
          </p:nvPr>
        </p:nvSpPr>
        <p:spPr/>
        <p:txBody>
          <a:bodyPr>
            <a:normAutofit/>
          </a:bodyPr>
          <a:lstStyle/>
          <a:p>
            <a:pPr marL="0" indent="0" algn="l">
              <a:buNone/>
            </a:pPr>
            <a:r>
              <a:rPr lang="en-US" b="0" i="0" dirty="0">
                <a:solidFill>
                  <a:srgbClr val="2D3B45"/>
                </a:solidFill>
                <a:effectLst/>
                <a:highlight>
                  <a:srgbClr val="FFFFFF"/>
                </a:highlight>
                <a:latin typeface="Lato Extended"/>
              </a:rPr>
              <a:t>First, create a new repository called 2024_CI_clustering on GitHub and copy the repository SSH address</a:t>
            </a:r>
          </a:p>
          <a:p>
            <a:pPr marL="0" indent="0" algn="l">
              <a:buNone/>
            </a:pPr>
            <a:endParaRPr lang="en-US" b="0" i="0" dirty="0">
              <a:solidFill>
                <a:srgbClr val="2D3B45"/>
              </a:solidFill>
              <a:effectLst/>
              <a:highlight>
                <a:srgbClr val="FFFFFF"/>
              </a:highlight>
              <a:latin typeface="Lato Extended"/>
            </a:endParaRPr>
          </a:p>
          <a:p>
            <a:pPr marL="0" indent="0" algn="l">
              <a:buNone/>
            </a:pPr>
            <a:r>
              <a:rPr lang="en-US" b="0" i="0" dirty="0">
                <a:solidFill>
                  <a:srgbClr val="2D3B45"/>
                </a:solidFill>
                <a:effectLst/>
                <a:highlight>
                  <a:srgbClr val="FFFFFF"/>
                </a:highlight>
                <a:latin typeface="Lato Extended"/>
              </a:rPr>
              <a:t>&gt;&gt; git </a:t>
            </a:r>
            <a:r>
              <a:rPr lang="en-US" b="0" i="0" dirty="0" err="1">
                <a:solidFill>
                  <a:srgbClr val="2D3B45"/>
                </a:solidFill>
                <a:effectLst/>
                <a:highlight>
                  <a:srgbClr val="FFFFFF"/>
                </a:highlight>
                <a:latin typeface="Lato Extended"/>
              </a:rPr>
              <a:t>init</a:t>
            </a:r>
            <a:r>
              <a:rPr lang="en-US" b="0" i="0" dirty="0">
                <a:solidFill>
                  <a:srgbClr val="2D3B45"/>
                </a:solidFill>
                <a:effectLst/>
                <a:highlight>
                  <a:srgbClr val="FFFFFF"/>
                </a:highlight>
                <a:latin typeface="Lato Extended"/>
              </a:rPr>
              <a:t> # initialize the local directory as a Git repository</a:t>
            </a:r>
          </a:p>
          <a:p>
            <a:pPr marL="0" indent="0" algn="l">
              <a:buNone/>
            </a:pPr>
            <a:r>
              <a:rPr lang="en-US" b="0" i="0" dirty="0">
                <a:solidFill>
                  <a:srgbClr val="2D3B45"/>
                </a:solidFill>
                <a:effectLst/>
                <a:highlight>
                  <a:srgbClr val="FFFFFF"/>
                </a:highlight>
                <a:latin typeface="Lato Extended"/>
              </a:rPr>
              <a:t>&gt;&gt; git add . # add all files</a:t>
            </a:r>
          </a:p>
          <a:p>
            <a:pPr marL="0" indent="0" algn="l">
              <a:buNone/>
            </a:pPr>
            <a:r>
              <a:rPr lang="en-US" b="0" i="0" dirty="0">
                <a:solidFill>
                  <a:srgbClr val="2D3B45"/>
                </a:solidFill>
                <a:effectLst/>
                <a:highlight>
                  <a:srgbClr val="FFFFFF"/>
                </a:highlight>
                <a:latin typeface="Lato Extended"/>
              </a:rPr>
              <a:t>&gt;&gt; git commit -m "bring on the code"</a:t>
            </a:r>
          </a:p>
          <a:p>
            <a:pPr marL="0" indent="0" algn="l">
              <a:buNone/>
            </a:pPr>
            <a:r>
              <a:rPr lang="en-US" b="0" i="0" dirty="0">
                <a:solidFill>
                  <a:srgbClr val="2D3B45"/>
                </a:solidFill>
                <a:effectLst/>
                <a:highlight>
                  <a:srgbClr val="FFFFFF"/>
                </a:highlight>
                <a:latin typeface="Lato Extended"/>
              </a:rPr>
              <a:t>&gt;&gt; git remote add </a:t>
            </a:r>
            <a:r>
              <a:rPr lang="en-US" b="0" i="0" dirty="0" err="1">
                <a:solidFill>
                  <a:srgbClr val="2D3B45"/>
                </a:solidFill>
                <a:effectLst/>
                <a:highlight>
                  <a:srgbClr val="FFFFFF"/>
                </a:highlight>
                <a:latin typeface="Lato Extended"/>
              </a:rPr>
              <a:t>citraining</a:t>
            </a:r>
            <a:r>
              <a:rPr lang="en-US" dirty="0">
                <a:solidFill>
                  <a:srgbClr val="2D3B45"/>
                </a:solidFill>
                <a:highlight>
                  <a:srgbClr val="FFFFFF"/>
                </a:highlight>
                <a:latin typeface="Lato Extended"/>
              </a:rPr>
              <a:t> </a:t>
            </a:r>
            <a:r>
              <a:rPr lang="en-US" b="0" i="0" u="sng" dirty="0">
                <a:solidFill>
                  <a:srgbClr val="2D3B45"/>
                </a:solidFill>
                <a:effectLst/>
                <a:highlight>
                  <a:srgbClr val="FFFFFF"/>
                </a:highlight>
                <a:latin typeface="Calibri" panose="020F0502020204030204" pitchFamily="34" charset="0"/>
              </a:rPr>
              <a:t>&lt;repository address/website address&gt;</a:t>
            </a:r>
          </a:p>
          <a:p>
            <a:pPr marL="0" indent="0" algn="l">
              <a:buNone/>
            </a:pPr>
            <a:r>
              <a:rPr lang="en-US" b="0" i="0" dirty="0">
                <a:solidFill>
                  <a:srgbClr val="2D3B45"/>
                </a:solidFill>
                <a:effectLst/>
                <a:highlight>
                  <a:srgbClr val="FFFFFF"/>
                </a:highlight>
                <a:latin typeface="Lato Extended"/>
              </a:rPr>
              <a:t>&gt;&gt;git push </a:t>
            </a:r>
            <a:r>
              <a:rPr lang="en-US" b="0" i="0" dirty="0" err="1">
                <a:solidFill>
                  <a:srgbClr val="2D3B45"/>
                </a:solidFill>
                <a:effectLst/>
                <a:highlight>
                  <a:srgbClr val="FFFFFF"/>
                </a:highlight>
                <a:latin typeface="Lato Extended"/>
              </a:rPr>
              <a:t>citraining</a:t>
            </a:r>
            <a:r>
              <a:rPr lang="en-US" b="0" i="0" dirty="0">
                <a:solidFill>
                  <a:srgbClr val="2D3B45"/>
                </a:solidFill>
                <a:effectLst/>
                <a:highlight>
                  <a:srgbClr val="FFFFFF"/>
                </a:highlight>
                <a:latin typeface="Lato Extended"/>
              </a:rPr>
              <a:t> </a:t>
            </a:r>
          </a:p>
          <a:p>
            <a:endParaRPr lang="en-US" dirty="0"/>
          </a:p>
        </p:txBody>
      </p:sp>
    </p:spTree>
    <p:extLst>
      <p:ext uri="{BB962C8B-B14F-4D97-AF65-F5344CB8AC3E}">
        <p14:creationId xmlns:p14="http://schemas.microsoft.com/office/powerpoint/2010/main" val="3983804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D8B8B-E5C8-6EA0-ACE8-3564B28F2013}"/>
              </a:ext>
            </a:extLst>
          </p:cNvPr>
          <p:cNvSpPr>
            <a:spLocks noGrp="1"/>
          </p:cNvSpPr>
          <p:nvPr>
            <p:ph type="title"/>
          </p:nvPr>
        </p:nvSpPr>
        <p:spPr>
          <a:xfrm>
            <a:off x="838200" y="0"/>
            <a:ext cx="10515600" cy="1825625"/>
          </a:xfrm>
        </p:spPr>
        <p:txBody>
          <a:bodyPr>
            <a:normAutofit fontScale="90000"/>
          </a:bodyPr>
          <a:lstStyle/>
          <a:p>
            <a:pPr algn="ctr"/>
            <a:r>
              <a:rPr lang="en-US" dirty="0"/>
              <a:t>6. Code-Along Tutorial: </a:t>
            </a:r>
            <a:br>
              <a:rPr lang="en-US" dirty="0"/>
            </a:br>
            <a:r>
              <a:rPr lang="en-US" dirty="0"/>
              <a:t>Troubleshooting – version control, pushing updates, branches</a:t>
            </a:r>
          </a:p>
        </p:txBody>
      </p:sp>
      <p:sp>
        <p:nvSpPr>
          <p:cNvPr id="3" name="Content Placeholder 2">
            <a:extLst>
              <a:ext uri="{FF2B5EF4-FFF2-40B4-BE49-F238E27FC236}">
                <a16:creationId xmlns:a16="http://schemas.microsoft.com/office/drawing/2014/main" id="{33F332BF-795D-49DF-8ABC-376C1C401804}"/>
              </a:ext>
            </a:extLst>
          </p:cNvPr>
          <p:cNvSpPr>
            <a:spLocks noGrp="1"/>
          </p:cNvSpPr>
          <p:nvPr>
            <p:ph idx="1"/>
          </p:nvPr>
        </p:nvSpPr>
        <p:spPr>
          <a:xfrm>
            <a:off x="624190" y="1825625"/>
            <a:ext cx="11185189" cy="4477898"/>
          </a:xfrm>
        </p:spPr>
        <p:txBody>
          <a:bodyPr>
            <a:normAutofit lnSpcReduction="10000"/>
          </a:bodyPr>
          <a:lstStyle/>
          <a:p>
            <a:r>
              <a:rPr lang="en-US" dirty="0"/>
              <a:t>Version revert using GitHub</a:t>
            </a:r>
          </a:p>
          <a:p>
            <a:pPr marL="0" indent="0">
              <a:buNone/>
            </a:pPr>
            <a:r>
              <a:rPr lang="en-US" dirty="0"/>
              <a:t>Look at your commit history and revert to a previous branch</a:t>
            </a:r>
          </a:p>
          <a:p>
            <a:pPr marL="0" indent="0">
              <a:buNone/>
            </a:pPr>
            <a:r>
              <a:rPr lang="en-US" dirty="0"/>
              <a:t>	</a:t>
            </a:r>
            <a:r>
              <a:rPr lang="en-US" b="1" dirty="0"/>
              <a:t>git log</a:t>
            </a:r>
          </a:p>
          <a:p>
            <a:pPr marL="0" indent="0">
              <a:buNone/>
            </a:pPr>
            <a:r>
              <a:rPr lang="en-US" b="1" dirty="0"/>
              <a:t>	git revert {</a:t>
            </a:r>
            <a:r>
              <a:rPr lang="en-US" b="1" dirty="0" err="1"/>
              <a:t>commit_id</a:t>
            </a:r>
            <a:r>
              <a:rPr lang="en-US" b="1" dirty="0"/>
              <a:t>}	</a:t>
            </a:r>
            <a:r>
              <a:rPr lang="en-US" dirty="0"/>
              <a:t>--&gt; revert a commit</a:t>
            </a:r>
          </a:p>
          <a:p>
            <a:pPr marL="0" indent="0">
              <a:buNone/>
            </a:pPr>
            <a:r>
              <a:rPr lang="en-US" b="1" dirty="0"/>
              <a:t>	</a:t>
            </a:r>
            <a:r>
              <a:rPr lang="en-US" b="1" i="0" dirty="0">
                <a:solidFill>
                  <a:srgbClr val="202124"/>
                </a:solidFill>
                <a:effectLst/>
                <a:highlight>
                  <a:srgbClr val="FFFFFF"/>
                </a:highlight>
                <a:latin typeface="Google Sans"/>
              </a:rPr>
              <a:t>git revert -m 1 &lt;merge-commit-hash&gt;	</a:t>
            </a:r>
            <a:r>
              <a:rPr lang="en-US" i="0" dirty="0">
                <a:solidFill>
                  <a:srgbClr val="202124"/>
                </a:solidFill>
                <a:effectLst/>
                <a:highlight>
                  <a:srgbClr val="FFFFFF"/>
                </a:highlight>
                <a:latin typeface="Google Sans"/>
              </a:rPr>
              <a:t>--&gt; revert a merge</a:t>
            </a:r>
          </a:p>
          <a:p>
            <a:pPr marL="0" indent="0">
              <a:buNone/>
            </a:pPr>
            <a:endParaRPr lang="en-US" dirty="0">
              <a:solidFill>
                <a:srgbClr val="202124"/>
              </a:solidFill>
              <a:highlight>
                <a:srgbClr val="FFFFFF"/>
              </a:highlight>
              <a:latin typeface="Google Sans"/>
            </a:endParaRPr>
          </a:p>
          <a:p>
            <a:r>
              <a:rPr lang="en-US" dirty="0"/>
              <a:t>Merge error between collaborators? – communication first, then detailed review using browser, </a:t>
            </a:r>
            <a:r>
              <a:rPr lang="en-US" dirty="0" err="1"/>
              <a:t>VSCode</a:t>
            </a:r>
            <a:r>
              <a:rPr lang="en-US" dirty="0"/>
              <a:t>, GitHub Desktop</a:t>
            </a:r>
          </a:p>
          <a:p>
            <a:r>
              <a:rPr lang="en-US" dirty="0"/>
              <a:t>Worst case scenario – save your files outside the folder, then delete and re-clone (manual file sorting)</a:t>
            </a:r>
          </a:p>
          <a:p>
            <a:pPr marL="0" indent="0">
              <a:buNone/>
            </a:pPr>
            <a:endParaRPr lang="en-US" dirty="0"/>
          </a:p>
        </p:txBody>
      </p:sp>
    </p:spTree>
    <p:extLst>
      <p:ext uri="{BB962C8B-B14F-4D97-AF65-F5344CB8AC3E}">
        <p14:creationId xmlns:p14="http://schemas.microsoft.com/office/powerpoint/2010/main" val="2217749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E472A-5544-6AD5-BA67-B54084AB0841}"/>
              </a:ext>
            </a:extLst>
          </p:cNvPr>
          <p:cNvSpPr>
            <a:spLocks noGrp="1"/>
          </p:cNvSpPr>
          <p:nvPr>
            <p:ph type="title"/>
          </p:nvPr>
        </p:nvSpPr>
        <p:spPr/>
        <p:txBody>
          <a:bodyPr/>
          <a:lstStyle/>
          <a:p>
            <a:pPr algn="ctr"/>
            <a:r>
              <a:rPr lang="en-US" dirty="0"/>
              <a:t>Interactive 10-20 mins</a:t>
            </a:r>
          </a:p>
        </p:txBody>
      </p:sp>
      <p:sp>
        <p:nvSpPr>
          <p:cNvPr id="3" name="Content Placeholder 2">
            <a:extLst>
              <a:ext uri="{FF2B5EF4-FFF2-40B4-BE49-F238E27FC236}">
                <a16:creationId xmlns:a16="http://schemas.microsoft.com/office/drawing/2014/main" id="{7A447C62-4148-E640-C110-18F39FEA6284}"/>
              </a:ext>
            </a:extLst>
          </p:cNvPr>
          <p:cNvSpPr>
            <a:spLocks noGrp="1"/>
          </p:cNvSpPr>
          <p:nvPr>
            <p:ph idx="1"/>
          </p:nvPr>
        </p:nvSpPr>
        <p:spPr/>
        <p:txBody>
          <a:bodyPr>
            <a:normAutofit/>
          </a:bodyPr>
          <a:lstStyle/>
          <a:p>
            <a:pPr marL="514350" indent="-514350">
              <a:buAutoNum type="arabicPeriod"/>
            </a:pPr>
            <a:r>
              <a:rPr lang="en-US" dirty="0"/>
              <a:t>Create a repository w/ ‘main’ branch</a:t>
            </a:r>
          </a:p>
          <a:p>
            <a:pPr marL="514350" indent="-514350">
              <a:buAutoNum type="arabicPeriod"/>
            </a:pPr>
            <a:r>
              <a:rPr lang="en-US" dirty="0"/>
              <a:t>Add people in your row as collaborators to the repository</a:t>
            </a:r>
          </a:p>
          <a:p>
            <a:pPr marL="514350" indent="-514350">
              <a:buFont typeface="Arial" panose="020B0604020202020204" pitchFamily="34" charset="0"/>
              <a:buAutoNum type="arabicPeriod"/>
            </a:pPr>
            <a:r>
              <a:rPr lang="en-US" dirty="0"/>
              <a:t>One person makes a new .ipynb (or .py) file on the desktop and save to the repository</a:t>
            </a:r>
          </a:p>
          <a:p>
            <a:pPr marL="514350" indent="-514350">
              <a:buAutoNum type="arabicPeriod"/>
            </a:pPr>
            <a:r>
              <a:rPr lang="en-US" dirty="0"/>
              <a:t>Each student clones the repository to your local device </a:t>
            </a:r>
          </a:p>
          <a:p>
            <a:pPr marL="514350" indent="-514350">
              <a:buAutoNum type="arabicPeriod"/>
            </a:pPr>
            <a:r>
              <a:rPr lang="en-US" dirty="0"/>
              <a:t>Create a .py file (or .ipynb?) – print(‘Hello World’) --&gt; each student pulls the branch, adds a line to the code to the file (git add, commit), and pushes back to the repository</a:t>
            </a:r>
          </a:p>
          <a:p>
            <a:pPr marL="0" indent="0">
              <a:buNone/>
            </a:pPr>
            <a:r>
              <a:rPr lang="en-US" dirty="0"/>
              <a:t>** main branch only ** </a:t>
            </a:r>
          </a:p>
          <a:p>
            <a:endParaRPr lang="en-US" dirty="0"/>
          </a:p>
        </p:txBody>
      </p:sp>
    </p:spTree>
    <p:extLst>
      <p:ext uri="{BB962C8B-B14F-4D97-AF65-F5344CB8AC3E}">
        <p14:creationId xmlns:p14="http://schemas.microsoft.com/office/powerpoint/2010/main" val="42605672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138EF-6EA3-25A8-34ED-A5F84DE09ABB}"/>
              </a:ext>
            </a:extLst>
          </p:cNvPr>
          <p:cNvSpPr>
            <a:spLocks noGrp="1"/>
          </p:cNvSpPr>
          <p:nvPr>
            <p:ph type="title"/>
          </p:nvPr>
        </p:nvSpPr>
        <p:spPr/>
        <p:txBody>
          <a:bodyPr/>
          <a:lstStyle/>
          <a:p>
            <a:pPr algn="ctr"/>
            <a:r>
              <a:rPr lang="en-US" dirty="0"/>
              <a:t>GitHub for your Hackathon Project</a:t>
            </a:r>
          </a:p>
        </p:txBody>
      </p:sp>
      <p:sp>
        <p:nvSpPr>
          <p:cNvPr id="3" name="Content Placeholder 2">
            <a:extLst>
              <a:ext uri="{FF2B5EF4-FFF2-40B4-BE49-F238E27FC236}">
                <a16:creationId xmlns:a16="http://schemas.microsoft.com/office/drawing/2014/main" id="{BA2A56A6-F6C7-5E6A-1F26-DFE51760B671}"/>
              </a:ext>
            </a:extLst>
          </p:cNvPr>
          <p:cNvSpPr>
            <a:spLocks noGrp="1"/>
          </p:cNvSpPr>
          <p:nvPr>
            <p:ph idx="1"/>
          </p:nvPr>
        </p:nvSpPr>
        <p:spPr/>
        <p:txBody>
          <a:bodyPr>
            <a:normAutofit fontScale="92500" lnSpcReduction="20000"/>
          </a:bodyPr>
          <a:lstStyle/>
          <a:p>
            <a:r>
              <a:rPr lang="en-US" dirty="0"/>
              <a:t>Create a project repository for your group</a:t>
            </a:r>
          </a:p>
          <a:p>
            <a:r>
              <a:rPr lang="en-US" dirty="0"/>
              <a:t>Upload the dataset to a ‘data’ folder within the repository</a:t>
            </a:r>
          </a:p>
          <a:p>
            <a:r>
              <a:rPr lang="en-US" dirty="0"/>
              <a:t>Decide who will be working on what aspects of the project </a:t>
            </a:r>
          </a:p>
          <a:p>
            <a:pPr marL="457200" lvl="1" indent="0">
              <a:buNone/>
            </a:pPr>
            <a:endParaRPr lang="en-US" dirty="0"/>
          </a:p>
          <a:p>
            <a:pPr marL="457200" lvl="1" indent="0">
              <a:buNone/>
            </a:pPr>
            <a:r>
              <a:rPr lang="en-US" dirty="0"/>
              <a:t>For example:</a:t>
            </a:r>
          </a:p>
          <a:p>
            <a:pPr marL="457200" lvl="1" indent="0">
              <a:buNone/>
            </a:pPr>
            <a:r>
              <a:rPr lang="en-US" dirty="0"/>
              <a:t>	Person 1 --&gt; Data cleaning &amp; </a:t>
            </a:r>
            <a:r>
              <a:rPr lang="en-US" dirty="0" err="1"/>
              <a:t>subsetting</a:t>
            </a:r>
            <a:endParaRPr lang="en-US" dirty="0"/>
          </a:p>
          <a:p>
            <a:pPr marL="457200" lvl="1" indent="0">
              <a:buNone/>
            </a:pPr>
            <a:r>
              <a:rPr lang="en-US" dirty="0"/>
              <a:t>	Person 2 --&gt; Statistical model</a:t>
            </a:r>
          </a:p>
          <a:p>
            <a:pPr marL="457200" lvl="1" indent="0">
              <a:buNone/>
            </a:pPr>
            <a:r>
              <a:rPr lang="en-US" dirty="0"/>
              <a:t>	Person 3 --&gt; Deep learning neural network</a:t>
            </a:r>
          </a:p>
          <a:p>
            <a:pPr marL="457200" lvl="1" indent="0">
              <a:buNone/>
            </a:pPr>
            <a:r>
              <a:rPr lang="en-US" dirty="0"/>
              <a:t>	Person 4 --&gt; results analysis &amp; PowerPoint presentation </a:t>
            </a:r>
          </a:p>
          <a:p>
            <a:pPr marL="457200" lvl="1" indent="0">
              <a:buNone/>
            </a:pPr>
            <a:endParaRPr lang="en-US" dirty="0"/>
          </a:p>
          <a:p>
            <a:r>
              <a:rPr lang="en-US" dirty="0"/>
              <a:t>Set up a branch for each person to work on their local device and eventually push to the remote main branch as needed</a:t>
            </a:r>
          </a:p>
        </p:txBody>
      </p:sp>
    </p:spTree>
    <p:extLst>
      <p:ext uri="{BB962C8B-B14F-4D97-AF65-F5344CB8AC3E}">
        <p14:creationId xmlns:p14="http://schemas.microsoft.com/office/powerpoint/2010/main" val="1741448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e32bd2a-1ccd-49c1-a814-de8553946415}" enabled="1" method="Privileged" siteId="{22136781-9753-4c75-af28-68a078871ebf}" removed="0"/>
</clbl:labelList>
</file>

<file path=docProps/app.xml><?xml version="1.0" encoding="utf-8"?>
<Properties xmlns="http://schemas.openxmlformats.org/officeDocument/2006/extended-properties" xmlns:vt="http://schemas.openxmlformats.org/officeDocument/2006/docPropsVTypes">
  <TotalTime>11300</TotalTime>
  <Words>4071</Words>
  <Application>Microsoft Macintosh PowerPoint</Application>
  <PresentationFormat>Widescreen</PresentationFormat>
  <Paragraphs>592</Paragraphs>
  <Slides>41</Slides>
  <Notes>19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41</vt:i4>
      </vt:variant>
    </vt:vector>
  </HeadingPairs>
  <TitlesOfParts>
    <vt:vector size="55" baseType="lpstr">
      <vt:lpstr>-apple-system</vt:lpstr>
      <vt:lpstr>Aptos</vt:lpstr>
      <vt:lpstr>Aptos Display</vt:lpstr>
      <vt:lpstr>Arial</vt:lpstr>
      <vt:lpstr>Calibri</vt:lpstr>
      <vt:lpstr>Google Sans</vt:lpstr>
      <vt:lpstr>Lato Extended</vt:lpstr>
      <vt:lpstr>Mona Sans</vt:lpstr>
      <vt:lpstr>Poppins</vt:lpstr>
      <vt:lpstr>Roboto</vt:lpstr>
      <vt:lpstr>Source Sans Pro</vt:lpstr>
      <vt:lpstr>UniversRoman</vt:lpstr>
      <vt:lpstr>var(--ff-mono)</vt:lpstr>
      <vt:lpstr>Office Theme</vt:lpstr>
      <vt:lpstr>BEFORE SESSION</vt:lpstr>
      <vt:lpstr>Introduction to  High Performance Computing  &amp; EXPANSE</vt:lpstr>
      <vt:lpstr>What is High Performance Computing (HPC)?</vt:lpstr>
      <vt:lpstr>What is Expanse HPC?</vt:lpstr>
      <vt:lpstr>Expanse Help</vt:lpstr>
      <vt:lpstr>PowerPoint Presentation</vt:lpstr>
      <vt:lpstr>PowerPoint Presentation</vt:lpstr>
      <vt:lpstr>EXPANSE Login Screen</vt:lpstr>
      <vt:lpstr>PowerPoint Presentation</vt:lpstr>
      <vt:lpstr>2. EXPANSE Directories - PROJECT</vt:lpstr>
      <vt:lpstr>2. EXPANSE Directories - SCRATCH</vt:lpstr>
      <vt:lpstr>2. EXPANSE Directories - SCRATCH</vt:lpstr>
      <vt:lpstr>PowerPoint Presentation</vt:lpstr>
      <vt:lpstr>3. EXPANSE – SCRATCH Directory ‘Jobs’</vt:lpstr>
      <vt:lpstr>4. EXPANSE Modules</vt:lpstr>
      <vt:lpstr>4. EXPANSE Modules</vt:lpstr>
      <vt:lpstr>5. File transfer to/from EXPANSE</vt:lpstr>
      <vt:lpstr>Introduction to GitHub</vt:lpstr>
      <vt:lpstr>What is GitHub?  </vt:lpstr>
      <vt:lpstr>What are the benefits?</vt:lpstr>
      <vt:lpstr>1. Create a GitHub account</vt:lpstr>
      <vt:lpstr>3. GitHub: Create a Repository &amp; Initial Setup</vt:lpstr>
      <vt:lpstr>Optional: Automatic Token/Login Credential Entry</vt:lpstr>
      <vt:lpstr>4. Code-Along Tutorial:  Cloning a repository to EXPANSE  </vt:lpstr>
      <vt:lpstr>4. Code-Along Continued: File Editing</vt:lpstr>
      <vt:lpstr>4. Code-Along Continued: Permissions </vt:lpstr>
      <vt:lpstr>4. Code-Along Continued: Add and Commit Local Changes to Remote Repository </vt:lpstr>
      <vt:lpstr>4. Code-Along Continued: Push to Remote Repository (cloud)</vt:lpstr>
      <vt:lpstr>PowerPoint Presentation</vt:lpstr>
      <vt:lpstr>PowerPoint Presentation</vt:lpstr>
      <vt:lpstr>Branch Workflow Options</vt:lpstr>
      <vt:lpstr>6. Code-Along – Branch Management</vt:lpstr>
      <vt:lpstr>6. GitHub Code-Along – Branch Management</vt:lpstr>
      <vt:lpstr>6. GitHub Code-Along – Branch Management</vt:lpstr>
      <vt:lpstr>Branch Workflow Strategies –  https://www.geeksforgeeks.org/branching-strategies-in-git/ https://phoenixnap.com/kb/git-branching-strategy</vt:lpstr>
      <vt:lpstr>Other useful git commands</vt:lpstr>
      <vt:lpstr>Branch Example 1:  local branch --&gt; local main --&gt; remote main</vt:lpstr>
      <vt:lpstr>Example 2: Bring a local folder to a remote git repository</vt:lpstr>
      <vt:lpstr>6. Code-Along Tutorial:  Troubleshooting – version control, pushing updates, branches</vt:lpstr>
      <vt:lpstr>Interactive 10-20 mins</vt:lpstr>
      <vt:lpstr>GitHub for your Hackathon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Github</dc:title>
  <dc:creator>Boot, Katherine Elizabeth</dc:creator>
  <cp:lastModifiedBy>Boot, Katherine Elizabeth</cp:lastModifiedBy>
  <cp:revision>2</cp:revision>
  <dcterms:created xsi:type="dcterms:W3CDTF">2024-05-14T17:33:32Z</dcterms:created>
  <dcterms:modified xsi:type="dcterms:W3CDTF">2024-05-22T14:53:20Z</dcterms:modified>
</cp:coreProperties>
</file>