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df009fec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df009fec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df009fec2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df009fec2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df009fec2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df009fec2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f009fec2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f009fec2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df009fec2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df009fec2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f009fec2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f009fec2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f009fec2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f009fec2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df009fec2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df009fec2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mg4265@uncw.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pegasus.isi.edu/"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support.access-ci.org/" TargetMode="External"/><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Pegasus Tutorial</a:t>
            </a:r>
            <a:endParaRPr/>
          </a:p>
        </p:txBody>
      </p:sp>
      <p:sp>
        <p:nvSpPr>
          <p:cNvPr id="55" name="Google Shape;55;p13"/>
          <p:cNvSpPr txBox="1"/>
          <p:nvPr>
            <p:ph idx="1" type="subTitle"/>
          </p:nvPr>
        </p:nvSpPr>
        <p:spPr>
          <a:xfrm>
            <a:off x="311700" y="2834125"/>
            <a:ext cx="8520600" cy="157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Mina Gachloo</a:t>
            </a:r>
            <a:endParaRPr/>
          </a:p>
          <a:p>
            <a:pPr indent="0" lvl="0" marL="0" rtl="0" algn="ctr">
              <a:spcBef>
                <a:spcPts val="0"/>
              </a:spcBef>
              <a:spcAft>
                <a:spcPts val="0"/>
              </a:spcAft>
              <a:buNone/>
            </a:pPr>
            <a:r>
              <a:rPr lang="en" u="sng">
                <a:solidFill>
                  <a:schemeClr val="hlink"/>
                </a:solidFill>
                <a:hlinkClick r:id="rId3"/>
              </a:rPr>
              <a:t>mg4265@uncw.edu</a:t>
            </a:r>
            <a:endParaRPr/>
          </a:p>
          <a:p>
            <a:pPr indent="0" lvl="0" marL="0" rtl="0" algn="ctr">
              <a:spcBef>
                <a:spcPts val="0"/>
              </a:spcBef>
              <a:spcAft>
                <a:spcPts val="0"/>
              </a:spcAft>
              <a:buNone/>
            </a:pPr>
            <a:r>
              <a:rPr lang="en"/>
              <a:t>UNC Wilmington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Pegasus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https://pegasus.isi.edu/</a:t>
            </a:r>
            <a:endParaRPr/>
          </a:p>
          <a:p>
            <a:pPr indent="0" lvl="0" marL="0" rtl="0" algn="l">
              <a:spcBef>
                <a:spcPts val="1200"/>
              </a:spcBef>
              <a:spcAft>
                <a:spcPts val="0"/>
              </a:spcAft>
              <a:buNone/>
            </a:pPr>
            <a:r>
              <a:rPr lang="en"/>
              <a:t>Scientific workflows allow users to easily express multi-step computational tasks, for example retrieve data from an instrument or a database, reformat the data, and run an analysis.</a:t>
            </a:r>
            <a:endParaRPr/>
          </a:p>
          <a:p>
            <a:pPr indent="0" lvl="0" marL="0" rtl="0" algn="l">
              <a:spcBef>
                <a:spcPts val="1200"/>
              </a:spcBef>
              <a:spcAft>
                <a:spcPts val="0"/>
              </a:spcAft>
              <a:buNone/>
            </a:pPr>
            <a:r>
              <a:rPr lang="en"/>
              <a:t>The Pegasus project encompasses a set of technologies that help workflow-based applications execute in a number of different environments including desktops, campus clusters, grids, and clouds. </a:t>
            </a:r>
            <a:endParaRPr/>
          </a:p>
          <a:p>
            <a:pPr indent="0" lvl="0" marL="0" rtl="0" algn="l">
              <a:spcBef>
                <a:spcPts val="1200"/>
              </a:spcBef>
              <a:spcAft>
                <a:spcPts val="1200"/>
              </a:spcAft>
              <a:buNone/>
            </a:pPr>
            <a:r>
              <a:rPr lang="en"/>
              <a:t>And their technical support team responds fast! </a:t>
            </a:r>
            <a:endParaRPr/>
          </a:p>
        </p:txBody>
      </p:sp>
      <p:pic>
        <p:nvPicPr>
          <p:cNvPr id="62" name="Google Shape;62;p14"/>
          <p:cNvPicPr preferRelativeResize="0"/>
          <p:nvPr/>
        </p:nvPicPr>
        <p:blipFill>
          <a:blip r:embed="rId4">
            <a:alphaModFix/>
          </a:blip>
          <a:stretch>
            <a:fillRect/>
          </a:stretch>
        </p:blipFill>
        <p:spPr>
          <a:xfrm>
            <a:off x="6384874" y="65624"/>
            <a:ext cx="2560300" cy="1581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dataset and research task</a:t>
            </a:r>
            <a:endParaRPr/>
          </a:p>
        </p:txBody>
      </p:sp>
      <p:sp>
        <p:nvSpPr>
          <p:cNvPr id="68" name="Google Shape;68;p15"/>
          <p:cNvSpPr txBox="1"/>
          <p:nvPr>
            <p:ph idx="1" type="body"/>
          </p:nvPr>
        </p:nvSpPr>
        <p:spPr>
          <a:xfrm>
            <a:off x="311700" y="1152475"/>
            <a:ext cx="4260300" cy="3863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Neuse River</a:t>
            </a:r>
            <a:endParaRPr/>
          </a:p>
          <a:p>
            <a:pPr indent="0" lvl="0" marL="0" rtl="0" algn="l">
              <a:spcBef>
                <a:spcPts val="1200"/>
              </a:spcBef>
              <a:spcAft>
                <a:spcPts val="0"/>
              </a:spcAft>
              <a:buNone/>
            </a:pPr>
            <a:r>
              <a:rPr lang="en"/>
              <a:t>D</a:t>
            </a:r>
            <a:r>
              <a:rPr lang="en"/>
              <a:t>issolved oxygen (DO) shows the amount of oxygen that is available to fish, invertebrates, and organisms in the water. The DO concentration must be above certain levels to support aquatic life and assure the stability of the aquatic ecosystem.</a:t>
            </a:r>
            <a:endParaRPr/>
          </a:p>
          <a:p>
            <a:pPr indent="0" lvl="0" marL="0" rtl="0" algn="l">
              <a:spcBef>
                <a:spcPts val="1200"/>
              </a:spcBef>
              <a:spcAft>
                <a:spcPts val="1200"/>
              </a:spcAft>
              <a:buNone/>
            </a:pPr>
            <a:r>
              <a:rPr lang="en"/>
              <a:t>We have already done most of the data cleaning before the file is uploaded to Pegasus.</a:t>
            </a:r>
            <a:endParaRPr/>
          </a:p>
        </p:txBody>
      </p:sp>
      <p:pic>
        <p:nvPicPr>
          <p:cNvPr id="69" name="Google Shape;69;p15"/>
          <p:cNvPicPr preferRelativeResize="0"/>
          <p:nvPr/>
        </p:nvPicPr>
        <p:blipFill>
          <a:blip r:embed="rId3">
            <a:alphaModFix/>
          </a:blip>
          <a:stretch>
            <a:fillRect/>
          </a:stretch>
        </p:blipFill>
        <p:spPr>
          <a:xfrm>
            <a:off x="4727402" y="0"/>
            <a:ext cx="5082601" cy="4848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0. Use your NSF ACCESS to visit Pegasus</a:t>
            </a:r>
            <a:endParaRPr/>
          </a:p>
        </p:txBody>
      </p:sp>
      <p:sp>
        <p:nvSpPr>
          <p:cNvPr id="75" name="Google Shape;75;p16"/>
          <p:cNvSpPr txBox="1"/>
          <p:nvPr>
            <p:ph idx="1" type="body"/>
          </p:nvPr>
        </p:nvSpPr>
        <p:spPr>
          <a:xfrm>
            <a:off x="311700" y="923875"/>
            <a:ext cx="8520600" cy="390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000" u="sng">
                <a:solidFill>
                  <a:schemeClr val="hlink"/>
                </a:solidFill>
                <a:hlinkClick r:id="rId3"/>
              </a:rPr>
              <a:t>https://support.access-ci.org/</a:t>
            </a:r>
            <a:endParaRPr sz="70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76" name="Google Shape;76;p16"/>
          <p:cNvPicPr preferRelativeResize="0"/>
          <p:nvPr/>
        </p:nvPicPr>
        <p:blipFill>
          <a:blip r:embed="rId4">
            <a:alphaModFix/>
          </a:blip>
          <a:stretch>
            <a:fillRect/>
          </a:stretch>
        </p:blipFill>
        <p:spPr>
          <a:xfrm>
            <a:off x="7049026" y="1685988"/>
            <a:ext cx="1783275" cy="1771525"/>
          </a:xfrm>
          <a:prstGeom prst="rect">
            <a:avLst/>
          </a:prstGeom>
          <a:noFill/>
          <a:ln>
            <a:noFill/>
          </a:ln>
        </p:spPr>
      </p:pic>
      <p:pic>
        <p:nvPicPr>
          <p:cNvPr id="77" name="Google Shape;77;p16"/>
          <p:cNvPicPr preferRelativeResize="0"/>
          <p:nvPr/>
        </p:nvPicPr>
        <p:blipFill>
          <a:blip r:embed="rId5">
            <a:alphaModFix/>
          </a:blip>
          <a:stretch>
            <a:fillRect/>
          </a:stretch>
        </p:blipFill>
        <p:spPr>
          <a:xfrm>
            <a:off x="249303" y="1381200"/>
            <a:ext cx="4807700" cy="2130950"/>
          </a:xfrm>
          <a:prstGeom prst="rect">
            <a:avLst/>
          </a:prstGeom>
          <a:noFill/>
          <a:ln>
            <a:noFill/>
          </a:ln>
        </p:spPr>
      </p:pic>
      <p:pic>
        <p:nvPicPr>
          <p:cNvPr id="78" name="Google Shape;78;p16"/>
          <p:cNvPicPr preferRelativeResize="0"/>
          <p:nvPr/>
        </p:nvPicPr>
        <p:blipFill>
          <a:blip r:embed="rId6">
            <a:alphaModFix/>
          </a:blip>
          <a:stretch>
            <a:fillRect/>
          </a:stretch>
        </p:blipFill>
        <p:spPr>
          <a:xfrm>
            <a:off x="787824" y="3267277"/>
            <a:ext cx="7714826" cy="2562075"/>
          </a:xfrm>
          <a:prstGeom prst="rect">
            <a:avLst/>
          </a:prstGeom>
          <a:noFill/>
          <a:ln>
            <a:noFill/>
          </a:ln>
        </p:spPr>
      </p:pic>
      <p:sp>
        <p:nvSpPr>
          <p:cNvPr id="79" name="Google Shape;79;p16"/>
          <p:cNvSpPr/>
          <p:nvPr/>
        </p:nvSpPr>
        <p:spPr>
          <a:xfrm>
            <a:off x="5682775" y="2360625"/>
            <a:ext cx="1366200" cy="503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p:nvPr/>
        </p:nvSpPr>
        <p:spPr>
          <a:xfrm rot="8761639">
            <a:off x="4522487" y="4374240"/>
            <a:ext cx="1366326" cy="50356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 Move a few program files and datafiles to Pegasus</a:t>
            </a:r>
            <a:endParaRPr/>
          </a:p>
        </p:txBody>
      </p:sp>
      <p:sp>
        <p:nvSpPr>
          <p:cNvPr id="86" name="Google Shape;86;p17"/>
          <p:cNvSpPr txBox="1"/>
          <p:nvPr>
            <p:ph idx="1" type="body"/>
          </p:nvPr>
        </p:nvSpPr>
        <p:spPr>
          <a:xfrm>
            <a:off x="235500" y="1152475"/>
            <a:ext cx="7324800" cy="39909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Create a folder ‘2024CyberTraining’ in your Pegasus Jupyter server. </a:t>
            </a:r>
            <a:endParaRPr/>
          </a:p>
          <a:p>
            <a:pPr indent="-342900" lvl="0" marL="457200" rtl="0" algn="l">
              <a:spcBef>
                <a:spcPts val="0"/>
              </a:spcBef>
              <a:spcAft>
                <a:spcPts val="0"/>
              </a:spcAft>
              <a:buSzPts val="1800"/>
              <a:buChar char="●"/>
            </a:pPr>
            <a:r>
              <a:rPr lang="en"/>
              <a:t>Go into this folder.</a:t>
            </a:r>
            <a:endParaRPr/>
          </a:p>
          <a:p>
            <a:pPr indent="-342900" lvl="0" marL="457200" rtl="0" algn="l">
              <a:spcBef>
                <a:spcPts val="0"/>
              </a:spcBef>
              <a:spcAft>
                <a:spcPts val="0"/>
              </a:spcAft>
              <a:buSzPts val="1800"/>
              <a:buChar char="●"/>
            </a:pPr>
            <a:r>
              <a:rPr lang="en"/>
              <a:t>Create a new ‘bin’ folder and put in “lstm_model.py” and “data_pre.py”.</a:t>
            </a:r>
            <a:endParaRPr/>
          </a:p>
          <a:p>
            <a:pPr indent="-330200" lvl="1" marL="914400" rtl="0" algn="l">
              <a:spcBef>
                <a:spcPts val="0"/>
              </a:spcBef>
              <a:spcAft>
                <a:spcPts val="0"/>
              </a:spcAft>
              <a:buSzPts val="1600"/>
              <a:buChar char="○"/>
            </a:pPr>
            <a:r>
              <a:rPr lang="en" sz="1600"/>
              <a:t>In the lstm_model file, we define how the model is evaluated. We will see the output information later.</a:t>
            </a:r>
            <a:endParaRPr sz="1600"/>
          </a:p>
          <a:p>
            <a:pPr indent="-330200" lvl="1" marL="914400" rtl="0" algn="l">
              <a:spcBef>
                <a:spcPts val="0"/>
              </a:spcBef>
              <a:spcAft>
                <a:spcPts val="0"/>
              </a:spcAft>
              <a:buSzPts val="1600"/>
              <a:buChar char="○"/>
            </a:pPr>
            <a:r>
              <a:rPr lang="en" sz="1600"/>
              <a:t>In the data_pre.py, we define what are the input features for the model, what is the target for prediction, how the data is split into training and testing set, etc.</a:t>
            </a:r>
            <a:endParaRPr sz="1600"/>
          </a:p>
          <a:p>
            <a:pPr indent="-342900" lvl="0" marL="457200" rtl="0" algn="l">
              <a:spcBef>
                <a:spcPts val="0"/>
              </a:spcBef>
              <a:spcAft>
                <a:spcPts val="0"/>
              </a:spcAft>
              <a:buSzPts val="1800"/>
              <a:buChar char="●"/>
            </a:pPr>
            <a:r>
              <a:rPr lang="en"/>
              <a:t>Still under </a:t>
            </a:r>
            <a:r>
              <a:rPr lang="en"/>
              <a:t> ‘2024CyberTraining’, create another ‘inputs’ folder and put in “Station100_2.csv”, “Station100_2_train.csv” and “Station100_2_test.csv”.</a:t>
            </a:r>
            <a:endParaRPr/>
          </a:p>
          <a:p>
            <a:pPr indent="-342900" lvl="0" marL="457200" rtl="0" algn="l">
              <a:spcBef>
                <a:spcPts val="0"/>
              </a:spcBef>
              <a:spcAft>
                <a:spcPts val="0"/>
              </a:spcAft>
              <a:buSzPts val="1800"/>
              <a:buChar char="●"/>
            </a:pPr>
            <a:r>
              <a:rPr lang="en"/>
              <a:t>Still under  ‘2024CyberTraining’, upload the “DO_Pre.ipynb” and “DO_Prediction.def” files.</a:t>
            </a:r>
            <a:endParaRPr/>
          </a:p>
        </p:txBody>
      </p:sp>
      <p:pic>
        <p:nvPicPr>
          <p:cNvPr id="87" name="Google Shape;87;p17"/>
          <p:cNvPicPr preferRelativeResize="0"/>
          <p:nvPr/>
        </p:nvPicPr>
        <p:blipFill>
          <a:blip r:embed="rId3">
            <a:alphaModFix/>
          </a:blip>
          <a:stretch>
            <a:fillRect/>
          </a:stretch>
        </p:blipFill>
        <p:spPr>
          <a:xfrm>
            <a:off x="7415825" y="1017725"/>
            <a:ext cx="2509950" cy="31009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Creating a container for your Pegasus </a:t>
            </a:r>
            <a:r>
              <a:rPr lang="en"/>
              <a:t>workflow</a:t>
            </a:r>
            <a:endParaRPr/>
          </a:p>
        </p:txBody>
      </p:sp>
      <p:sp>
        <p:nvSpPr>
          <p:cNvPr id="93" name="Google Shape;93;p18"/>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t>
            </a:r>
            <a:r>
              <a:rPr lang="en"/>
              <a:t>DO_Prediction.def” file should list all the modules you are using like numpy.</a:t>
            </a:r>
            <a:endParaRPr/>
          </a:p>
          <a:p>
            <a:pPr indent="-342900" lvl="0" marL="457200" rtl="0" algn="l">
              <a:spcBef>
                <a:spcPts val="0"/>
              </a:spcBef>
              <a:spcAft>
                <a:spcPts val="0"/>
              </a:spcAft>
              <a:buSzPts val="1800"/>
              <a:buChar char="●"/>
            </a:pPr>
            <a:r>
              <a:rPr lang="en"/>
              <a:t>Go to “Local Shell Access”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latin typeface="Consolas"/>
                <a:ea typeface="Consolas"/>
                <a:cs typeface="Consolas"/>
                <a:sym typeface="Consolas"/>
              </a:rPr>
              <a:t>apptainer build DO_Prediction.sif DO_Prediction.def</a:t>
            </a:r>
            <a:endParaRPr>
              <a:latin typeface="Consolas"/>
              <a:ea typeface="Consolas"/>
              <a:cs typeface="Consolas"/>
              <a:sym typeface="Consolas"/>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94" name="Google Shape;94;p18"/>
          <p:cNvPicPr preferRelativeResize="0"/>
          <p:nvPr/>
        </p:nvPicPr>
        <p:blipFill>
          <a:blip r:embed="rId3">
            <a:alphaModFix/>
          </a:blip>
          <a:stretch>
            <a:fillRect/>
          </a:stretch>
        </p:blipFill>
        <p:spPr>
          <a:xfrm>
            <a:off x="295275" y="1976788"/>
            <a:ext cx="8553450" cy="1647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Run the .ipynb file</a:t>
            </a:r>
            <a:endParaRPr/>
          </a:p>
        </p:txBody>
      </p:sp>
      <p:sp>
        <p:nvSpPr>
          <p:cNvPr id="100" name="Google Shape;100;p19"/>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This file defines the components of the Pegasus </a:t>
            </a:r>
            <a:r>
              <a:rPr lang="en"/>
              <a:t>workflow</a:t>
            </a:r>
            <a:r>
              <a:rPr lang="en"/>
              <a:t>, and execute the workflow on Pegasus.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Depending on the server status, sometime this task may take long (like 10+ min).</a:t>
            </a:r>
            <a:endParaRPr/>
          </a:p>
        </p:txBody>
      </p:sp>
      <p:pic>
        <p:nvPicPr>
          <p:cNvPr id="101" name="Google Shape;101;p19"/>
          <p:cNvPicPr preferRelativeResize="0"/>
          <p:nvPr/>
        </p:nvPicPr>
        <p:blipFill>
          <a:blip r:embed="rId3">
            <a:alphaModFix/>
          </a:blip>
          <a:stretch>
            <a:fillRect/>
          </a:stretch>
        </p:blipFill>
        <p:spPr>
          <a:xfrm>
            <a:off x="311700" y="1868465"/>
            <a:ext cx="8520601" cy="26601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Locate and read the output</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 the output files of the most recent successful </a:t>
            </a:r>
            <a:r>
              <a:rPr lang="en"/>
              <a:t>execution</a:t>
            </a:r>
            <a:r>
              <a:rPr lang="en"/>
              <a:t> of your code. For me it’s here -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08" name="Google Shape;108;p20"/>
          <p:cNvPicPr preferRelativeResize="0"/>
          <p:nvPr/>
        </p:nvPicPr>
        <p:blipFill>
          <a:blip r:embed="rId3">
            <a:alphaModFix/>
          </a:blip>
          <a:stretch>
            <a:fillRect/>
          </a:stretch>
        </p:blipFill>
        <p:spPr>
          <a:xfrm>
            <a:off x="1464975" y="1912950"/>
            <a:ext cx="5268947" cy="269825"/>
          </a:xfrm>
          <a:prstGeom prst="rect">
            <a:avLst/>
          </a:prstGeom>
          <a:noFill/>
          <a:ln>
            <a:noFill/>
          </a:ln>
        </p:spPr>
      </p:pic>
      <p:pic>
        <p:nvPicPr>
          <p:cNvPr id="109" name="Google Shape;109;p20"/>
          <p:cNvPicPr preferRelativeResize="0"/>
          <p:nvPr/>
        </p:nvPicPr>
        <p:blipFill>
          <a:blip r:embed="rId4">
            <a:alphaModFix/>
          </a:blip>
          <a:stretch>
            <a:fillRect/>
          </a:stretch>
        </p:blipFill>
        <p:spPr>
          <a:xfrm>
            <a:off x="76300" y="2365394"/>
            <a:ext cx="9144001" cy="31595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a:t>
            </a:r>
            <a:endParaRPr/>
          </a:p>
        </p:txBody>
      </p:sp>
      <p:sp>
        <p:nvSpPr>
          <p:cNvPr id="115" name="Google Shape;11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In this tutorial, we show how to make a small workflow on Pegasus. We started from </a:t>
            </a:r>
            <a:endParaRPr/>
          </a:p>
          <a:p>
            <a:pPr indent="-342900" lvl="0" marL="457200" rtl="0" algn="l">
              <a:spcBef>
                <a:spcPts val="1200"/>
              </a:spcBef>
              <a:spcAft>
                <a:spcPts val="0"/>
              </a:spcAft>
              <a:buSzPts val="1800"/>
              <a:buChar char="●"/>
            </a:pPr>
            <a:r>
              <a:rPr lang="en"/>
              <a:t>A cleaned datafile</a:t>
            </a:r>
            <a:endParaRPr/>
          </a:p>
          <a:p>
            <a:pPr indent="-342900" lvl="0" marL="457200" rtl="0" algn="l">
              <a:spcBef>
                <a:spcPts val="0"/>
              </a:spcBef>
              <a:spcAft>
                <a:spcPts val="0"/>
              </a:spcAft>
              <a:buSzPts val="1800"/>
              <a:buChar char="●"/>
            </a:pPr>
            <a:r>
              <a:rPr lang="en"/>
              <a:t>A data preprocessing program </a:t>
            </a:r>
            <a:endParaRPr/>
          </a:p>
          <a:p>
            <a:pPr indent="-342900" lvl="0" marL="457200" rtl="0" algn="l">
              <a:spcBef>
                <a:spcPts val="0"/>
              </a:spcBef>
              <a:spcAft>
                <a:spcPts val="0"/>
              </a:spcAft>
              <a:buSzPts val="1800"/>
              <a:buChar char="●"/>
            </a:pPr>
            <a:r>
              <a:rPr lang="en"/>
              <a:t>A model-building program</a:t>
            </a:r>
            <a:endParaRPr/>
          </a:p>
          <a:p>
            <a:pPr indent="0" lvl="0" marL="0" rtl="0" algn="l">
              <a:spcBef>
                <a:spcPts val="1200"/>
              </a:spcBef>
              <a:spcAft>
                <a:spcPts val="0"/>
              </a:spcAft>
              <a:buNone/>
            </a:pPr>
            <a:r>
              <a:rPr lang="en"/>
              <a:t>And this pipeline can be extended to include more stations, different depth for each station, and trying different possible models (such as RNN).</a:t>
            </a:r>
            <a:endParaRPr/>
          </a:p>
          <a:p>
            <a:pPr indent="0" lvl="0" marL="0" rtl="0" algn="l">
              <a:spcBef>
                <a:spcPts val="1200"/>
              </a:spcBef>
              <a:spcAft>
                <a:spcPts val="1200"/>
              </a:spcAft>
              <a:buNone/>
            </a:pPr>
            <a:r>
              <a:rPr lang="en"/>
              <a:t>As the data size and the complexity of your </a:t>
            </a:r>
            <a:r>
              <a:rPr lang="en"/>
              <a:t>workflow</a:t>
            </a:r>
            <a:r>
              <a:rPr lang="en"/>
              <a:t> grow, you will better see the value of CyberInfrastructure (CI) for scientific domains.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